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core.xml" ContentType="application/vnd.openxmlformats-package.core-properties+xml"/>
  <Override PartName="/ppt/charts/chart1.xml" ContentType="application/vnd.openxmlformats-officedocument.drawingml.chart+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Lst>
  <p:sldSz cy="6858000" cx="12192000"/>
  <p:notesSz cx="6858000" cy="12192000"/>
  <p:embeddedFontLst>
    <p:embeddedFont>
      <p:font typeface="Cambria Math"/>
      <p:regular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4" roundtripDataSignature="AMtx7miNXkJ/P/0sJZ7OCj4iskfrGQ8xH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font" Target="fonts/CambriaMath-regular.fntdata"/><Relationship Id="rId24" Type="http://customschemas.google.com/relationships/presentationmetadata" Target="metadata"/></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00000"/>
                </a:solidFill>
                <a:latin typeface="Arial"/>
              </a:defRPr>
            </a:pPr>
            <a:r>
              <a:rPr sz="1200" b="0" i="0" u="none" strike="noStrike">
                <a:solidFill>
                  <a:srgbClr val="000000"/>
                </a:solidFill>
                <a:latin typeface="Arial"/>
              </a:rPr>
              <a:t>Item popularity — conceptual shape</a:t>
            </a:r>
          </a:p>
        </c:rich>
      </c:tx>
      <c:layout/>
      <c:overlay val="0"/>
    </c:title>
    <c:autoTitleDeleted val="0"/>
    <c:plotArea>
      <c:layout/>
      <c:lineChart>
        <c:varyColors val="0"/>
        <c:ser>
          <c:idx val="0"/>
          <c:order val="0"/>
          <c:tx>
            <c:strRef>
              <c:f>Sheet1!$B$1</c:f>
              <c:strCache>
                <c:ptCount val="1"/>
                <c:pt idx="0">
                  <c:v>Ratings per item (rank-ordered)</c:v>
                </c:pt>
              </c:strCache>
            </c:strRef>
          </c:tx>
          <c:spPr>
            <a:solidFill>
              <a:srgbClr val="1C7293"/>
            </a:solidFill>
            <a:ln w="25400" cap="flat">
              <a:solidFill>
                <a:srgbClr val="1C7293"/>
              </a:solidFill>
              <a:prstDash val="solid"/>
              <a:round/>
            </a:ln>
            <a:effectLst/>
          </c:spPr>
          <c:invertIfNegative val="0"/>
          <c:dLbls>
            <c:numFmt formatCode="#,##0" sourceLinked="0"/>
            <c:txPr>
              <a:bodyPr/>
              <a:lstStyle/>
              <a:p>
                <a:pPr>
                  <a:defRPr b="0" i="0" strike="noStrike" sz="1200" u="none">
                    <a:solidFill>
                      <a:srgbClr val="5B6B80"/>
                    </a:solidFill>
                    <a:latin typeface="Arial"/>
                  </a:defRPr>
                </a:pPr>
              </a:p>
            </c:txPr>
            <c:showLegendKey val="0"/>
            <c:showVal val="0"/>
            <c:showCatName val="0"/>
            <c:showSerName val="0"/>
            <c:showPercent val="0"/>
            <c:showBubbleSize val="0"/>
            <c:showLeaderLines val="0"/>
          </c:dLbls>
          <c:marker>
            <c:symbol val="none"/>
            <c:size val="6"/>
            <c:spPr>
              <a:solidFill>
                <a:srgbClr val="1C7293"/>
              </a:solidFill>
              <a:ln w="9525" cap="flat">
                <a:solidFill>
                  <a:srgbClr val="1C7293"/>
                </a:solidFill>
                <a:prstDash val="solid"/>
                <a:round/>
              </a:ln>
              <a:effectLst/>
            </c:spPr>
          </c:marker>
          <c:cat>
            <c:multiLvlStrRef>
              <c:f>Sheet1!$A$2:$A$11</c:f>
              <c:multiLvlStrCache>
                <c:ptCount val="10"/>
                <c:lvl>
                  <c:pt idx="0">
                    <c:v>1</c:v>
                  </c:pt>
                  <c:pt idx="1">
                    <c:v/>
                  </c:pt>
                  <c:pt idx="2">
                    <c:v/>
                  </c:pt>
                  <c:pt idx="3">
                    <c:v/>
                  </c:pt>
                  <c:pt idx="4">
                    <c:v/>
                  </c:pt>
                  <c:pt idx="5">
                    <c:v/>
                  </c:pt>
                  <c:pt idx="6">
                    <c:v/>
                  </c:pt>
                  <c:pt idx="7">
                    <c:v/>
                  </c:pt>
                  <c:pt idx="8">
                    <c:v/>
                  </c:pt>
                  <c:pt idx="9">
                    <c:v>1682</c:v>
                  </c:pt>
                </c:lvl>
              </c:multiLvlStrCache>
            </c:multiLvlStrRef>
          </c:cat>
          <c:val>
            <c:numRef>
              <c:f>Sheet1!$B$2:$B$11</c:f>
              <c:numCache>
                <c:formatCode>General</c:formatCode>
                <c:ptCount val="10"/>
                <c:pt idx="0">
                  <c:v>583</c:v>
                </c:pt>
                <c:pt idx="1">
                  <c:v>210</c:v>
                </c:pt>
                <c:pt idx="2">
                  <c:v>120</c:v>
                </c:pt>
                <c:pt idx="3">
                  <c:v>78</c:v>
                </c:pt>
                <c:pt idx="4">
                  <c:v>52</c:v>
                </c:pt>
                <c:pt idx="5">
                  <c:v>34</c:v>
                </c:pt>
                <c:pt idx="6">
                  <c:v>21</c:v>
                </c:pt>
                <c:pt idx="7">
                  <c:v>12</c:v>
                </c:pt>
                <c:pt idx="8">
                  <c:v>5</c:v>
                </c:pt>
                <c:pt idx="9">
                  <c:v>1</c:v>
                </c:pt>
              </c:numCache>
            </c:numRef>
          </c:val>
          <c:smooth val="0"/>
        </c:ser>
        <c:dLbls>
          <c:numFmt formatCode="#,##0" sourceLinked="0"/>
          <c:txPr>
            <a:bodyPr/>
            <a:lstStyle/>
            <a:p>
              <a:pPr>
                <a:defRPr b="0" i="0" strike="noStrike" sz="1200" u="none">
                  <a:solidFill>
                    <a:srgbClr val="5B6B8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5B6B8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5EA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5B6B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 name="Google Shape;4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 name="Google Shape;4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 name="Google Shape;82;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 name="Google Shape;83;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 name="Google Shape;11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 name="Google Shape;115;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 name="Google Shape;142;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 name="Google Shape;143;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 name="Google Shape;179;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 name="Google Shape;180;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4" name="Google Shape;214;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5" name="Google Shape;215;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5" name="Google Shape;245;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6" name="Google Shape;246;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1" name="Google Shape;281;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2" name="Google Shape;282;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4" name="Google Shape;304;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5" name="Google Shape;305;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4" name="Google Shape;344;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5" name="Google Shape;345;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6" name="Google Shape;366;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7" name="Google Shape;367;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3" name="Google Shape;383;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4" name="Google Shape;384;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1" name="Google Shape;401;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2" name="Google Shape;402;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8" name="Google Shape;418;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9" name="Google Shape;419;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6" name="Google Shape;446;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7" name="Google Shape;447;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9" name="Google Shape;479;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0" name="Google Shape;480;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8" name="Google Shape;518;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9" name="Google Shape;519;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1295C"/>
        </a:solidFill>
      </p:bgPr>
    </p:bg>
    <p:spTree>
      <p:nvGrpSpPr>
        <p:cNvPr id="15" name="Shape 15"/>
        <p:cNvGrpSpPr/>
        <p:nvPr/>
      </p:nvGrpSpPr>
      <p:grpSpPr>
        <a:xfrm>
          <a:off x="0" y="0"/>
          <a:ext cx="0" cy="0"/>
          <a:chOff x="0" y="0"/>
          <a:chExt cx="0" cy="0"/>
        </a:xfrm>
      </p:grpSpPr>
      <p:cxnSp>
        <p:nvCxnSpPr>
          <p:cNvPr id="16" name="Google Shape;16;p1"/>
          <p:cNvCxnSpPr/>
          <p:nvPr/>
        </p:nvCxnSpPr>
        <p:spPr>
          <a:xfrm flipH="1" rot="10800000">
            <a:off x="8778240" y="822960"/>
            <a:ext cx="1005840" cy="365760"/>
          </a:xfrm>
          <a:prstGeom prst="straightConnector1">
            <a:avLst/>
          </a:prstGeom>
          <a:noFill/>
          <a:ln cap="flat" cmpd="sng" w="15875">
            <a:solidFill>
              <a:srgbClr val="323B77"/>
            </a:solidFill>
            <a:prstDash val="solid"/>
            <a:round/>
            <a:headEnd len="sm" w="sm" type="none"/>
            <a:tailEnd len="sm" w="sm" type="none"/>
          </a:ln>
        </p:spPr>
      </p:cxnSp>
      <p:cxnSp>
        <p:nvCxnSpPr>
          <p:cNvPr id="17" name="Google Shape;17;p1"/>
          <p:cNvCxnSpPr/>
          <p:nvPr/>
        </p:nvCxnSpPr>
        <p:spPr>
          <a:xfrm>
            <a:off x="9784080" y="822960"/>
            <a:ext cx="822960" cy="914400"/>
          </a:xfrm>
          <a:prstGeom prst="straightConnector1">
            <a:avLst/>
          </a:prstGeom>
          <a:noFill/>
          <a:ln cap="flat" cmpd="sng" w="15875">
            <a:solidFill>
              <a:srgbClr val="323B77"/>
            </a:solidFill>
            <a:prstDash val="solid"/>
            <a:round/>
            <a:headEnd len="sm" w="sm" type="none"/>
            <a:tailEnd len="sm" w="sm" type="none"/>
          </a:ln>
        </p:spPr>
      </p:cxnSp>
      <p:cxnSp>
        <p:nvCxnSpPr>
          <p:cNvPr id="18" name="Google Shape;18;p1"/>
          <p:cNvCxnSpPr/>
          <p:nvPr/>
        </p:nvCxnSpPr>
        <p:spPr>
          <a:xfrm>
            <a:off x="8778240" y="1188720"/>
            <a:ext cx="548640" cy="1188720"/>
          </a:xfrm>
          <a:prstGeom prst="straightConnector1">
            <a:avLst/>
          </a:prstGeom>
          <a:noFill/>
          <a:ln cap="flat" cmpd="sng" w="15875">
            <a:solidFill>
              <a:srgbClr val="323B77"/>
            </a:solidFill>
            <a:prstDash val="solid"/>
            <a:round/>
            <a:headEnd len="sm" w="sm" type="none"/>
            <a:tailEnd len="sm" w="sm" type="none"/>
          </a:ln>
        </p:spPr>
      </p:cxnSp>
      <p:cxnSp>
        <p:nvCxnSpPr>
          <p:cNvPr id="19" name="Google Shape;19;p1"/>
          <p:cNvCxnSpPr/>
          <p:nvPr/>
        </p:nvCxnSpPr>
        <p:spPr>
          <a:xfrm>
            <a:off x="10607040" y="1737360"/>
            <a:ext cx="548640" cy="1097280"/>
          </a:xfrm>
          <a:prstGeom prst="straightConnector1">
            <a:avLst/>
          </a:prstGeom>
          <a:noFill/>
          <a:ln cap="flat" cmpd="sng" w="15875">
            <a:solidFill>
              <a:srgbClr val="323B77"/>
            </a:solidFill>
            <a:prstDash val="solid"/>
            <a:round/>
            <a:headEnd len="sm" w="sm" type="none"/>
            <a:tailEnd len="sm" w="sm" type="none"/>
          </a:ln>
        </p:spPr>
      </p:cxnSp>
      <p:cxnSp>
        <p:nvCxnSpPr>
          <p:cNvPr id="20" name="Google Shape;20;p1"/>
          <p:cNvCxnSpPr/>
          <p:nvPr/>
        </p:nvCxnSpPr>
        <p:spPr>
          <a:xfrm flipH="1">
            <a:off x="8595360" y="2377440"/>
            <a:ext cx="731520" cy="731520"/>
          </a:xfrm>
          <a:prstGeom prst="straightConnector1">
            <a:avLst/>
          </a:prstGeom>
          <a:noFill/>
          <a:ln cap="flat" cmpd="sng" w="15875">
            <a:solidFill>
              <a:srgbClr val="323B77"/>
            </a:solidFill>
            <a:prstDash val="solid"/>
            <a:round/>
            <a:headEnd len="sm" w="sm" type="none"/>
            <a:tailEnd len="sm" w="sm" type="none"/>
          </a:ln>
        </p:spPr>
      </p:cxnSp>
      <p:cxnSp>
        <p:nvCxnSpPr>
          <p:cNvPr id="21" name="Google Shape;21;p1"/>
          <p:cNvCxnSpPr/>
          <p:nvPr/>
        </p:nvCxnSpPr>
        <p:spPr>
          <a:xfrm flipH="1">
            <a:off x="10058400" y="1737360"/>
            <a:ext cx="548640" cy="2103120"/>
          </a:xfrm>
          <a:prstGeom prst="straightConnector1">
            <a:avLst/>
          </a:prstGeom>
          <a:noFill/>
          <a:ln cap="flat" cmpd="sng" w="15875">
            <a:solidFill>
              <a:srgbClr val="323B77"/>
            </a:solidFill>
            <a:prstDash val="solid"/>
            <a:round/>
            <a:headEnd len="sm" w="sm" type="none"/>
            <a:tailEnd len="sm" w="sm" type="none"/>
          </a:ln>
        </p:spPr>
      </p:cxnSp>
      <p:cxnSp>
        <p:nvCxnSpPr>
          <p:cNvPr id="22" name="Google Shape;22;p1"/>
          <p:cNvCxnSpPr/>
          <p:nvPr/>
        </p:nvCxnSpPr>
        <p:spPr>
          <a:xfrm>
            <a:off x="11155680" y="2834640"/>
            <a:ext cx="365760" cy="1737360"/>
          </a:xfrm>
          <a:prstGeom prst="straightConnector1">
            <a:avLst/>
          </a:prstGeom>
          <a:noFill/>
          <a:ln cap="flat" cmpd="sng" w="15875">
            <a:solidFill>
              <a:srgbClr val="323B77"/>
            </a:solidFill>
            <a:prstDash val="solid"/>
            <a:round/>
            <a:headEnd len="sm" w="sm" type="none"/>
            <a:tailEnd len="sm" w="sm" type="none"/>
          </a:ln>
        </p:spPr>
      </p:cxnSp>
      <p:cxnSp>
        <p:nvCxnSpPr>
          <p:cNvPr id="23" name="Google Shape;23;p1"/>
          <p:cNvCxnSpPr/>
          <p:nvPr/>
        </p:nvCxnSpPr>
        <p:spPr>
          <a:xfrm flipH="1">
            <a:off x="9144000" y="3840480"/>
            <a:ext cx="914400" cy="1005840"/>
          </a:xfrm>
          <a:prstGeom prst="straightConnector1">
            <a:avLst/>
          </a:prstGeom>
          <a:noFill/>
          <a:ln cap="flat" cmpd="sng" w="15875">
            <a:solidFill>
              <a:srgbClr val="323B77"/>
            </a:solidFill>
            <a:prstDash val="solid"/>
            <a:round/>
            <a:headEnd len="sm" w="sm" type="none"/>
            <a:tailEnd len="sm" w="sm" type="none"/>
          </a:ln>
        </p:spPr>
      </p:cxnSp>
      <p:cxnSp>
        <p:nvCxnSpPr>
          <p:cNvPr id="24" name="Google Shape;24;p1"/>
          <p:cNvCxnSpPr/>
          <p:nvPr/>
        </p:nvCxnSpPr>
        <p:spPr>
          <a:xfrm flipH="1">
            <a:off x="10698480" y="4572000"/>
            <a:ext cx="822960" cy="914400"/>
          </a:xfrm>
          <a:prstGeom prst="straightConnector1">
            <a:avLst/>
          </a:prstGeom>
          <a:noFill/>
          <a:ln cap="flat" cmpd="sng" w="15875">
            <a:solidFill>
              <a:srgbClr val="323B77"/>
            </a:solidFill>
            <a:prstDash val="solid"/>
            <a:round/>
            <a:headEnd len="sm" w="sm" type="none"/>
            <a:tailEnd len="sm" w="sm" type="none"/>
          </a:ln>
        </p:spPr>
      </p:cxnSp>
      <p:cxnSp>
        <p:nvCxnSpPr>
          <p:cNvPr id="25" name="Google Shape;25;p1"/>
          <p:cNvCxnSpPr/>
          <p:nvPr/>
        </p:nvCxnSpPr>
        <p:spPr>
          <a:xfrm>
            <a:off x="10058400" y="3840480"/>
            <a:ext cx="640080" cy="1645920"/>
          </a:xfrm>
          <a:prstGeom prst="straightConnector1">
            <a:avLst/>
          </a:prstGeom>
          <a:noFill/>
          <a:ln cap="flat" cmpd="sng" w="15875">
            <a:solidFill>
              <a:srgbClr val="323B77"/>
            </a:solidFill>
            <a:prstDash val="solid"/>
            <a:round/>
            <a:headEnd len="sm" w="sm" type="none"/>
            <a:tailEnd len="sm" w="sm" type="none"/>
          </a:ln>
        </p:spPr>
      </p:cxnSp>
      <p:cxnSp>
        <p:nvCxnSpPr>
          <p:cNvPr id="26" name="Google Shape;26;p1"/>
          <p:cNvCxnSpPr/>
          <p:nvPr/>
        </p:nvCxnSpPr>
        <p:spPr>
          <a:xfrm>
            <a:off x="8595360" y="3108960"/>
            <a:ext cx="548640" cy="1737360"/>
          </a:xfrm>
          <a:prstGeom prst="straightConnector1">
            <a:avLst/>
          </a:prstGeom>
          <a:noFill/>
          <a:ln cap="flat" cmpd="sng" w="15875">
            <a:solidFill>
              <a:srgbClr val="323B77"/>
            </a:solidFill>
            <a:prstDash val="solid"/>
            <a:round/>
            <a:headEnd len="sm" w="sm" type="none"/>
            <a:tailEnd len="sm" w="sm" type="none"/>
          </a:ln>
        </p:spPr>
      </p:cxnSp>
      <p:sp>
        <p:nvSpPr>
          <p:cNvPr id="27" name="Google Shape;27;p1"/>
          <p:cNvSpPr/>
          <p:nvPr/>
        </p:nvSpPr>
        <p:spPr>
          <a:xfrm>
            <a:off x="8705088" y="1115568"/>
            <a:ext cx="146304" cy="146304"/>
          </a:xfrm>
          <a:prstGeom prst="ellipse">
            <a:avLst/>
          </a:prstGeom>
          <a:solidFill>
            <a:srgbClr val="E8A3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1"/>
          <p:cNvSpPr/>
          <p:nvPr/>
        </p:nvSpPr>
        <p:spPr>
          <a:xfrm>
            <a:off x="9733788" y="772668"/>
            <a:ext cx="100584" cy="100584"/>
          </a:xfrm>
          <a:prstGeom prst="ellipse">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1"/>
          <p:cNvSpPr/>
          <p:nvPr/>
        </p:nvSpPr>
        <p:spPr>
          <a:xfrm>
            <a:off x="10543032" y="1673352"/>
            <a:ext cx="128016" cy="128016"/>
          </a:xfrm>
          <a:prstGeom prst="ellipse">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1"/>
          <p:cNvSpPr/>
          <p:nvPr/>
        </p:nvSpPr>
        <p:spPr>
          <a:xfrm>
            <a:off x="9285732" y="2336292"/>
            <a:ext cx="82296" cy="82296"/>
          </a:xfrm>
          <a:prstGeom prst="ellipse">
            <a:avLst/>
          </a:prstGeom>
          <a:solidFill>
            <a:srgbClr val="E8A3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1"/>
          <p:cNvSpPr/>
          <p:nvPr/>
        </p:nvSpPr>
        <p:spPr>
          <a:xfrm>
            <a:off x="11096244" y="2775204"/>
            <a:ext cx="118872" cy="118872"/>
          </a:xfrm>
          <a:prstGeom prst="ellipse">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1"/>
          <p:cNvSpPr/>
          <p:nvPr/>
        </p:nvSpPr>
        <p:spPr>
          <a:xfrm>
            <a:off x="8549640" y="3063240"/>
            <a:ext cx="91440" cy="91440"/>
          </a:xfrm>
          <a:prstGeom prst="ellipse">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1"/>
          <p:cNvSpPr/>
          <p:nvPr/>
        </p:nvSpPr>
        <p:spPr>
          <a:xfrm>
            <a:off x="9989820" y="3771900"/>
            <a:ext cx="137160" cy="137160"/>
          </a:xfrm>
          <a:prstGeom prst="ellipse">
            <a:avLst/>
          </a:prstGeom>
          <a:solidFill>
            <a:srgbClr val="E8A3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1"/>
          <p:cNvSpPr/>
          <p:nvPr/>
        </p:nvSpPr>
        <p:spPr>
          <a:xfrm>
            <a:off x="11475720" y="4526280"/>
            <a:ext cx="91440" cy="91440"/>
          </a:xfrm>
          <a:prstGeom prst="ellipse">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1"/>
          <p:cNvSpPr/>
          <p:nvPr/>
        </p:nvSpPr>
        <p:spPr>
          <a:xfrm>
            <a:off x="9089136" y="4791456"/>
            <a:ext cx="109728" cy="109728"/>
          </a:xfrm>
          <a:prstGeom prst="ellipse">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1"/>
          <p:cNvSpPr/>
          <p:nvPr/>
        </p:nvSpPr>
        <p:spPr>
          <a:xfrm>
            <a:off x="10657332" y="5445252"/>
            <a:ext cx="82296" cy="82296"/>
          </a:xfrm>
          <a:prstGeom prst="ellipse">
            <a:avLst/>
          </a:prstGeom>
          <a:solidFill>
            <a:srgbClr val="E8A3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1"/>
          <p:cNvSpPr/>
          <p:nvPr/>
        </p:nvSpPr>
        <p:spPr>
          <a:xfrm>
            <a:off x="640080" y="2148840"/>
            <a:ext cx="75895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A33D"/>
              </a:buClr>
              <a:buSzPts val="1400"/>
              <a:buFont typeface="Calibri"/>
              <a:buNone/>
            </a:pPr>
            <a:r>
              <a:rPr b="1" i="0" lang="en-US" sz="1400" u="none" cap="none" strike="noStrike">
                <a:solidFill>
                  <a:srgbClr val="E8A33D"/>
                </a:solidFill>
                <a:latin typeface="Calibri"/>
                <a:ea typeface="Calibri"/>
                <a:cs typeface="Calibri"/>
                <a:sym typeface="Calibri"/>
              </a:rPr>
              <a:t>RECOMMENDER SYSTEMS</a:t>
            </a:r>
            <a:endParaRPr b="0" i="0" sz="1400" u="none" cap="none" strike="noStrike">
              <a:solidFill>
                <a:schemeClr val="dk1"/>
              </a:solidFill>
              <a:latin typeface="Calibri"/>
              <a:ea typeface="Calibri"/>
              <a:cs typeface="Calibri"/>
              <a:sym typeface="Calibri"/>
            </a:endParaRPr>
          </a:p>
        </p:txBody>
      </p:sp>
      <p:sp>
        <p:nvSpPr>
          <p:cNvPr id="38" name="Google Shape;38;p1"/>
          <p:cNvSpPr/>
          <p:nvPr/>
        </p:nvSpPr>
        <p:spPr>
          <a:xfrm>
            <a:off x="640080" y="2514600"/>
            <a:ext cx="7680960" cy="1737360"/>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FFFFFF"/>
              </a:buClr>
              <a:buSzPts val="4000"/>
              <a:buFont typeface="Cambria"/>
              <a:buNone/>
            </a:pPr>
            <a:r>
              <a:rPr b="1" i="0" lang="en-US" sz="4000" u="none" cap="none" strike="noStrike">
                <a:solidFill>
                  <a:srgbClr val="FFFFFF"/>
                </a:solidFill>
                <a:latin typeface="Cambria"/>
                <a:ea typeface="Cambria"/>
                <a:cs typeface="Cambria"/>
                <a:sym typeface="Cambria"/>
              </a:rPr>
              <a:t>Matrix Factorization vs.</a:t>
            </a:r>
            <a:endParaRPr b="0" i="0" sz="40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FFFFFF"/>
              </a:buClr>
              <a:buSzPts val="4000"/>
              <a:buFont typeface="Cambria"/>
              <a:buNone/>
            </a:pPr>
            <a:r>
              <a:rPr b="1" i="0" lang="en-US" sz="4000" u="none" cap="none" strike="noStrike">
                <a:solidFill>
                  <a:srgbClr val="FFFFFF"/>
                </a:solidFill>
                <a:latin typeface="Cambria"/>
                <a:ea typeface="Cambria"/>
                <a:cs typeface="Cambria"/>
                <a:sym typeface="Cambria"/>
              </a:rPr>
              <a:t>Neural Collaborative Filtering</a:t>
            </a:r>
            <a:endParaRPr b="0" i="0" sz="4000" u="none" cap="none" strike="noStrike">
              <a:solidFill>
                <a:schemeClr val="dk1"/>
              </a:solidFill>
              <a:latin typeface="Calibri"/>
              <a:ea typeface="Calibri"/>
              <a:cs typeface="Calibri"/>
              <a:sym typeface="Calibri"/>
            </a:endParaRPr>
          </a:p>
        </p:txBody>
      </p:sp>
      <p:sp>
        <p:nvSpPr>
          <p:cNvPr id="39" name="Google Shape;39;p1"/>
          <p:cNvSpPr/>
          <p:nvPr/>
        </p:nvSpPr>
        <p:spPr>
          <a:xfrm>
            <a:off x="640080" y="4251960"/>
            <a:ext cx="749808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ADCFC"/>
              </a:buClr>
              <a:buSzPts val="1600"/>
              <a:buFont typeface="Calibri"/>
              <a:buNone/>
            </a:pPr>
            <a:r>
              <a:rPr b="0" i="0" lang="en-US" sz="1600" u="none" cap="none" strike="noStrike">
                <a:solidFill>
                  <a:srgbClr val="CADCFC"/>
                </a:solidFill>
                <a:latin typeface="Calibri"/>
                <a:ea typeface="Calibri"/>
                <a:cs typeface="Calibri"/>
                <a:sym typeface="Calibri"/>
              </a:rPr>
              <a:t>A Comparative Study on MovieLens 100K  ·  Track B</a:t>
            </a:r>
            <a:endParaRPr b="0" i="0" sz="1600" u="none" cap="none" strike="noStrike">
              <a:solidFill>
                <a:schemeClr val="dk1"/>
              </a:solidFill>
              <a:latin typeface="Calibri"/>
              <a:ea typeface="Calibri"/>
              <a:cs typeface="Calibri"/>
              <a:sym typeface="Calibri"/>
            </a:endParaRPr>
          </a:p>
        </p:txBody>
      </p:sp>
      <p:cxnSp>
        <p:nvCxnSpPr>
          <p:cNvPr id="40" name="Google Shape;40;p1"/>
          <p:cNvCxnSpPr/>
          <p:nvPr/>
        </p:nvCxnSpPr>
        <p:spPr>
          <a:xfrm>
            <a:off x="658368" y="4892040"/>
            <a:ext cx="1097280" cy="0"/>
          </a:xfrm>
          <a:prstGeom prst="straightConnector1">
            <a:avLst/>
          </a:prstGeom>
          <a:noFill/>
          <a:ln cap="flat" cmpd="sng" w="25400">
            <a:solidFill>
              <a:srgbClr val="1C7293"/>
            </a:solidFill>
            <a:prstDash val="solid"/>
            <a:round/>
            <a:headEnd len="sm" w="sm" type="none"/>
            <a:tailEnd len="sm" w="sm"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 name="Shape 45"/>
        <p:cNvGrpSpPr/>
        <p:nvPr/>
      </p:nvGrpSpPr>
      <p:grpSpPr>
        <a:xfrm>
          <a:off x="0" y="0"/>
          <a:ext cx="0" cy="0"/>
          <a:chOff x="0" y="0"/>
          <a:chExt cx="0" cy="0"/>
        </a:xfrm>
      </p:grpSpPr>
      <p:cxnSp>
        <p:nvCxnSpPr>
          <p:cNvPr id="46" name="Google Shape;46;p2"/>
          <p:cNvCxnSpPr/>
          <p:nvPr/>
        </p:nvCxnSpPr>
        <p:spPr>
          <a:xfrm flipH="1" rot="10800000">
            <a:off x="11292840" y="521208"/>
            <a:ext cx="320040" cy="91440"/>
          </a:xfrm>
          <a:prstGeom prst="straightConnector1">
            <a:avLst/>
          </a:prstGeom>
          <a:noFill/>
          <a:ln cap="flat" cmpd="sng" w="12700">
            <a:solidFill>
              <a:srgbClr val="C7D6E0"/>
            </a:solidFill>
            <a:prstDash val="solid"/>
            <a:round/>
            <a:headEnd len="sm" w="sm" type="none"/>
            <a:tailEnd len="sm" w="sm" type="none"/>
          </a:ln>
        </p:spPr>
      </p:cxnSp>
      <p:cxnSp>
        <p:nvCxnSpPr>
          <p:cNvPr id="47" name="Google Shape;47;p2"/>
          <p:cNvCxnSpPr/>
          <p:nvPr/>
        </p:nvCxnSpPr>
        <p:spPr>
          <a:xfrm>
            <a:off x="11612880" y="521208"/>
            <a:ext cx="274320" cy="137160"/>
          </a:xfrm>
          <a:prstGeom prst="straightConnector1">
            <a:avLst/>
          </a:prstGeom>
          <a:noFill/>
          <a:ln cap="flat" cmpd="sng" w="12700">
            <a:solidFill>
              <a:srgbClr val="C7D6E0"/>
            </a:solidFill>
            <a:prstDash val="solid"/>
            <a:round/>
            <a:headEnd len="sm" w="sm" type="none"/>
            <a:tailEnd len="sm" w="sm" type="none"/>
          </a:ln>
        </p:spPr>
      </p:cxnSp>
      <p:sp>
        <p:nvSpPr>
          <p:cNvPr id="48" name="Google Shape;48;p2"/>
          <p:cNvSpPr/>
          <p:nvPr/>
        </p:nvSpPr>
        <p:spPr>
          <a:xfrm>
            <a:off x="11247120" y="566928"/>
            <a:ext cx="91440" cy="91440"/>
          </a:xfrm>
          <a:prstGeom prst="ellipse">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2"/>
          <p:cNvSpPr/>
          <p:nvPr/>
        </p:nvSpPr>
        <p:spPr>
          <a:xfrm>
            <a:off x="11567160" y="475488"/>
            <a:ext cx="73152" cy="73152"/>
          </a:xfrm>
          <a:prstGeom prst="ellipse">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2"/>
          <p:cNvSpPr/>
          <p:nvPr/>
        </p:nvSpPr>
        <p:spPr>
          <a:xfrm>
            <a:off x="11841480" y="612648"/>
            <a:ext cx="82296" cy="82296"/>
          </a:xfrm>
          <a:prstGeom prst="ellipse">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2"/>
          <p:cNvSpPr/>
          <p:nvPr/>
        </p:nvSpPr>
        <p:spPr>
          <a:xfrm>
            <a:off x="548640" y="475493"/>
            <a:ext cx="987540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1295C"/>
              </a:buClr>
              <a:buSzPts val="3000"/>
              <a:buFont typeface="Cambria"/>
              <a:buNone/>
            </a:pPr>
            <a:r>
              <a:rPr b="1" i="0" lang="en-US" sz="3000" u="none" cap="none" strike="noStrike">
                <a:solidFill>
                  <a:srgbClr val="21295C"/>
                </a:solidFill>
                <a:latin typeface="Cambria"/>
                <a:ea typeface="Cambria"/>
                <a:cs typeface="Cambria"/>
                <a:sym typeface="Cambria"/>
              </a:rPr>
              <a:t>What We'll Cover</a:t>
            </a:r>
            <a:endParaRPr b="0" i="0" sz="3000" u="none" cap="none" strike="noStrike">
              <a:solidFill>
                <a:schemeClr val="dk1"/>
              </a:solidFill>
              <a:latin typeface="Calibri"/>
              <a:ea typeface="Calibri"/>
              <a:cs typeface="Calibri"/>
              <a:sym typeface="Calibri"/>
            </a:endParaRPr>
          </a:p>
        </p:txBody>
      </p:sp>
      <p:sp>
        <p:nvSpPr>
          <p:cNvPr id="52" name="Google Shape;52;p2"/>
          <p:cNvSpPr/>
          <p:nvPr/>
        </p:nvSpPr>
        <p:spPr>
          <a:xfrm>
            <a:off x="548640" y="1600200"/>
            <a:ext cx="502920" cy="502920"/>
          </a:xfrm>
          <a:prstGeom prst="ellipse">
            <a:avLst/>
          </a:prstGeom>
          <a:solidFill>
            <a:srgbClr val="065A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2"/>
          <p:cNvSpPr/>
          <p:nvPr/>
        </p:nvSpPr>
        <p:spPr>
          <a:xfrm>
            <a:off x="548640" y="1600200"/>
            <a:ext cx="50292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800"/>
              <a:buFont typeface="Cambria"/>
              <a:buNone/>
            </a:pPr>
            <a:r>
              <a:rPr b="1" i="0" lang="en-US" sz="1800" u="none" cap="none" strike="noStrike">
                <a:solidFill>
                  <a:srgbClr val="FFFFFF"/>
                </a:solidFill>
                <a:latin typeface="Cambria"/>
                <a:ea typeface="Cambria"/>
                <a:cs typeface="Cambria"/>
                <a:sym typeface="Cambria"/>
              </a:rPr>
              <a:t>1</a:t>
            </a:r>
            <a:endParaRPr b="0" i="0" sz="1800" u="none" cap="none" strike="noStrike">
              <a:solidFill>
                <a:schemeClr val="dk1"/>
              </a:solidFill>
              <a:latin typeface="Calibri"/>
              <a:ea typeface="Calibri"/>
              <a:cs typeface="Calibri"/>
              <a:sym typeface="Calibri"/>
            </a:endParaRPr>
          </a:p>
        </p:txBody>
      </p:sp>
      <p:sp>
        <p:nvSpPr>
          <p:cNvPr id="54" name="Google Shape;54;p2"/>
          <p:cNvSpPr/>
          <p:nvPr/>
        </p:nvSpPr>
        <p:spPr>
          <a:xfrm>
            <a:off x="1234440" y="1572768"/>
            <a:ext cx="60350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430"/>
              </a:buClr>
              <a:buSzPts val="1600"/>
              <a:buFont typeface="Calibri"/>
              <a:buNone/>
            </a:pPr>
            <a:r>
              <a:rPr b="1" i="0" lang="en-US" sz="1600" u="none" cap="none" strike="noStrike">
                <a:solidFill>
                  <a:srgbClr val="1B2430"/>
                </a:solidFill>
                <a:latin typeface="Calibri"/>
                <a:ea typeface="Calibri"/>
                <a:cs typeface="Calibri"/>
                <a:sym typeface="Calibri"/>
              </a:rPr>
              <a:t>Dataset Selection &amp; Preprocessing</a:t>
            </a:r>
            <a:endParaRPr b="0" i="0" sz="1600" u="none" cap="none" strike="noStrike">
              <a:solidFill>
                <a:schemeClr val="dk1"/>
              </a:solidFill>
              <a:latin typeface="Calibri"/>
              <a:ea typeface="Calibri"/>
              <a:cs typeface="Calibri"/>
              <a:sym typeface="Calibri"/>
            </a:endParaRPr>
          </a:p>
        </p:txBody>
      </p:sp>
      <p:sp>
        <p:nvSpPr>
          <p:cNvPr id="55" name="Google Shape;55;p2"/>
          <p:cNvSpPr/>
          <p:nvPr/>
        </p:nvSpPr>
        <p:spPr>
          <a:xfrm>
            <a:off x="1234440" y="1901952"/>
            <a:ext cx="60350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80"/>
              </a:buClr>
              <a:buSzPts val="1200"/>
              <a:buFont typeface="Calibri"/>
              <a:buNone/>
            </a:pPr>
            <a:r>
              <a:rPr b="0" i="0" lang="en-US" sz="1200" u="none" cap="none" strike="noStrike">
                <a:solidFill>
                  <a:srgbClr val="5B6B80"/>
                </a:solidFill>
                <a:latin typeface="Calibri"/>
                <a:ea typeface="Calibri"/>
                <a:cs typeface="Calibri"/>
                <a:sym typeface="Calibri"/>
              </a:rPr>
              <a:t>Why MovieLens 100K, and how the data was prepared</a:t>
            </a:r>
            <a:endParaRPr b="0" i="0" sz="1200" u="none" cap="none" strike="noStrike">
              <a:solidFill>
                <a:schemeClr val="dk1"/>
              </a:solidFill>
              <a:latin typeface="Calibri"/>
              <a:ea typeface="Calibri"/>
              <a:cs typeface="Calibri"/>
              <a:sym typeface="Calibri"/>
            </a:endParaRPr>
          </a:p>
        </p:txBody>
      </p:sp>
      <p:sp>
        <p:nvSpPr>
          <p:cNvPr id="56" name="Google Shape;56;p2"/>
          <p:cNvSpPr/>
          <p:nvPr/>
        </p:nvSpPr>
        <p:spPr>
          <a:xfrm>
            <a:off x="548640" y="2377440"/>
            <a:ext cx="502920" cy="502920"/>
          </a:xfrm>
          <a:prstGeom prst="ellipse">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2"/>
          <p:cNvSpPr/>
          <p:nvPr/>
        </p:nvSpPr>
        <p:spPr>
          <a:xfrm>
            <a:off x="548640" y="2377440"/>
            <a:ext cx="50292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800"/>
              <a:buFont typeface="Cambria"/>
              <a:buNone/>
            </a:pPr>
            <a:r>
              <a:rPr b="1" i="0" lang="en-US" sz="1800" u="none" cap="none" strike="noStrike">
                <a:solidFill>
                  <a:srgbClr val="FFFFFF"/>
                </a:solidFill>
                <a:latin typeface="Cambria"/>
                <a:ea typeface="Cambria"/>
                <a:cs typeface="Cambria"/>
                <a:sym typeface="Cambria"/>
              </a:rPr>
              <a:t>2</a:t>
            </a:r>
            <a:endParaRPr b="0" i="0" sz="1800" u="none" cap="none" strike="noStrike">
              <a:solidFill>
                <a:schemeClr val="dk1"/>
              </a:solidFill>
              <a:latin typeface="Calibri"/>
              <a:ea typeface="Calibri"/>
              <a:cs typeface="Calibri"/>
              <a:sym typeface="Calibri"/>
            </a:endParaRPr>
          </a:p>
        </p:txBody>
      </p:sp>
      <p:sp>
        <p:nvSpPr>
          <p:cNvPr id="58" name="Google Shape;58;p2"/>
          <p:cNvSpPr/>
          <p:nvPr/>
        </p:nvSpPr>
        <p:spPr>
          <a:xfrm>
            <a:off x="1234440" y="2350008"/>
            <a:ext cx="60350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430"/>
              </a:buClr>
              <a:buSzPts val="1600"/>
              <a:buFont typeface="Calibri"/>
              <a:buNone/>
            </a:pPr>
            <a:r>
              <a:rPr b="1" i="0" lang="en-US" sz="1600" u="none" cap="none" strike="noStrike">
                <a:solidFill>
                  <a:srgbClr val="1B2430"/>
                </a:solidFill>
                <a:latin typeface="Calibri"/>
                <a:ea typeface="Calibri"/>
                <a:cs typeface="Calibri"/>
                <a:sym typeface="Calibri"/>
              </a:rPr>
              <a:t>Model Design</a:t>
            </a:r>
            <a:endParaRPr b="0" i="0" sz="1600" u="none" cap="none" strike="noStrike">
              <a:solidFill>
                <a:schemeClr val="dk1"/>
              </a:solidFill>
              <a:latin typeface="Calibri"/>
              <a:ea typeface="Calibri"/>
              <a:cs typeface="Calibri"/>
              <a:sym typeface="Calibri"/>
            </a:endParaRPr>
          </a:p>
        </p:txBody>
      </p:sp>
      <p:sp>
        <p:nvSpPr>
          <p:cNvPr id="59" name="Google Shape;59;p2"/>
          <p:cNvSpPr/>
          <p:nvPr/>
        </p:nvSpPr>
        <p:spPr>
          <a:xfrm>
            <a:off x="1234440" y="2679192"/>
            <a:ext cx="60350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80"/>
              </a:buClr>
              <a:buSzPts val="1200"/>
              <a:buFont typeface="Calibri"/>
              <a:buNone/>
            </a:pPr>
            <a:r>
              <a:rPr b="0" i="0" lang="en-US" sz="1200" u="none" cap="none" strike="noStrike">
                <a:solidFill>
                  <a:srgbClr val="5B6B80"/>
                </a:solidFill>
                <a:latin typeface="Calibri"/>
                <a:ea typeface="Calibri"/>
                <a:cs typeface="Calibri"/>
                <a:sym typeface="Calibri"/>
              </a:rPr>
              <a:t>Classical ML (SVD) vs. Deep Learning (NCF)</a:t>
            </a:r>
            <a:endParaRPr b="0" i="0" sz="1200" u="none" cap="none" strike="noStrike">
              <a:solidFill>
                <a:schemeClr val="dk1"/>
              </a:solidFill>
              <a:latin typeface="Calibri"/>
              <a:ea typeface="Calibri"/>
              <a:cs typeface="Calibri"/>
              <a:sym typeface="Calibri"/>
            </a:endParaRPr>
          </a:p>
        </p:txBody>
      </p:sp>
      <p:sp>
        <p:nvSpPr>
          <p:cNvPr id="60" name="Google Shape;60;p2"/>
          <p:cNvSpPr/>
          <p:nvPr/>
        </p:nvSpPr>
        <p:spPr>
          <a:xfrm>
            <a:off x="548640" y="3154680"/>
            <a:ext cx="502920" cy="502920"/>
          </a:xfrm>
          <a:prstGeom prst="ellipse">
            <a:avLst/>
          </a:prstGeom>
          <a:solidFill>
            <a:srgbClr val="065A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2"/>
          <p:cNvSpPr/>
          <p:nvPr/>
        </p:nvSpPr>
        <p:spPr>
          <a:xfrm>
            <a:off x="548640" y="3154680"/>
            <a:ext cx="50292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800"/>
              <a:buFont typeface="Cambria"/>
              <a:buNone/>
            </a:pPr>
            <a:r>
              <a:rPr b="1" i="0" lang="en-US" sz="1800" u="none" cap="none" strike="noStrike">
                <a:solidFill>
                  <a:srgbClr val="FFFFFF"/>
                </a:solidFill>
                <a:latin typeface="Cambria"/>
                <a:ea typeface="Cambria"/>
                <a:cs typeface="Cambria"/>
                <a:sym typeface="Cambria"/>
              </a:rPr>
              <a:t>3</a:t>
            </a:r>
            <a:endParaRPr b="0" i="0" sz="1800" u="none" cap="none" strike="noStrike">
              <a:solidFill>
                <a:schemeClr val="dk1"/>
              </a:solidFill>
              <a:latin typeface="Calibri"/>
              <a:ea typeface="Calibri"/>
              <a:cs typeface="Calibri"/>
              <a:sym typeface="Calibri"/>
            </a:endParaRPr>
          </a:p>
        </p:txBody>
      </p:sp>
      <p:sp>
        <p:nvSpPr>
          <p:cNvPr id="62" name="Google Shape;62;p2"/>
          <p:cNvSpPr/>
          <p:nvPr/>
        </p:nvSpPr>
        <p:spPr>
          <a:xfrm>
            <a:off x="1234440" y="3127248"/>
            <a:ext cx="60350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430"/>
              </a:buClr>
              <a:buSzPts val="1600"/>
              <a:buFont typeface="Calibri"/>
              <a:buNone/>
            </a:pPr>
            <a:r>
              <a:rPr b="1" i="0" lang="en-US" sz="1600" u="none" cap="none" strike="noStrike">
                <a:solidFill>
                  <a:srgbClr val="1B2430"/>
                </a:solidFill>
                <a:latin typeface="Calibri"/>
                <a:ea typeface="Calibri"/>
                <a:cs typeface="Calibri"/>
                <a:sym typeface="Calibri"/>
              </a:rPr>
              <a:t>Evaluation &amp; Validation</a:t>
            </a:r>
            <a:endParaRPr b="0" i="0" sz="1600" u="none" cap="none" strike="noStrike">
              <a:solidFill>
                <a:schemeClr val="dk1"/>
              </a:solidFill>
              <a:latin typeface="Calibri"/>
              <a:ea typeface="Calibri"/>
              <a:cs typeface="Calibri"/>
              <a:sym typeface="Calibri"/>
            </a:endParaRPr>
          </a:p>
        </p:txBody>
      </p:sp>
      <p:sp>
        <p:nvSpPr>
          <p:cNvPr id="63" name="Google Shape;63;p2"/>
          <p:cNvSpPr/>
          <p:nvPr/>
        </p:nvSpPr>
        <p:spPr>
          <a:xfrm>
            <a:off x="1234440" y="3456432"/>
            <a:ext cx="60350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80"/>
              </a:buClr>
              <a:buSzPts val="1200"/>
              <a:buFont typeface="Calibri"/>
              <a:buNone/>
            </a:pPr>
            <a:r>
              <a:rPr b="0" i="0" lang="en-US" sz="1200" u="none" cap="none" strike="noStrike">
                <a:solidFill>
                  <a:srgbClr val="5B6B80"/>
                </a:solidFill>
                <a:latin typeface="Calibri"/>
                <a:ea typeface="Calibri"/>
                <a:cs typeface="Calibri"/>
                <a:sym typeface="Calibri"/>
              </a:rPr>
              <a:t>RMSE, NDCG@10, and k-fold cross-validation</a:t>
            </a:r>
            <a:endParaRPr b="0" i="0" sz="1200" u="none" cap="none" strike="noStrike">
              <a:solidFill>
                <a:schemeClr val="dk1"/>
              </a:solidFill>
              <a:latin typeface="Calibri"/>
              <a:ea typeface="Calibri"/>
              <a:cs typeface="Calibri"/>
              <a:sym typeface="Calibri"/>
            </a:endParaRPr>
          </a:p>
        </p:txBody>
      </p:sp>
      <p:sp>
        <p:nvSpPr>
          <p:cNvPr id="64" name="Google Shape;64;p2"/>
          <p:cNvSpPr/>
          <p:nvPr/>
        </p:nvSpPr>
        <p:spPr>
          <a:xfrm>
            <a:off x="548640" y="3931920"/>
            <a:ext cx="502920" cy="502920"/>
          </a:xfrm>
          <a:prstGeom prst="ellipse">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2"/>
          <p:cNvSpPr/>
          <p:nvPr/>
        </p:nvSpPr>
        <p:spPr>
          <a:xfrm>
            <a:off x="548640" y="3931920"/>
            <a:ext cx="50292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800"/>
              <a:buFont typeface="Cambria"/>
              <a:buNone/>
            </a:pPr>
            <a:r>
              <a:rPr b="1" i="0" lang="en-US" sz="1800" u="none" cap="none" strike="noStrike">
                <a:solidFill>
                  <a:srgbClr val="FFFFFF"/>
                </a:solidFill>
                <a:latin typeface="Cambria"/>
                <a:ea typeface="Cambria"/>
                <a:cs typeface="Cambria"/>
                <a:sym typeface="Cambria"/>
              </a:rPr>
              <a:t>4</a:t>
            </a:r>
            <a:endParaRPr b="0" i="0" sz="1800" u="none" cap="none" strike="noStrike">
              <a:solidFill>
                <a:schemeClr val="dk1"/>
              </a:solidFill>
              <a:latin typeface="Calibri"/>
              <a:ea typeface="Calibri"/>
              <a:cs typeface="Calibri"/>
              <a:sym typeface="Calibri"/>
            </a:endParaRPr>
          </a:p>
        </p:txBody>
      </p:sp>
      <p:sp>
        <p:nvSpPr>
          <p:cNvPr id="66" name="Google Shape;66;p2"/>
          <p:cNvSpPr/>
          <p:nvPr/>
        </p:nvSpPr>
        <p:spPr>
          <a:xfrm>
            <a:off x="1234440" y="3904488"/>
            <a:ext cx="60350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430"/>
              </a:buClr>
              <a:buSzPts val="1600"/>
              <a:buFont typeface="Calibri"/>
              <a:buNone/>
            </a:pPr>
            <a:r>
              <a:rPr b="1" i="0" lang="en-US" sz="1600" u="none" cap="none" strike="noStrike">
                <a:solidFill>
                  <a:srgbClr val="1B2430"/>
                </a:solidFill>
                <a:latin typeface="Calibri"/>
                <a:ea typeface="Calibri"/>
                <a:cs typeface="Calibri"/>
                <a:sym typeface="Calibri"/>
              </a:rPr>
              <a:t>Explainability Findings</a:t>
            </a:r>
            <a:endParaRPr b="0" i="0" sz="1600" u="none" cap="none" strike="noStrike">
              <a:solidFill>
                <a:schemeClr val="dk1"/>
              </a:solidFill>
              <a:latin typeface="Calibri"/>
              <a:ea typeface="Calibri"/>
              <a:cs typeface="Calibri"/>
              <a:sym typeface="Calibri"/>
            </a:endParaRPr>
          </a:p>
        </p:txBody>
      </p:sp>
      <p:sp>
        <p:nvSpPr>
          <p:cNvPr id="67" name="Google Shape;67;p2"/>
          <p:cNvSpPr/>
          <p:nvPr/>
        </p:nvSpPr>
        <p:spPr>
          <a:xfrm>
            <a:off x="1234440" y="4233672"/>
            <a:ext cx="60350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80"/>
              </a:buClr>
              <a:buSzPts val="1200"/>
              <a:buFont typeface="Calibri"/>
              <a:buNone/>
            </a:pPr>
            <a:r>
              <a:rPr b="0" i="0" lang="en-US" sz="1200" u="none" cap="none" strike="noStrike">
                <a:solidFill>
                  <a:srgbClr val="5B6B80"/>
                </a:solidFill>
                <a:latin typeface="Calibri"/>
                <a:ea typeface="Calibri"/>
                <a:cs typeface="Calibri"/>
                <a:sym typeface="Calibri"/>
              </a:rPr>
              <a:t>SVD latent factors, SHAP &amp; LIME on the neural model</a:t>
            </a:r>
            <a:endParaRPr b="0" i="0" sz="1200" u="none" cap="none" strike="noStrike">
              <a:solidFill>
                <a:schemeClr val="dk1"/>
              </a:solidFill>
              <a:latin typeface="Calibri"/>
              <a:ea typeface="Calibri"/>
              <a:cs typeface="Calibri"/>
              <a:sym typeface="Calibri"/>
            </a:endParaRPr>
          </a:p>
        </p:txBody>
      </p:sp>
      <p:sp>
        <p:nvSpPr>
          <p:cNvPr id="68" name="Google Shape;68;p2"/>
          <p:cNvSpPr/>
          <p:nvPr/>
        </p:nvSpPr>
        <p:spPr>
          <a:xfrm>
            <a:off x="548640" y="4709160"/>
            <a:ext cx="502920" cy="502920"/>
          </a:xfrm>
          <a:prstGeom prst="ellipse">
            <a:avLst/>
          </a:prstGeom>
          <a:solidFill>
            <a:srgbClr val="065A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2"/>
          <p:cNvSpPr/>
          <p:nvPr/>
        </p:nvSpPr>
        <p:spPr>
          <a:xfrm>
            <a:off x="548640" y="4709160"/>
            <a:ext cx="50292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800"/>
              <a:buFont typeface="Cambria"/>
              <a:buNone/>
            </a:pPr>
            <a:r>
              <a:rPr b="1" i="0" lang="en-US" sz="1800" u="none" cap="none" strike="noStrike">
                <a:solidFill>
                  <a:srgbClr val="FFFFFF"/>
                </a:solidFill>
                <a:latin typeface="Cambria"/>
                <a:ea typeface="Cambria"/>
                <a:cs typeface="Cambria"/>
                <a:sym typeface="Cambria"/>
              </a:rPr>
              <a:t>5</a:t>
            </a:r>
            <a:endParaRPr b="0" i="0" sz="1800" u="none" cap="none" strike="noStrike">
              <a:solidFill>
                <a:schemeClr val="dk1"/>
              </a:solidFill>
              <a:latin typeface="Calibri"/>
              <a:ea typeface="Calibri"/>
              <a:cs typeface="Calibri"/>
              <a:sym typeface="Calibri"/>
            </a:endParaRPr>
          </a:p>
        </p:txBody>
      </p:sp>
      <p:sp>
        <p:nvSpPr>
          <p:cNvPr id="70" name="Google Shape;70;p2"/>
          <p:cNvSpPr/>
          <p:nvPr/>
        </p:nvSpPr>
        <p:spPr>
          <a:xfrm>
            <a:off x="1234440" y="4681728"/>
            <a:ext cx="60350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430"/>
              </a:buClr>
              <a:buSzPts val="1600"/>
              <a:buFont typeface="Calibri"/>
              <a:buNone/>
            </a:pPr>
            <a:r>
              <a:rPr b="1" i="0" lang="en-US" sz="1600" u="none" cap="none" strike="noStrike">
                <a:solidFill>
                  <a:srgbClr val="1B2430"/>
                </a:solidFill>
                <a:latin typeface="Calibri"/>
                <a:ea typeface="Calibri"/>
                <a:cs typeface="Calibri"/>
                <a:sym typeface="Calibri"/>
              </a:rPr>
              <a:t>Ethical &amp; Bias Considerations</a:t>
            </a:r>
            <a:endParaRPr b="0" i="0" sz="1600" u="none" cap="none" strike="noStrike">
              <a:solidFill>
                <a:schemeClr val="dk1"/>
              </a:solidFill>
              <a:latin typeface="Calibri"/>
              <a:ea typeface="Calibri"/>
              <a:cs typeface="Calibri"/>
              <a:sym typeface="Calibri"/>
            </a:endParaRPr>
          </a:p>
        </p:txBody>
      </p:sp>
      <p:sp>
        <p:nvSpPr>
          <p:cNvPr id="71" name="Google Shape;71;p2"/>
          <p:cNvSpPr/>
          <p:nvPr/>
        </p:nvSpPr>
        <p:spPr>
          <a:xfrm>
            <a:off x="1234440" y="5010912"/>
            <a:ext cx="60350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80"/>
              </a:buClr>
              <a:buSzPts val="1200"/>
              <a:buFont typeface="Calibri"/>
              <a:buNone/>
            </a:pPr>
            <a:r>
              <a:rPr b="0" i="0" lang="en-US" sz="1200" u="none" cap="none" strike="noStrike">
                <a:solidFill>
                  <a:srgbClr val="5B6B80"/>
                </a:solidFill>
                <a:latin typeface="Calibri"/>
                <a:ea typeface="Calibri"/>
                <a:cs typeface="Calibri"/>
                <a:sym typeface="Calibri"/>
              </a:rPr>
              <a:t>Privacy, fairness, and subgroup disparities</a:t>
            </a:r>
            <a:endParaRPr b="0" i="0" sz="1200" u="none" cap="none" strike="noStrike">
              <a:solidFill>
                <a:schemeClr val="dk1"/>
              </a:solidFill>
              <a:latin typeface="Calibri"/>
              <a:ea typeface="Calibri"/>
              <a:cs typeface="Calibri"/>
              <a:sym typeface="Calibri"/>
            </a:endParaRPr>
          </a:p>
        </p:txBody>
      </p:sp>
      <p:sp>
        <p:nvSpPr>
          <p:cNvPr id="72" name="Google Shape;72;p2"/>
          <p:cNvSpPr/>
          <p:nvPr/>
        </p:nvSpPr>
        <p:spPr>
          <a:xfrm>
            <a:off x="548640" y="5486400"/>
            <a:ext cx="502920" cy="502920"/>
          </a:xfrm>
          <a:prstGeom prst="ellipse">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2"/>
          <p:cNvSpPr/>
          <p:nvPr/>
        </p:nvSpPr>
        <p:spPr>
          <a:xfrm>
            <a:off x="548640" y="5486400"/>
            <a:ext cx="50292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800"/>
              <a:buFont typeface="Cambria"/>
              <a:buNone/>
            </a:pPr>
            <a:r>
              <a:rPr b="1" i="0" lang="en-US" sz="1800" u="none" cap="none" strike="noStrike">
                <a:solidFill>
                  <a:srgbClr val="FFFFFF"/>
                </a:solidFill>
                <a:latin typeface="Cambria"/>
                <a:ea typeface="Cambria"/>
                <a:cs typeface="Cambria"/>
                <a:sym typeface="Cambria"/>
              </a:rPr>
              <a:t>6</a:t>
            </a:r>
            <a:endParaRPr b="0" i="0" sz="1800" u="none" cap="none" strike="noStrike">
              <a:solidFill>
                <a:schemeClr val="dk1"/>
              </a:solidFill>
              <a:latin typeface="Calibri"/>
              <a:ea typeface="Calibri"/>
              <a:cs typeface="Calibri"/>
              <a:sym typeface="Calibri"/>
            </a:endParaRPr>
          </a:p>
        </p:txBody>
      </p:sp>
      <p:sp>
        <p:nvSpPr>
          <p:cNvPr id="74" name="Google Shape;74;p2"/>
          <p:cNvSpPr/>
          <p:nvPr/>
        </p:nvSpPr>
        <p:spPr>
          <a:xfrm>
            <a:off x="1234440" y="5458968"/>
            <a:ext cx="60350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430"/>
              </a:buClr>
              <a:buSzPts val="1600"/>
              <a:buFont typeface="Calibri"/>
              <a:buNone/>
            </a:pPr>
            <a:r>
              <a:rPr b="1" i="0" lang="en-US" sz="1600" u="none" cap="none" strike="noStrike">
                <a:solidFill>
                  <a:srgbClr val="1B2430"/>
                </a:solidFill>
                <a:latin typeface="Calibri"/>
                <a:ea typeface="Calibri"/>
                <a:cs typeface="Calibri"/>
                <a:sym typeface="Calibri"/>
              </a:rPr>
              <a:t>Deployment Considerations</a:t>
            </a:r>
            <a:endParaRPr b="0" i="0" sz="1600" u="none" cap="none" strike="noStrike">
              <a:solidFill>
                <a:schemeClr val="dk1"/>
              </a:solidFill>
              <a:latin typeface="Calibri"/>
              <a:ea typeface="Calibri"/>
              <a:cs typeface="Calibri"/>
              <a:sym typeface="Calibri"/>
            </a:endParaRPr>
          </a:p>
        </p:txBody>
      </p:sp>
      <p:sp>
        <p:nvSpPr>
          <p:cNvPr id="75" name="Google Shape;75;p2"/>
          <p:cNvSpPr/>
          <p:nvPr/>
        </p:nvSpPr>
        <p:spPr>
          <a:xfrm>
            <a:off x="1234440" y="5788152"/>
            <a:ext cx="60350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80"/>
              </a:buClr>
              <a:buSzPts val="1200"/>
              <a:buFont typeface="Calibri"/>
              <a:buNone/>
            </a:pPr>
            <a:r>
              <a:rPr b="0" i="0" lang="en-US" sz="1200" u="none" cap="none" strike="noStrike">
                <a:solidFill>
                  <a:srgbClr val="5B6B80"/>
                </a:solidFill>
                <a:latin typeface="Calibri"/>
                <a:ea typeface="Calibri"/>
                <a:cs typeface="Calibri"/>
                <a:sym typeface="Calibri"/>
              </a:rPr>
              <a:t>Taking either model from notebook to production</a:t>
            </a:r>
            <a:endParaRPr b="0" i="0" sz="1200" u="none" cap="none" strike="noStrike">
              <a:solidFill>
                <a:schemeClr val="dk1"/>
              </a:solidFill>
              <a:latin typeface="Calibri"/>
              <a:ea typeface="Calibri"/>
              <a:cs typeface="Calibri"/>
              <a:sym typeface="Calibri"/>
            </a:endParaRPr>
          </a:p>
        </p:txBody>
      </p:sp>
      <p:sp>
        <p:nvSpPr>
          <p:cNvPr id="76" name="Google Shape;76;p2"/>
          <p:cNvSpPr/>
          <p:nvPr/>
        </p:nvSpPr>
        <p:spPr>
          <a:xfrm>
            <a:off x="7772400" y="1600200"/>
            <a:ext cx="3931920" cy="4663440"/>
          </a:xfrm>
          <a:prstGeom prst="roundRect">
            <a:avLst>
              <a:gd fmla="val 1860" name="adj"/>
            </a:avLst>
          </a:prstGeom>
          <a:solidFill>
            <a:srgbClr val="F0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2"/>
          <p:cNvSpPr/>
          <p:nvPr/>
        </p:nvSpPr>
        <p:spPr>
          <a:xfrm>
            <a:off x="8046720" y="1874520"/>
            <a:ext cx="33832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7293"/>
              </a:buClr>
              <a:buSzPts val="1200"/>
              <a:buFont typeface="Calibri"/>
              <a:buNone/>
            </a:pPr>
            <a:r>
              <a:rPr b="1" i="0" lang="en-US" sz="1200" u="none" cap="none" strike="noStrike">
                <a:solidFill>
                  <a:srgbClr val="1C7293"/>
                </a:solidFill>
                <a:latin typeface="Calibri"/>
                <a:ea typeface="Calibri"/>
                <a:cs typeface="Calibri"/>
                <a:sym typeface="Calibri"/>
              </a:rPr>
              <a:t>20 MINUTES</a:t>
            </a:r>
            <a:endParaRPr b="0" i="0" sz="1200" u="none" cap="none" strike="noStrike">
              <a:solidFill>
                <a:schemeClr val="dk1"/>
              </a:solidFill>
              <a:latin typeface="Calibri"/>
              <a:ea typeface="Calibri"/>
              <a:cs typeface="Calibri"/>
              <a:sym typeface="Calibri"/>
            </a:endParaRPr>
          </a:p>
        </p:txBody>
      </p:sp>
      <p:sp>
        <p:nvSpPr>
          <p:cNvPr id="78" name="Google Shape;78;p2"/>
          <p:cNvSpPr/>
          <p:nvPr/>
        </p:nvSpPr>
        <p:spPr>
          <a:xfrm>
            <a:off x="8046720" y="5120640"/>
            <a:ext cx="338328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65A82"/>
              </a:buClr>
              <a:buSzPts val="1500"/>
              <a:buFont typeface="Cambria"/>
              <a:buNone/>
            </a:pPr>
            <a:r>
              <a:rPr b="1" i="0" lang="en-US" sz="1500" u="none" cap="none" strike="noStrike">
                <a:solidFill>
                  <a:srgbClr val="065A82"/>
                </a:solidFill>
                <a:latin typeface="Cambria"/>
                <a:ea typeface="Cambria"/>
                <a:cs typeface="Cambria"/>
                <a:sym typeface="Cambria"/>
              </a:rPr>
              <a:t>Two models, one dataset, one fair comparison.</a:t>
            </a:r>
            <a:endParaRPr b="0" i="0" sz="1500" u="none" cap="none" strike="noStrike">
              <a:solidFill>
                <a:schemeClr val="dk1"/>
              </a:solidFill>
              <a:latin typeface="Calibri"/>
              <a:ea typeface="Calibri"/>
              <a:cs typeface="Calibri"/>
              <a:sym typeface="Calibri"/>
            </a:endParaRPr>
          </a:p>
        </p:txBody>
      </p:sp>
      <p:sp>
        <p:nvSpPr>
          <p:cNvPr id="79" name="Google Shape;79;p2"/>
          <p:cNvSpPr/>
          <p:nvPr/>
        </p:nvSpPr>
        <p:spPr>
          <a:xfrm>
            <a:off x="11521440" y="6446520"/>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6B80"/>
              </a:buClr>
              <a:buSzPts val="1000"/>
              <a:buFont typeface="Calibri"/>
              <a:buNone/>
            </a:pPr>
            <a:r>
              <a:rPr b="0" i="0" lang="en-US" sz="1000" u="none" cap="none" strike="noStrike">
                <a:solidFill>
                  <a:srgbClr val="5B6B80"/>
                </a:solidFill>
                <a:latin typeface="Calibri"/>
                <a:ea typeface="Calibri"/>
                <a:cs typeface="Calibri"/>
                <a:sym typeface="Calibri"/>
              </a:rPr>
              <a:t>02</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4" name="Shape 84"/>
        <p:cNvGrpSpPr/>
        <p:nvPr/>
      </p:nvGrpSpPr>
      <p:grpSpPr>
        <a:xfrm>
          <a:off x="0" y="0"/>
          <a:ext cx="0" cy="0"/>
          <a:chOff x="0" y="0"/>
          <a:chExt cx="0" cy="0"/>
        </a:xfrm>
      </p:grpSpPr>
      <p:cxnSp>
        <p:nvCxnSpPr>
          <p:cNvPr id="85" name="Google Shape;85;p3"/>
          <p:cNvCxnSpPr/>
          <p:nvPr/>
        </p:nvCxnSpPr>
        <p:spPr>
          <a:xfrm flipH="1" rot="10800000">
            <a:off x="11292840" y="521208"/>
            <a:ext cx="320040" cy="91440"/>
          </a:xfrm>
          <a:prstGeom prst="straightConnector1">
            <a:avLst/>
          </a:prstGeom>
          <a:noFill/>
          <a:ln cap="flat" cmpd="sng" w="12700">
            <a:solidFill>
              <a:srgbClr val="C7D6E0"/>
            </a:solidFill>
            <a:prstDash val="solid"/>
            <a:round/>
            <a:headEnd len="sm" w="sm" type="none"/>
            <a:tailEnd len="sm" w="sm" type="none"/>
          </a:ln>
        </p:spPr>
      </p:cxnSp>
      <p:cxnSp>
        <p:nvCxnSpPr>
          <p:cNvPr id="86" name="Google Shape;86;p3"/>
          <p:cNvCxnSpPr/>
          <p:nvPr/>
        </p:nvCxnSpPr>
        <p:spPr>
          <a:xfrm>
            <a:off x="11612880" y="521208"/>
            <a:ext cx="274320" cy="137160"/>
          </a:xfrm>
          <a:prstGeom prst="straightConnector1">
            <a:avLst/>
          </a:prstGeom>
          <a:noFill/>
          <a:ln cap="flat" cmpd="sng" w="12700">
            <a:solidFill>
              <a:srgbClr val="C7D6E0"/>
            </a:solidFill>
            <a:prstDash val="solid"/>
            <a:round/>
            <a:headEnd len="sm" w="sm" type="none"/>
            <a:tailEnd len="sm" w="sm" type="none"/>
          </a:ln>
        </p:spPr>
      </p:cxnSp>
      <p:sp>
        <p:nvSpPr>
          <p:cNvPr id="87" name="Google Shape;87;p3"/>
          <p:cNvSpPr/>
          <p:nvPr/>
        </p:nvSpPr>
        <p:spPr>
          <a:xfrm>
            <a:off x="11247120" y="566928"/>
            <a:ext cx="91440" cy="91440"/>
          </a:xfrm>
          <a:prstGeom prst="ellipse">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3"/>
          <p:cNvSpPr/>
          <p:nvPr/>
        </p:nvSpPr>
        <p:spPr>
          <a:xfrm>
            <a:off x="11567160" y="475488"/>
            <a:ext cx="73152" cy="73152"/>
          </a:xfrm>
          <a:prstGeom prst="ellipse">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3"/>
          <p:cNvSpPr/>
          <p:nvPr/>
        </p:nvSpPr>
        <p:spPr>
          <a:xfrm>
            <a:off x="11841480" y="612648"/>
            <a:ext cx="82296" cy="82296"/>
          </a:xfrm>
          <a:prstGeom prst="ellipse">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3"/>
          <p:cNvSpPr/>
          <p:nvPr/>
        </p:nvSpPr>
        <p:spPr>
          <a:xfrm>
            <a:off x="548640" y="384048"/>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7293"/>
              </a:buClr>
              <a:buSzPts val="1200"/>
              <a:buFont typeface="Calibri"/>
              <a:buNone/>
            </a:pPr>
            <a:r>
              <a:rPr b="1" i="0" lang="en-US" sz="1200" u="none" cap="none" strike="noStrike">
                <a:solidFill>
                  <a:srgbClr val="1C7293"/>
                </a:solidFill>
                <a:latin typeface="Calibri"/>
                <a:ea typeface="Calibri"/>
                <a:cs typeface="Calibri"/>
                <a:sym typeface="Calibri"/>
              </a:rPr>
              <a:t>01 · DATASET</a:t>
            </a:r>
            <a:endParaRPr b="0" i="0" sz="1200" u="none" cap="none" strike="noStrike">
              <a:solidFill>
                <a:schemeClr val="dk1"/>
              </a:solidFill>
              <a:latin typeface="Calibri"/>
              <a:ea typeface="Calibri"/>
              <a:cs typeface="Calibri"/>
              <a:sym typeface="Calibri"/>
            </a:endParaRPr>
          </a:p>
        </p:txBody>
      </p:sp>
      <p:sp>
        <p:nvSpPr>
          <p:cNvPr id="91" name="Google Shape;91;p3"/>
          <p:cNvSpPr/>
          <p:nvPr/>
        </p:nvSpPr>
        <p:spPr>
          <a:xfrm>
            <a:off x="548640" y="658368"/>
            <a:ext cx="987552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1295C"/>
              </a:buClr>
              <a:buSzPts val="3000"/>
              <a:buFont typeface="Cambria"/>
              <a:buNone/>
            </a:pPr>
            <a:r>
              <a:rPr b="1" i="0" lang="en-US" sz="3000" u="none" cap="none" strike="noStrike">
                <a:solidFill>
                  <a:srgbClr val="21295C"/>
                </a:solidFill>
                <a:latin typeface="Cambria"/>
                <a:ea typeface="Cambria"/>
                <a:cs typeface="Cambria"/>
                <a:sym typeface="Cambria"/>
              </a:rPr>
              <a:t>Why MovieLens 100K?</a:t>
            </a:r>
            <a:endParaRPr b="0" i="0" sz="3000" u="none" cap="none" strike="noStrike">
              <a:solidFill>
                <a:schemeClr val="dk1"/>
              </a:solidFill>
              <a:latin typeface="Calibri"/>
              <a:ea typeface="Calibri"/>
              <a:cs typeface="Calibri"/>
              <a:sym typeface="Calibri"/>
            </a:endParaRPr>
          </a:p>
        </p:txBody>
      </p:sp>
      <p:sp>
        <p:nvSpPr>
          <p:cNvPr id="92" name="Google Shape;92;p3"/>
          <p:cNvSpPr/>
          <p:nvPr/>
        </p:nvSpPr>
        <p:spPr>
          <a:xfrm>
            <a:off x="548640" y="1691640"/>
            <a:ext cx="5212080" cy="4297680"/>
          </a:xfrm>
          <a:prstGeom prst="roundRect">
            <a:avLst>
              <a:gd fmla="val 1702" name="adj"/>
            </a:avLst>
          </a:prstGeom>
          <a:solidFill>
            <a:srgbClr val="FBEFE6"/>
          </a:solidFill>
          <a:ln cap="flat" cmpd="sng" w="12700">
            <a:solidFill>
              <a:srgbClr val="E8C9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3"/>
          <p:cNvSpPr/>
          <p:nvPr/>
        </p:nvSpPr>
        <p:spPr>
          <a:xfrm>
            <a:off x="822960" y="1920240"/>
            <a:ext cx="46634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A5B1F"/>
              </a:buClr>
              <a:buSzPts val="1700"/>
              <a:buFont typeface="Cambria"/>
              <a:buNone/>
            </a:pPr>
            <a:r>
              <a:rPr b="1" i="0" lang="en-US" sz="1700" u="none" cap="none" strike="noStrike">
                <a:solidFill>
                  <a:srgbClr val="9A5B1F"/>
                </a:solidFill>
                <a:latin typeface="Cambria"/>
                <a:ea typeface="Cambria"/>
                <a:cs typeface="Cambria"/>
                <a:sym typeface="Cambria"/>
              </a:rPr>
              <a:t>Spotify Tracks Dataset</a:t>
            </a:r>
            <a:endParaRPr b="0" i="0" sz="1700" u="none" cap="none" strike="noStrike">
              <a:solidFill>
                <a:schemeClr val="dk1"/>
              </a:solidFill>
              <a:latin typeface="Calibri"/>
              <a:ea typeface="Calibri"/>
              <a:cs typeface="Calibri"/>
              <a:sym typeface="Calibri"/>
            </a:endParaRPr>
          </a:p>
        </p:txBody>
      </p:sp>
      <p:sp>
        <p:nvSpPr>
          <p:cNvPr id="94" name="Google Shape;94;p3"/>
          <p:cNvSpPr/>
          <p:nvPr/>
        </p:nvSpPr>
        <p:spPr>
          <a:xfrm>
            <a:off x="822960" y="2267712"/>
            <a:ext cx="46634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A5B1F"/>
              </a:buClr>
              <a:buSzPts val="1100"/>
              <a:buFont typeface="Calibri"/>
              <a:buNone/>
            </a:pPr>
            <a:r>
              <a:rPr b="0" i="1" lang="en-US" sz="1100" u="none" cap="none" strike="noStrike">
                <a:solidFill>
                  <a:srgbClr val="9A5B1F"/>
                </a:solidFill>
                <a:latin typeface="Calibri"/>
                <a:ea typeface="Calibri"/>
                <a:cs typeface="Calibri"/>
                <a:sym typeface="Calibri"/>
              </a:rPr>
              <a:t>Considered, then ruled out</a:t>
            </a:r>
            <a:endParaRPr b="0" i="0" sz="1100" u="none" cap="none" strike="noStrike">
              <a:solidFill>
                <a:schemeClr val="dk1"/>
              </a:solidFill>
              <a:latin typeface="Calibri"/>
              <a:ea typeface="Calibri"/>
              <a:cs typeface="Calibri"/>
              <a:sym typeface="Calibri"/>
            </a:endParaRPr>
          </a:p>
        </p:txBody>
      </p:sp>
      <p:sp>
        <p:nvSpPr>
          <p:cNvPr id="95" name="Google Shape;95;p3"/>
          <p:cNvSpPr/>
          <p:nvPr/>
        </p:nvSpPr>
        <p:spPr>
          <a:xfrm>
            <a:off x="822960" y="2743200"/>
            <a:ext cx="36576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0392B"/>
              </a:buClr>
              <a:buSzPts val="1600"/>
              <a:buFont typeface="Calibri"/>
              <a:buNone/>
            </a:pPr>
            <a:r>
              <a:rPr b="1" i="0" lang="en-US" sz="1600" u="none" cap="none" strike="noStrike">
                <a:solidFill>
                  <a:srgbClr val="C0392B"/>
                </a:solidFill>
                <a:latin typeface="Calibri"/>
                <a:ea typeface="Calibri"/>
                <a:cs typeface="Calibri"/>
                <a:sym typeface="Calibri"/>
              </a:rPr>
              <a:t>✗</a:t>
            </a:r>
            <a:endParaRPr b="0" i="0" sz="1600" u="none" cap="none" strike="noStrike">
              <a:solidFill>
                <a:schemeClr val="dk1"/>
              </a:solidFill>
              <a:latin typeface="Calibri"/>
              <a:ea typeface="Calibri"/>
              <a:cs typeface="Calibri"/>
              <a:sym typeface="Calibri"/>
            </a:endParaRPr>
          </a:p>
        </p:txBody>
      </p:sp>
      <p:sp>
        <p:nvSpPr>
          <p:cNvPr id="96" name="Google Shape;96;p3"/>
          <p:cNvSpPr/>
          <p:nvPr/>
        </p:nvSpPr>
        <p:spPr>
          <a:xfrm>
            <a:off x="1234440" y="2656206"/>
            <a:ext cx="43434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430"/>
              </a:buClr>
              <a:buSzPts val="1300"/>
              <a:buFont typeface="Calibri"/>
              <a:buNone/>
            </a:pPr>
            <a:r>
              <a:rPr b="0" i="0" lang="en-US" sz="1300" u="none" cap="none" strike="noStrike">
                <a:solidFill>
                  <a:srgbClr val="1B2430"/>
                </a:solidFill>
                <a:latin typeface="Calibri"/>
                <a:ea typeface="Calibri"/>
                <a:cs typeface="Calibri"/>
                <a:sym typeface="Calibri"/>
              </a:rPr>
              <a:t>Rich audio features (danceability, energy, tempo...)</a:t>
            </a:r>
            <a:endParaRPr b="0" i="0" sz="1300" u="none" cap="none" strike="noStrike">
              <a:solidFill>
                <a:schemeClr val="dk1"/>
              </a:solidFill>
              <a:latin typeface="Calibri"/>
              <a:ea typeface="Calibri"/>
              <a:cs typeface="Calibri"/>
              <a:sym typeface="Calibri"/>
            </a:endParaRPr>
          </a:p>
        </p:txBody>
      </p:sp>
      <p:sp>
        <p:nvSpPr>
          <p:cNvPr id="97" name="Google Shape;97;p3"/>
          <p:cNvSpPr/>
          <p:nvPr/>
        </p:nvSpPr>
        <p:spPr>
          <a:xfrm>
            <a:off x="822960" y="3310128"/>
            <a:ext cx="36576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0392B"/>
              </a:buClr>
              <a:buSzPts val="1600"/>
              <a:buFont typeface="Calibri"/>
              <a:buNone/>
            </a:pPr>
            <a:r>
              <a:rPr b="1" i="0" lang="en-US" sz="1600" u="none" cap="none" strike="noStrike">
                <a:solidFill>
                  <a:srgbClr val="C0392B"/>
                </a:solidFill>
                <a:latin typeface="Calibri"/>
                <a:ea typeface="Calibri"/>
                <a:cs typeface="Calibri"/>
                <a:sym typeface="Calibri"/>
              </a:rPr>
              <a:t>✗</a:t>
            </a:r>
            <a:endParaRPr b="0" i="0" sz="1600" u="none" cap="none" strike="noStrike">
              <a:solidFill>
                <a:schemeClr val="dk1"/>
              </a:solidFill>
              <a:latin typeface="Calibri"/>
              <a:ea typeface="Calibri"/>
              <a:cs typeface="Calibri"/>
              <a:sym typeface="Calibri"/>
            </a:endParaRPr>
          </a:p>
        </p:txBody>
      </p:sp>
      <p:sp>
        <p:nvSpPr>
          <p:cNvPr id="98" name="Google Shape;98;p3"/>
          <p:cNvSpPr/>
          <p:nvPr/>
        </p:nvSpPr>
        <p:spPr>
          <a:xfrm>
            <a:off x="1234440" y="3223134"/>
            <a:ext cx="43434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430"/>
              </a:buClr>
              <a:buSzPts val="1300"/>
              <a:buFont typeface="Calibri"/>
              <a:buNone/>
            </a:pPr>
            <a:r>
              <a:rPr b="0" i="0" lang="en-US" sz="1300" u="none" cap="none" strike="noStrike">
                <a:solidFill>
                  <a:srgbClr val="1B2430"/>
                </a:solidFill>
                <a:latin typeface="Calibri"/>
                <a:ea typeface="Calibri"/>
                <a:cs typeface="Calibri"/>
                <a:sym typeface="Calibri"/>
              </a:rPr>
              <a:t>No user-item interaction data at all</a:t>
            </a:r>
            <a:endParaRPr b="0" i="0" sz="1300" u="none" cap="none" strike="noStrike">
              <a:solidFill>
                <a:schemeClr val="dk1"/>
              </a:solidFill>
              <a:latin typeface="Calibri"/>
              <a:ea typeface="Calibri"/>
              <a:cs typeface="Calibri"/>
              <a:sym typeface="Calibri"/>
            </a:endParaRPr>
          </a:p>
        </p:txBody>
      </p:sp>
      <p:sp>
        <p:nvSpPr>
          <p:cNvPr id="99" name="Google Shape;99;p3"/>
          <p:cNvSpPr/>
          <p:nvPr/>
        </p:nvSpPr>
        <p:spPr>
          <a:xfrm>
            <a:off x="822960" y="3877056"/>
            <a:ext cx="36576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0392B"/>
              </a:buClr>
              <a:buSzPts val="1600"/>
              <a:buFont typeface="Calibri"/>
              <a:buNone/>
            </a:pPr>
            <a:r>
              <a:rPr b="1" i="0" lang="en-US" sz="1600" u="none" cap="none" strike="noStrike">
                <a:solidFill>
                  <a:srgbClr val="C0392B"/>
                </a:solidFill>
                <a:latin typeface="Calibri"/>
                <a:ea typeface="Calibri"/>
                <a:cs typeface="Calibri"/>
                <a:sym typeface="Calibri"/>
              </a:rPr>
              <a:t>✗</a:t>
            </a:r>
            <a:endParaRPr b="0" i="0" sz="1600" u="none" cap="none" strike="noStrike">
              <a:solidFill>
                <a:schemeClr val="dk1"/>
              </a:solidFill>
              <a:latin typeface="Calibri"/>
              <a:ea typeface="Calibri"/>
              <a:cs typeface="Calibri"/>
              <a:sym typeface="Calibri"/>
            </a:endParaRPr>
          </a:p>
        </p:txBody>
      </p:sp>
      <p:sp>
        <p:nvSpPr>
          <p:cNvPr id="100" name="Google Shape;100;p3"/>
          <p:cNvSpPr/>
          <p:nvPr/>
        </p:nvSpPr>
        <p:spPr>
          <a:xfrm>
            <a:off x="1234440" y="3790062"/>
            <a:ext cx="43434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430"/>
              </a:buClr>
              <a:buSzPts val="1300"/>
              <a:buFont typeface="Calibri"/>
              <a:buNone/>
            </a:pPr>
            <a:r>
              <a:rPr b="0" i="0" lang="en-US" sz="1300" u="none" cap="none" strike="noStrike">
                <a:solidFill>
                  <a:srgbClr val="1B2430"/>
                </a:solidFill>
                <a:latin typeface="Calibri"/>
                <a:ea typeface="Calibri"/>
                <a:cs typeface="Calibri"/>
                <a:sym typeface="Calibri"/>
              </a:rPr>
              <a:t>Collaborative filtering (SVD / NCF) has nothing to learn from</a:t>
            </a:r>
            <a:endParaRPr b="0" i="0" sz="1300" u="none" cap="none" strike="noStrike">
              <a:solidFill>
                <a:schemeClr val="dk1"/>
              </a:solidFill>
              <a:latin typeface="Calibri"/>
              <a:ea typeface="Calibri"/>
              <a:cs typeface="Calibri"/>
              <a:sym typeface="Calibri"/>
            </a:endParaRPr>
          </a:p>
        </p:txBody>
      </p:sp>
      <p:sp>
        <p:nvSpPr>
          <p:cNvPr id="101" name="Google Shape;101;p3"/>
          <p:cNvSpPr/>
          <p:nvPr/>
        </p:nvSpPr>
        <p:spPr>
          <a:xfrm>
            <a:off x="6309360" y="1691640"/>
            <a:ext cx="5349240" cy="4297680"/>
          </a:xfrm>
          <a:prstGeom prst="roundRect">
            <a:avLst>
              <a:gd fmla="val 1702" name="adj"/>
            </a:avLst>
          </a:prstGeom>
          <a:solidFill>
            <a:srgbClr val="E7F1F6"/>
          </a:solidFill>
          <a:ln cap="flat" cmpd="sng" w="19050">
            <a:solidFill>
              <a:srgbClr val="065A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3"/>
          <p:cNvSpPr/>
          <p:nvPr/>
        </p:nvSpPr>
        <p:spPr>
          <a:xfrm>
            <a:off x="6583680" y="1920240"/>
            <a:ext cx="48463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65A82"/>
              </a:buClr>
              <a:buSzPts val="1700"/>
              <a:buFont typeface="Cambria"/>
              <a:buNone/>
            </a:pPr>
            <a:r>
              <a:rPr b="1" i="0" lang="en-US" sz="1700" u="none" cap="none" strike="noStrike">
                <a:solidFill>
                  <a:srgbClr val="065A82"/>
                </a:solidFill>
                <a:latin typeface="Cambria"/>
                <a:ea typeface="Cambria"/>
                <a:cs typeface="Cambria"/>
                <a:sym typeface="Cambria"/>
              </a:rPr>
              <a:t>MovieLens 100K</a:t>
            </a:r>
            <a:endParaRPr b="0" i="0" sz="1700" u="none" cap="none" strike="noStrike">
              <a:solidFill>
                <a:schemeClr val="dk1"/>
              </a:solidFill>
              <a:latin typeface="Calibri"/>
              <a:ea typeface="Calibri"/>
              <a:cs typeface="Calibri"/>
              <a:sym typeface="Calibri"/>
            </a:endParaRPr>
          </a:p>
        </p:txBody>
      </p:sp>
      <p:sp>
        <p:nvSpPr>
          <p:cNvPr id="103" name="Google Shape;103;p3"/>
          <p:cNvSpPr/>
          <p:nvPr/>
        </p:nvSpPr>
        <p:spPr>
          <a:xfrm>
            <a:off x="6583680" y="2267712"/>
            <a:ext cx="48463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65A82"/>
              </a:buClr>
              <a:buSzPts val="1100"/>
              <a:buFont typeface="Calibri"/>
              <a:buNone/>
            </a:pPr>
            <a:r>
              <a:rPr b="0" i="1" lang="en-US" sz="1100" u="none" cap="none" strike="noStrike">
                <a:solidFill>
                  <a:srgbClr val="065A82"/>
                </a:solidFill>
                <a:latin typeface="Calibri"/>
                <a:ea typeface="Calibri"/>
                <a:cs typeface="Calibri"/>
                <a:sym typeface="Calibri"/>
              </a:rPr>
              <a:t>Selected dataset (GroupLens Research)</a:t>
            </a:r>
            <a:endParaRPr b="0" i="0" sz="1100" u="none" cap="none" strike="noStrike">
              <a:solidFill>
                <a:schemeClr val="dk1"/>
              </a:solidFill>
              <a:latin typeface="Calibri"/>
              <a:ea typeface="Calibri"/>
              <a:cs typeface="Calibri"/>
              <a:sym typeface="Calibri"/>
            </a:endParaRPr>
          </a:p>
        </p:txBody>
      </p:sp>
      <p:sp>
        <p:nvSpPr>
          <p:cNvPr id="104" name="Google Shape;104;p3"/>
          <p:cNvSpPr/>
          <p:nvPr/>
        </p:nvSpPr>
        <p:spPr>
          <a:xfrm>
            <a:off x="6583680" y="2743200"/>
            <a:ext cx="36576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824C"/>
              </a:buClr>
              <a:buSzPts val="1600"/>
              <a:buFont typeface="Calibri"/>
              <a:buNone/>
            </a:pPr>
            <a:r>
              <a:rPr b="1" i="0" lang="en-US" sz="1600" u="none" cap="none" strike="noStrike">
                <a:solidFill>
                  <a:srgbClr val="1E824C"/>
                </a:solidFill>
                <a:latin typeface="Calibri"/>
                <a:ea typeface="Calibri"/>
                <a:cs typeface="Calibri"/>
                <a:sym typeface="Calibri"/>
              </a:rPr>
              <a:t>✓</a:t>
            </a:r>
            <a:endParaRPr b="0" i="0" sz="1600" u="none" cap="none" strike="noStrike">
              <a:solidFill>
                <a:schemeClr val="dk1"/>
              </a:solidFill>
              <a:latin typeface="Calibri"/>
              <a:ea typeface="Calibri"/>
              <a:cs typeface="Calibri"/>
              <a:sym typeface="Calibri"/>
            </a:endParaRPr>
          </a:p>
        </p:txBody>
      </p:sp>
      <p:sp>
        <p:nvSpPr>
          <p:cNvPr id="105" name="Google Shape;105;p3"/>
          <p:cNvSpPr/>
          <p:nvPr/>
        </p:nvSpPr>
        <p:spPr>
          <a:xfrm>
            <a:off x="6995160" y="2656206"/>
            <a:ext cx="44805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430"/>
              </a:buClr>
              <a:buSzPts val="1300"/>
              <a:buFont typeface="Calibri"/>
              <a:buNone/>
            </a:pPr>
            <a:r>
              <a:rPr b="0" i="0" lang="en-US" sz="1300" u="none" cap="none" strike="noStrike">
                <a:solidFill>
                  <a:srgbClr val="1B2430"/>
                </a:solidFill>
                <a:latin typeface="Calibri"/>
                <a:ea typeface="Calibri"/>
                <a:cs typeface="Calibri"/>
                <a:sym typeface="Calibri"/>
              </a:rPr>
              <a:t>100,000 real user ratings — genuine collaborative signal</a:t>
            </a:r>
            <a:endParaRPr b="0" i="0" sz="1300" u="none" cap="none" strike="noStrike">
              <a:solidFill>
                <a:schemeClr val="dk1"/>
              </a:solidFill>
              <a:latin typeface="Calibri"/>
              <a:ea typeface="Calibri"/>
              <a:cs typeface="Calibri"/>
              <a:sym typeface="Calibri"/>
            </a:endParaRPr>
          </a:p>
        </p:txBody>
      </p:sp>
      <p:sp>
        <p:nvSpPr>
          <p:cNvPr id="106" name="Google Shape;106;p3"/>
          <p:cNvSpPr/>
          <p:nvPr/>
        </p:nvSpPr>
        <p:spPr>
          <a:xfrm>
            <a:off x="6583680" y="3310128"/>
            <a:ext cx="36576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824C"/>
              </a:buClr>
              <a:buSzPts val="1600"/>
              <a:buFont typeface="Calibri"/>
              <a:buNone/>
            </a:pPr>
            <a:r>
              <a:rPr b="1" i="0" lang="en-US" sz="1600" u="none" cap="none" strike="noStrike">
                <a:solidFill>
                  <a:srgbClr val="1E824C"/>
                </a:solidFill>
                <a:latin typeface="Calibri"/>
                <a:ea typeface="Calibri"/>
                <a:cs typeface="Calibri"/>
                <a:sym typeface="Calibri"/>
              </a:rPr>
              <a:t>✓</a:t>
            </a:r>
            <a:endParaRPr b="0" i="0" sz="1600" u="none" cap="none" strike="noStrike">
              <a:solidFill>
                <a:schemeClr val="dk1"/>
              </a:solidFill>
              <a:latin typeface="Calibri"/>
              <a:ea typeface="Calibri"/>
              <a:cs typeface="Calibri"/>
              <a:sym typeface="Calibri"/>
            </a:endParaRPr>
          </a:p>
        </p:txBody>
      </p:sp>
      <p:sp>
        <p:nvSpPr>
          <p:cNvPr id="107" name="Google Shape;107;p3"/>
          <p:cNvSpPr/>
          <p:nvPr/>
        </p:nvSpPr>
        <p:spPr>
          <a:xfrm>
            <a:off x="6995160" y="3223134"/>
            <a:ext cx="44805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430"/>
              </a:buClr>
              <a:buSzPts val="1300"/>
              <a:buFont typeface="Calibri"/>
              <a:buNone/>
            </a:pPr>
            <a:r>
              <a:rPr b="0" i="0" lang="en-US" sz="1300" u="none" cap="none" strike="noStrike">
                <a:solidFill>
                  <a:srgbClr val="1B2430"/>
                </a:solidFill>
                <a:latin typeface="Calibri"/>
                <a:ea typeface="Calibri"/>
                <a:cs typeface="Calibri"/>
                <a:sym typeface="Calibri"/>
              </a:rPr>
              <a:t>Demographic + genre side information for XAI and bias analysis</a:t>
            </a:r>
            <a:endParaRPr b="0" i="0" sz="1300" u="none" cap="none" strike="noStrike">
              <a:solidFill>
                <a:schemeClr val="dk1"/>
              </a:solidFill>
              <a:latin typeface="Calibri"/>
              <a:ea typeface="Calibri"/>
              <a:cs typeface="Calibri"/>
              <a:sym typeface="Calibri"/>
            </a:endParaRPr>
          </a:p>
        </p:txBody>
      </p:sp>
      <p:sp>
        <p:nvSpPr>
          <p:cNvPr id="108" name="Google Shape;108;p3"/>
          <p:cNvSpPr/>
          <p:nvPr/>
        </p:nvSpPr>
        <p:spPr>
          <a:xfrm>
            <a:off x="6583680" y="3877056"/>
            <a:ext cx="36576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824C"/>
              </a:buClr>
              <a:buSzPts val="1600"/>
              <a:buFont typeface="Calibri"/>
              <a:buNone/>
            </a:pPr>
            <a:r>
              <a:rPr b="1" i="0" lang="en-US" sz="1600" u="none" cap="none" strike="noStrike">
                <a:solidFill>
                  <a:srgbClr val="1E824C"/>
                </a:solidFill>
                <a:latin typeface="Calibri"/>
                <a:ea typeface="Calibri"/>
                <a:cs typeface="Calibri"/>
                <a:sym typeface="Calibri"/>
              </a:rPr>
              <a:t>✓</a:t>
            </a:r>
            <a:endParaRPr b="0" i="0" sz="1600" u="none" cap="none" strike="noStrike">
              <a:solidFill>
                <a:schemeClr val="dk1"/>
              </a:solidFill>
              <a:latin typeface="Calibri"/>
              <a:ea typeface="Calibri"/>
              <a:cs typeface="Calibri"/>
              <a:sym typeface="Calibri"/>
            </a:endParaRPr>
          </a:p>
        </p:txBody>
      </p:sp>
      <p:sp>
        <p:nvSpPr>
          <p:cNvPr id="109" name="Google Shape;109;p3"/>
          <p:cNvSpPr/>
          <p:nvPr/>
        </p:nvSpPr>
        <p:spPr>
          <a:xfrm>
            <a:off x="6995160" y="3891555"/>
            <a:ext cx="44805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430"/>
              </a:buClr>
              <a:buSzPts val="1300"/>
              <a:buFont typeface="Calibri"/>
              <a:buNone/>
            </a:pPr>
            <a:r>
              <a:rPr b="0" i="0" lang="en-US" sz="1300" u="none" cap="none" strike="noStrike">
                <a:solidFill>
                  <a:srgbClr val="1B2430"/>
                </a:solidFill>
                <a:latin typeface="Calibri"/>
                <a:ea typeface="Calibri"/>
                <a:cs typeface="Calibri"/>
                <a:sym typeface="Calibri"/>
              </a:rPr>
              <a:t>Established academic benchmark — comparable to published results</a:t>
            </a:r>
            <a:endParaRPr b="0" i="0" sz="1300" u="none" cap="none" strike="noStrike">
              <a:solidFill>
                <a:schemeClr val="dk1"/>
              </a:solidFill>
              <a:latin typeface="Calibri"/>
              <a:ea typeface="Calibri"/>
              <a:cs typeface="Calibri"/>
              <a:sym typeface="Calibri"/>
            </a:endParaRPr>
          </a:p>
        </p:txBody>
      </p:sp>
      <p:sp>
        <p:nvSpPr>
          <p:cNvPr id="110" name="Google Shape;110;p3"/>
          <p:cNvSpPr/>
          <p:nvPr/>
        </p:nvSpPr>
        <p:spPr>
          <a:xfrm>
            <a:off x="6583680" y="4663440"/>
            <a:ext cx="484632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80"/>
              </a:buClr>
              <a:buSzPts val="1050"/>
              <a:buFont typeface="Calibri"/>
              <a:buNone/>
            </a:pPr>
            <a:r>
              <a:rPr b="0" i="1" lang="en-US" sz="1050" u="none" cap="none" strike="noStrike">
                <a:solidFill>
                  <a:srgbClr val="5B6B80"/>
                </a:solidFill>
                <a:latin typeface="Calibri"/>
                <a:ea typeface="Calibri"/>
                <a:cs typeface="Calibri"/>
                <a:sym typeface="Calibri"/>
              </a:rPr>
              <a:t>Known limitation: 1997-98 data; not demographically representative of a modern audience. Revisited in Ethics.</a:t>
            </a:r>
            <a:endParaRPr b="0" i="0" sz="1050" u="none" cap="none" strike="noStrike">
              <a:solidFill>
                <a:schemeClr val="dk1"/>
              </a:solidFill>
              <a:latin typeface="Calibri"/>
              <a:ea typeface="Calibri"/>
              <a:cs typeface="Calibri"/>
              <a:sym typeface="Calibri"/>
            </a:endParaRPr>
          </a:p>
        </p:txBody>
      </p:sp>
      <p:sp>
        <p:nvSpPr>
          <p:cNvPr id="111" name="Google Shape;111;p3"/>
          <p:cNvSpPr/>
          <p:nvPr/>
        </p:nvSpPr>
        <p:spPr>
          <a:xfrm>
            <a:off x="11521440" y="6446520"/>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6B80"/>
              </a:buClr>
              <a:buSzPts val="1000"/>
              <a:buFont typeface="Calibri"/>
              <a:buNone/>
            </a:pPr>
            <a:r>
              <a:rPr b="0" i="0" lang="en-US" sz="1000" u="none" cap="none" strike="noStrike">
                <a:solidFill>
                  <a:srgbClr val="5B6B80"/>
                </a:solidFill>
                <a:latin typeface="Calibri"/>
                <a:ea typeface="Calibri"/>
                <a:cs typeface="Calibri"/>
                <a:sym typeface="Calibri"/>
              </a:rPr>
              <a:t>03</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6" name="Shape 116"/>
        <p:cNvGrpSpPr/>
        <p:nvPr/>
      </p:nvGrpSpPr>
      <p:grpSpPr>
        <a:xfrm>
          <a:off x="0" y="0"/>
          <a:ext cx="0" cy="0"/>
          <a:chOff x="0" y="0"/>
          <a:chExt cx="0" cy="0"/>
        </a:xfrm>
      </p:grpSpPr>
      <p:cxnSp>
        <p:nvCxnSpPr>
          <p:cNvPr id="117" name="Google Shape;117;p4"/>
          <p:cNvCxnSpPr/>
          <p:nvPr/>
        </p:nvCxnSpPr>
        <p:spPr>
          <a:xfrm flipH="1" rot="10800000">
            <a:off x="11292840" y="521208"/>
            <a:ext cx="320040" cy="91440"/>
          </a:xfrm>
          <a:prstGeom prst="straightConnector1">
            <a:avLst/>
          </a:prstGeom>
          <a:noFill/>
          <a:ln cap="flat" cmpd="sng" w="12700">
            <a:solidFill>
              <a:srgbClr val="C7D6E0"/>
            </a:solidFill>
            <a:prstDash val="solid"/>
            <a:round/>
            <a:headEnd len="sm" w="sm" type="none"/>
            <a:tailEnd len="sm" w="sm" type="none"/>
          </a:ln>
        </p:spPr>
      </p:cxnSp>
      <p:cxnSp>
        <p:nvCxnSpPr>
          <p:cNvPr id="118" name="Google Shape;118;p4"/>
          <p:cNvCxnSpPr/>
          <p:nvPr/>
        </p:nvCxnSpPr>
        <p:spPr>
          <a:xfrm>
            <a:off x="11612880" y="521208"/>
            <a:ext cx="274320" cy="137160"/>
          </a:xfrm>
          <a:prstGeom prst="straightConnector1">
            <a:avLst/>
          </a:prstGeom>
          <a:noFill/>
          <a:ln cap="flat" cmpd="sng" w="12700">
            <a:solidFill>
              <a:srgbClr val="C7D6E0"/>
            </a:solidFill>
            <a:prstDash val="solid"/>
            <a:round/>
            <a:headEnd len="sm" w="sm" type="none"/>
            <a:tailEnd len="sm" w="sm" type="none"/>
          </a:ln>
        </p:spPr>
      </p:cxnSp>
      <p:sp>
        <p:nvSpPr>
          <p:cNvPr id="119" name="Google Shape;119;p4"/>
          <p:cNvSpPr/>
          <p:nvPr/>
        </p:nvSpPr>
        <p:spPr>
          <a:xfrm>
            <a:off x="11247120" y="566928"/>
            <a:ext cx="91440" cy="91440"/>
          </a:xfrm>
          <a:prstGeom prst="ellipse">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4"/>
          <p:cNvSpPr/>
          <p:nvPr/>
        </p:nvSpPr>
        <p:spPr>
          <a:xfrm>
            <a:off x="11567160" y="475488"/>
            <a:ext cx="73152" cy="73152"/>
          </a:xfrm>
          <a:prstGeom prst="ellipse">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4"/>
          <p:cNvSpPr/>
          <p:nvPr/>
        </p:nvSpPr>
        <p:spPr>
          <a:xfrm>
            <a:off x="11841480" y="612648"/>
            <a:ext cx="82296" cy="82296"/>
          </a:xfrm>
          <a:prstGeom prst="ellipse">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4"/>
          <p:cNvSpPr/>
          <p:nvPr/>
        </p:nvSpPr>
        <p:spPr>
          <a:xfrm>
            <a:off x="548640" y="384048"/>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7293"/>
              </a:buClr>
              <a:buSzPts val="1200"/>
              <a:buFont typeface="Calibri"/>
              <a:buNone/>
            </a:pPr>
            <a:r>
              <a:rPr b="1" i="0" lang="en-US" sz="1200" u="none" cap="none" strike="noStrike">
                <a:solidFill>
                  <a:srgbClr val="1C7293"/>
                </a:solidFill>
                <a:latin typeface="Calibri"/>
                <a:ea typeface="Calibri"/>
                <a:cs typeface="Calibri"/>
                <a:sym typeface="Calibri"/>
              </a:rPr>
              <a:t>01 · DATASET</a:t>
            </a:r>
            <a:endParaRPr b="0" i="0" sz="1200" u="none" cap="none" strike="noStrike">
              <a:solidFill>
                <a:schemeClr val="dk1"/>
              </a:solidFill>
              <a:latin typeface="Calibri"/>
              <a:ea typeface="Calibri"/>
              <a:cs typeface="Calibri"/>
              <a:sym typeface="Calibri"/>
            </a:endParaRPr>
          </a:p>
        </p:txBody>
      </p:sp>
      <p:sp>
        <p:nvSpPr>
          <p:cNvPr id="123" name="Google Shape;123;p4"/>
          <p:cNvSpPr/>
          <p:nvPr/>
        </p:nvSpPr>
        <p:spPr>
          <a:xfrm>
            <a:off x="548640" y="658368"/>
            <a:ext cx="987552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1295C"/>
              </a:buClr>
              <a:buSzPts val="3000"/>
              <a:buFont typeface="Cambria"/>
              <a:buNone/>
            </a:pPr>
            <a:r>
              <a:rPr b="1" i="0" lang="en-US" sz="3000" u="none" cap="none" strike="noStrike">
                <a:solidFill>
                  <a:srgbClr val="21295C"/>
                </a:solidFill>
                <a:latin typeface="Cambria"/>
                <a:ea typeface="Cambria"/>
                <a:cs typeface="Cambria"/>
                <a:sym typeface="Cambria"/>
              </a:rPr>
              <a:t>Dataset at a Glance</a:t>
            </a:r>
            <a:endParaRPr b="0" i="0" sz="3000" u="none" cap="none" strike="noStrike">
              <a:solidFill>
                <a:schemeClr val="dk1"/>
              </a:solidFill>
              <a:latin typeface="Calibri"/>
              <a:ea typeface="Calibri"/>
              <a:cs typeface="Calibri"/>
              <a:sym typeface="Calibri"/>
            </a:endParaRPr>
          </a:p>
        </p:txBody>
      </p:sp>
      <p:sp>
        <p:nvSpPr>
          <p:cNvPr id="124" name="Google Shape;124;p4"/>
          <p:cNvSpPr/>
          <p:nvPr/>
        </p:nvSpPr>
        <p:spPr>
          <a:xfrm>
            <a:off x="548640" y="1691640"/>
            <a:ext cx="2514600" cy="1371600"/>
          </a:xfrm>
          <a:prstGeom prst="roundRect">
            <a:avLst>
              <a:gd fmla="val 5333" name="adj"/>
            </a:avLst>
          </a:prstGeom>
          <a:solidFill>
            <a:srgbClr val="F0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4"/>
          <p:cNvSpPr/>
          <p:nvPr/>
        </p:nvSpPr>
        <p:spPr>
          <a:xfrm>
            <a:off x="548640" y="1828800"/>
            <a:ext cx="2514600" cy="68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65A82"/>
              </a:buClr>
              <a:buSzPts val="3000"/>
              <a:buFont typeface="Cambria"/>
              <a:buNone/>
            </a:pPr>
            <a:r>
              <a:rPr b="1" i="0" lang="en-US" sz="3000" u="none" cap="none" strike="noStrike">
                <a:solidFill>
                  <a:srgbClr val="065A82"/>
                </a:solidFill>
                <a:latin typeface="Cambria"/>
                <a:ea typeface="Cambria"/>
                <a:cs typeface="Cambria"/>
                <a:sym typeface="Cambria"/>
              </a:rPr>
              <a:t>943</a:t>
            </a:r>
            <a:endParaRPr b="0" i="0" sz="3000" u="none" cap="none" strike="noStrike">
              <a:solidFill>
                <a:schemeClr val="dk1"/>
              </a:solidFill>
              <a:latin typeface="Calibri"/>
              <a:ea typeface="Calibri"/>
              <a:cs typeface="Calibri"/>
              <a:sym typeface="Calibri"/>
            </a:endParaRPr>
          </a:p>
        </p:txBody>
      </p:sp>
      <p:sp>
        <p:nvSpPr>
          <p:cNvPr id="126" name="Google Shape;126;p4"/>
          <p:cNvSpPr/>
          <p:nvPr/>
        </p:nvSpPr>
        <p:spPr>
          <a:xfrm>
            <a:off x="548640" y="2514600"/>
            <a:ext cx="251460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B6B80"/>
              </a:buClr>
              <a:buSzPts val="1200"/>
              <a:buFont typeface="Calibri"/>
              <a:buNone/>
            </a:pPr>
            <a:r>
              <a:rPr b="0" i="0" lang="en-US" sz="1200" u="none" cap="none" strike="noStrike">
                <a:solidFill>
                  <a:srgbClr val="5B6B80"/>
                </a:solidFill>
                <a:latin typeface="Calibri"/>
                <a:ea typeface="Calibri"/>
                <a:cs typeface="Calibri"/>
                <a:sym typeface="Calibri"/>
              </a:rPr>
              <a:t>Users</a:t>
            </a:r>
            <a:endParaRPr b="0" i="0" sz="1200" u="none" cap="none" strike="noStrike">
              <a:solidFill>
                <a:schemeClr val="dk1"/>
              </a:solidFill>
              <a:latin typeface="Calibri"/>
              <a:ea typeface="Calibri"/>
              <a:cs typeface="Calibri"/>
              <a:sym typeface="Calibri"/>
            </a:endParaRPr>
          </a:p>
        </p:txBody>
      </p:sp>
      <p:sp>
        <p:nvSpPr>
          <p:cNvPr id="127" name="Google Shape;127;p4"/>
          <p:cNvSpPr/>
          <p:nvPr/>
        </p:nvSpPr>
        <p:spPr>
          <a:xfrm>
            <a:off x="3291840" y="1691640"/>
            <a:ext cx="2514600" cy="1371600"/>
          </a:xfrm>
          <a:prstGeom prst="roundRect">
            <a:avLst>
              <a:gd fmla="val 5333" name="adj"/>
            </a:avLst>
          </a:prstGeom>
          <a:solidFill>
            <a:srgbClr val="F0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4"/>
          <p:cNvSpPr/>
          <p:nvPr/>
        </p:nvSpPr>
        <p:spPr>
          <a:xfrm>
            <a:off x="3291840" y="1828800"/>
            <a:ext cx="2514600" cy="68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65A82"/>
              </a:buClr>
              <a:buSzPts val="3000"/>
              <a:buFont typeface="Cambria"/>
              <a:buNone/>
            </a:pPr>
            <a:r>
              <a:rPr b="1" i="0" lang="en-US" sz="3000" u="none" cap="none" strike="noStrike">
                <a:solidFill>
                  <a:srgbClr val="065A82"/>
                </a:solidFill>
                <a:latin typeface="Cambria"/>
                <a:ea typeface="Cambria"/>
                <a:cs typeface="Cambria"/>
                <a:sym typeface="Cambria"/>
              </a:rPr>
              <a:t>1,682</a:t>
            </a:r>
            <a:endParaRPr b="0" i="0" sz="3000" u="none" cap="none" strike="noStrike">
              <a:solidFill>
                <a:schemeClr val="dk1"/>
              </a:solidFill>
              <a:latin typeface="Calibri"/>
              <a:ea typeface="Calibri"/>
              <a:cs typeface="Calibri"/>
              <a:sym typeface="Calibri"/>
            </a:endParaRPr>
          </a:p>
        </p:txBody>
      </p:sp>
      <p:sp>
        <p:nvSpPr>
          <p:cNvPr id="129" name="Google Shape;129;p4"/>
          <p:cNvSpPr/>
          <p:nvPr/>
        </p:nvSpPr>
        <p:spPr>
          <a:xfrm>
            <a:off x="3291840" y="2514600"/>
            <a:ext cx="251460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B6B80"/>
              </a:buClr>
              <a:buSzPts val="1200"/>
              <a:buFont typeface="Calibri"/>
              <a:buNone/>
            </a:pPr>
            <a:r>
              <a:rPr b="0" i="0" lang="en-US" sz="1200" u="none" cap="none" strike="noStrike">
                <a:solidFill>
                  <a:srgbClr val="5B6B80"/>
                </a:solidFill>
                <a:latin typeface="Calibri"/>
                <a:ea typeface="Calibri"/>
                <a:cs typeface="Calibri"/>
                <a:sym typeface="Calibri"/>
              </a:rPr>
              <a:t>Movies</a:t>
            </a:r>
            <a:endParaRPr b="0" i="0" sz="1200" u="none" cap="none" strike="noStrike">
              <a:solidFill>
                <a:schemeClr val="dk1"/>
              </a:solidFill>
              <a:latin typeface="Calibri"/>
              <a:ea typeface="Calibri"/>
              <a:cs typeface="Calibri"/>
              <a:sym typeface="Calibri"/>
            </a:endParaRPr>
          </a:p>
        </p:txBody>
      </p:sp>
      <p:sp>
        <p:nvSpPr>
          <p:cNvPr id="130" name="Google Shape;130;p4"/>
          <p:cNvSpPr/>
          <p:nvPr/>
        </p:nvSpPr>
        <p:spPr>
          <a:xfrm>
            <a:off x="6035040" y="1691640"/>
            <a:ext cx="2514600" cy="1371600"/>
          </a:xfrm>
          <a:prstGeom prst="roundRect">
            <a:avLst>
              <a:gd fmla="val 5333" name="adj"/>
            </a:avLst>
          </a:prstGeom>
          <a:solidFill>
            <a:srgbClr val="F0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4"/>
          <p:cNvSpPr/>
          <p:nvPr/>
        </p:nvSpPr>
        <p:spPr>
          <a:xfrm>
            <a:off x="6035040" y="1828800"/>
            <a:ext cx="2514600" cy="68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65A82"/>
              </a:buClr>
              <a:buSzPts val="3000"/>
              <a:buFont typeface="Cambria"/>
              <a:buNone/>
            </a:pPr>
            <a:r>
              <a:rPr b="1" i="0" lang="en-US" sz="3000" u="none" cap="none" strike="noStrike">
                <a:solidFill>
                  <a:srgbClr val="065A82"/>
                </a:solidFill>
                <a:latin typeface="Cambria"/>
                <a:ea typeface="Cambria"/>
                <a:cs typeface="Cambria"/>
                <a:sym typeface="Cambria"/>
              </a:rPr>
              <a:t>100,000</a:t>
            </a:r>
            <a:endParaRPr b="0" i="0" sz="3000" u="none" cap="none" strike="noStrike">
              <a:solidFill>
                <a:schemeClr val="dk1"/>
              </a:solidFill>
              <a:latin typeface="Calibri"/>
              <a:ea typeface="Calibri"/>
              <a:cs typeface="Calibri"/>
              <a:sym typeface="Calibri"/>
            </a:endParaRPr>
          </a:p>
        </p:txBody>
      </p:sp>
      <p:sp>
        <p:nvSpPr>
          <p:cNvPr id="132" name="Google Shape;132;p4"/>
          <p:cNvSpPr/>
          <p:nvPr/>
        </p:nvSpPr>
        <p:spPr>
          <a:xfrm>
            <a:off x="6035040" y="2514600"/>
            <a:ext cx="251460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B6B80"/>
              </a:buClr>
              <a:buSzPts val="1200"/>
              <a:buFont typeface="Calibri"/>
              <a:buNone/>
            </a:pPr>
            <a:r>
              <a:rPr b="0" i="0" lang="en-US" sz="1200" u="none" cap="none" strike="noStrike">
                <a:solidFill>
                  <a:srgbClr val="5B6B80"/>
                </a:solidFill>
                <a:latin typeface="Calibri"/>
                <a:ea typeface="Calibri"/>
                <a:cs typeface="Calibri"/>
                <a:sym typeface="Calibri"/>
              </a:rPr>
              <a:t>Ratings</a:t>
            </a:r>
            <a:endParaRPr b="0" i="0" sz="1200" u="none" cap="none" strike="noStrike">
              <a:solidFill>
                <a:schemeClr val="dk1"/>
              </a:solidFill>
              <a:latin typeface="Calibri"/>
              <a:ea typeface="Calibri"/>
              <a:cs typeface="Calibri"/>
              <a:sym typeface="Calibri"/>
            </a:endParaRPr>
          </a:p>
        </p:txBody>
      </p:sp>
      <p:sp>
        <p:nvSpPr>
          <p:cNvPr id="133" name="Google Shape;133;p4"/>
          <p:cNvSpPr/>
          <p:nvPr/>
        </p:nvSpPr>
        <p:spPr>
          <a:xfrm>
            <a:off x="8778240" y="1691640"/>
            <a:ext cx="2514600" cy="1371600"/>
          </a:xfrm>
          <a:prstGeom prst="roundRect">
            <a:avLst>
              <a:gd fmla="val 5333" name="adj"/>
            </a:avLst>
          </a:prstGeom>
          <a:solidFill>
            <a:srgbClr val="065A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4"/>
          <p:cNvSpPr/>
          <p:nvPr/>
        </p:nvSpPr>
        <p:spPr>
          <a:xfrm>
            <a:off x="8778240" y="1828800"/>
            <a:ext cx="2514600" cy="68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3000"/>
              <a:buFont typeface="Cambria"/>
              <a:buNone/>
            </a:pPr>
            <a:r>
              <a:rPr b="1" i="0" lang="en-US" sz="3000" u="none" cap="none" strike="noStrike">
                <a:solidFill>
                  <a:srgbClr val="FFFFFF"/>
                </a:solidFill>
                <a:latin typeface="Cambria"/>
                <a:ea typeface="Cambria"/>
                <a:cs typeface="Cambria"/>
                <a:sym typeface="Cambria"/>
              </a:rPr>
              <a:t>~93.7%</a:t>
            </a:r>
            <a:endParaRPr b="0" i="0" sz="3000" u="none" cap="none" strike="noStrike">
              <a:solidFill>
                <a:schemeClr val="dk1"/>
              </a:solidFill>
              <a:latin typeface="Calibri"/>
              <a:ea typeface="Calibri"/>
              <a:cs typeface="Calibri"/>
              <a:sym typeface="Calibri"/>
            </a:endParaRPr>
          </a:p>
        </p:txBody>
      </p:sp>
      <p:sp>
        <p:nvSpPr>
          <p:cNvPr id="135" name="Google Shape;135;p4"/>
          <p:cNvSpPr/>
          <p:nvPr/>
        </p:nvSpPr>
        <p:spPr>
          <a:xfrm>
            <a:off x="8778240" y="2514600"/>
            <a:ext cx="251460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D6E6F0"/>
              </a:buClr>
              <a:buSzPts val="1200"/>
              <a:buFont typeface="Calibri"/>
              <a:buNone/>
            </a:pPr>
            <a:r>
              <a:rPr b="0" i="0" lang="en-US" sz="1200" u="none" cap="none" strike="noStrike">
                <a:solidFill>
                  <a:srgbClr val="D6E6F0"/>
                </a:solidFill>
                <a:latin typeface="Calibri"/>
                <a:ea typeface="Calibri"/>
                <a:cs typeface="Calibri"/>
                <a:sym typeface="Calibri"/>
              </a:rPr>
              <a:t>Sparsity</a:t>
            </a:r>
            <a:endParaRPr b="0" i="0" sz="1200" u="none" cap="none" strike="noStrike">
              <a:solidFill>
                <a:schemeClr val="dk1"/>
              </a:solidFill>
              <a:latin typeface="Calibri"/>
              <a:ea typeface="Calibri"/>
              <a:cs typeface="Calibri"/>
              <a:sym typeface="Calibri"/>
            </a:endParaRPr>
          </a:p>
        </p:txBody>
      </p:sp>
      <p:sp>
        <p:nvSpPr>
          <p:cNvPr id="136" name="Google Shape;136;p4"/>
          <p:cNvSpPr/>
          <p:nvPr/>
        </p:nvSpPr>
        <p:spPr>
          <a:xfrm>
            <a:off x="548640" y="3429000"/>
            <a:ext cx="54864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430"/>
              </a:buClr>
              <a:buSzPts val="1600"/>
              <a:buFont typeface="Cambria"/>
              <a:buNone/>
            </a:pPr>
            <a:r>
              <a:rPr b="1" i="0" lang="en-US" sz="1600" u="none" cap="none" strike="noStrike">
                <a:solidFill>
                  <a:srgbClr val="1B2430"/>
                </a:solidFill>
                <a:latin typeface="Cambria"/>
                <a:ea typeface="Cambria"/>
                <a:cs typeface="Cambria"/>
                <a:sym typeface="Cambria"/>
              </a:rPr>
              <a:t>The Long-Tail Problem</a:t>
            </a:r>
            <a:endParaRPr b="0" i="0" sz="1600" u="none" cap="none" strike="noStrike">
              <a:solidFill>
                <a:schemeClr val="dk1"/>
              </a:solidFill>
              <a:latin typeface="Calibri"/>
              <a:ea typeface="Calibri"/>
              <a:cs typeface="Calibri"/>
              <a:sym typeface="Calibri"/>
            </a:endParaRPr>
          </a:p>
        </p:txBody>
      </p:sp>
      <p:sp>
        <p:nvSpPr>
          <p:cNvPr id="137" name="Google Shape;137;p4"/>
          <p:cNvSpPr/>
          <p:nvPr/>
        </p:nvSpPr>
        <p:spPr>
          <a:xfrm>
            <a:off x="548640" y="3794760"/>
            <a:ext cx="539496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80"/>
              </a:buClr>
              <a:buSzPts val="1250"/>
              <a:buFont typeface="Calibri"/>
              <a:buNone/>
            </a:pPr>
            <a:r>
              <a:rPr b="0" i="0" lang="en-US" sz="1250" u="none" cap="none" strike="noStrike">
                <a:solidFill>
                  <a:srgbClr val="5B6B80"/>
                </a:solidFill>
                <a:latin typeface="Calibri"/>
                <a:ea typeface="Calibri"/>
                <a:cs typeface="Calibri"/>
                <a:sym typeface="Calibri"/>
              </a:rPr>
              <a:t>A small share of movies/users account for most ratings</a:t>
            </a:r>
            <a:r>
              <a:rPr lang="en-US" sz="1250">
                <a:solidFill>
                  <a:srgbClr val="5B6B80"/>
                </a:solidFill>
                <a:latin typeface="Calibri"/>
                <a:ea typeface="Calibri"/>
                <a:cs typeface="Calibri"/>
                <a:sym typeface="Calibri"/>
              </a:rPr>
              <a:t>.</a:t>
            </a:r>
            <a:endParaRPr b="0" i="0" sz="1250" u="none" cap="none" strike="noStrike">
              <a:solidFill>
                <a:schemeClr val="dk1"/>
              </a:solidFill>
              <a:latin typeface="Calibri"/>
              <a:ea typeface="Calibri"/>
              <a:cs typeface="Calibri"/>
              <a:sym typeface="Calibri"/>
            </a:endParaRPr>
          </a:p>
        </p:txBody>
      </p:sp>
      <p:graphicFrame>
        <p:nvGraphicFramePr>
          <p:cNvPr id="138" name="Google Shape;138;p4"/>
          <p:cNvGraphicFramePr/>
          <p:nvPr/>
        </p:nvGraphicFramePr>
        <p:xfrm>
          <a:off x="6309360" y="3337560"/>
          <a:ext cx="5349240" cy="2743200"/>
        </p:xfrm>
        <a:graphic>
          <a:graphicData uri="http://schemas.openxmlformats.org/drawingml/2006/chart">
            <c:chart r:id="rId3"/>
          </a:graphicData>
        </a:graphic>
      </p:graphicFrame>
      <p:sp>
        <p:nvSpPr>
          <p:cNvPr id="139" name="Google Shape;139;p4"/>
          <p:cNvSpPr/>
          <p:nvPr/>
        </p:nvSpPr>
        <p:spPr>
          <a:xfrm>
            <a:off x="11521440" y="6446520"/>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6B80"/>
              </a:buClr>
              <a:buSzPts val="1000"/>
              <a:buFont typeface="Calibri"/>
              <a:buNone/>
            </a:pPr>
            <a:r>
              <a:rPr b="0" i="0" lang="en-US" sz="1000" u="none" cap="none" strike="noStrike">
                <a:solidFill>
                  <a:srgbClr val="5B6B80"/>
                </a:solidFill>
                <a:latin typeface="Calibri"/>
                <a:ea typeface="Calibri"/>
                <a:cs typeface="Calibri"/>
                <a:sym typeface="Calibri"/>
              </a:rPr>
              <a:t>04</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4" name="Shape 144"/>
        <p:cNvGrpSpPr/>
        <p:nvPr/>
      </p:nvGrpSpPr>
      <p:grpSpPr>
        <a:xfrm>
          <a:off x="0" y="0"/>
          <a:ext cx="0" cy="0"/>
          <a:chOff x="0" y="0"/>
          <a:chExt cx="0" cy="0"/>
        </a:xfrm>
      </p:grpSpPr>
      <p:cxnSp>
        <p:nvCxnSpPr>
          <p:cNvPr id="145" name="Google Shape;145;p5"/>
          <p:cNvCxnSpPr/>
          <p:nvPr/>
        </p:nvCxnSpPr>
        <p:spPr>
          <a:xfrm flipH="1" rot="10800000">
            <a:off x="11292840" y="521208"/>
            <a:ext cx="320040" cy="91440"/>
          </a:xfrm>
          <a:prstGeom prst="straightConnector1">
            <a:avLst/>
          </a:prstGeom>
          <a:noFill/>
          <a:ln cap="flat" cmpd="sng" w="12700">
            <a:solidFill>
              <a:srgbClr val="C7D6E0"/>
            </a:solidFill>
            <a:prstDash val="solid"/>
            <a:round/>
            <a:headEnd len="sm" w="sm" type="none"/>
            <a:tailEnd len="sm" w="sm" type="none"/>
          </a:ln>
        </p:spPr>
      </p:cxnSp>
      <p:cxnSp>
        <p:nvCxnSpPr>
          <p:cNvPr id="146" name="Google Shape;146;p5"/>
          <p:cNvCxnSpPr/>
          <p:nvPr/>
        </p:nvCxnSpPr>
        <p:spPr>
          <a:xfrm>
            <a:off x="11612880" y="521208"/>
            <a:ext cx="274320" cy="137160"/>
          </a:xfrm>
          <a:prstGeom prst="straightConnector1">
            <a:avLst/>
          </a:prstGeom>
          <a:noFill/>
          <a:ln cap="flat" cmpd="sng" w="12700">
            <a:solidFill>
              <a:srgbClr val="C7D6E0"/>
            </a:solidFill>
            <a:prstDash val="solid"/>
            <a:round/>
            <a:headEnd len="sm" w="sm" type="none"/>
            <a:tailEnd len="sm" w="sm" type="none"/>
          </a:ln>
        </p:spPr>
      </p:cxnSp>
      <p:sp>
        <p:nvSpPr>
          <p:cNvPr id="147" name="Google Shape;147;p5"/>
          <p:cNvSpPr/>
          <p:nvPr/>
        </p:nvSpPr>
        <p:spPr>
          <a:xfrm>
            <a:off x="11247120" y="566928"/>
            <a:ext cx="91440" cy="91440"/>
          </a:xfrm>
          <a:prstGeom prst="ellipse">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5"/>
          <p:cNvSpPr/>
          <p:nvPr/>
        </p:nvSpPr>
        <p:spPr>
          <a:xfrm>
            <a:off x="11567160" y="475488"/>
            <a:ext cx="73152" cy="73152"/>
          </a:xfrm>
          <a:prstGeom prst="ellipse">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5"/>
          <p:cNvSpPr/>
          <p:nvPr/>
        </p:nvSpPr>
        <p:spPr>
          <a:xfrm>
            <a:off x="11841480" y="612648"/>
            <a:ext cx="82296" cy="82296"/>
          </a:xfrm>
          <a:prstGeom prst="ellipse">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5"/>
          <p:cNvSpPr/>
          <p:nvPr/>
        </p:nvSpPr>
        <p:spPr>
          <a:xfrm>
            <a:off x="548640" y="384048"/>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7293"/>
              </a:buClr>
              <a:buSzPts val="1200"/>
              <a:buFont typeface="Calibri"/>
              <a:buNone/>
            </a:pPr>
            <a:r>
              <a:rPr b="1" i="0" lang="en-US" sz="1200" u="none" cap="none" strike="noStrike">
                <a:solidFill>
                  <a:srgbClr val="1C7293"/>
                </a:solidFill>
                <a:latin typeface="Calibri"/>
                <a:ea typeface="Calibri"/>
                <a:cs typeface="Calibri"/>
                <a:sym typeface="Calibri"/>
              </a:rPr>
              <a:t>01 · DATASET</a:t>
            </a:r>
            <a:endParaRPr b="0" i="0" sz="1200" u="none" cap="none" strike="noStrike">
              <a:solidFill>
                <a:schemeClr val="dk1"/>
              </a:solidFill>
              <a:latin typeface="Calibri"/>
              <a:ea typeface="Calibri"/>
              <a:cs typeface="Calibri"/>
              <a:sym typeface="Calibri"/>
            </a:endParaRPr>
          </a:p>
        </p:txBody>
      </p:sp>
      <p:sp>
        <p:nvSpPr>
          <p:cNvPr id="151" name="Google Shape;151;p5"/>
          <p:cNvSpPr/>
          <p:nvPr/>
        </p:nvSpPr>
        <p:spPr>
          <a:xfrm>
            <a:off x="548640" y="658368"/>
            <a:ext cx="987552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1295C"/>
              </a:buClr>
              <a:buSzPts val="3000"/>
              <a:buFont typeface="Cambria"/>
              <a:buNone/>
            </a:pPr>
            <a:r>
              <a:rPr b="1" i="0" lang="en-US" sz="3000" u="none" cap="none" strike="noStrike">
                <a:solidFill>
                  <a:srgbClr val="21295C"/>
                </a:solidFill>
                <a:latin typeface="Cambria"/>
                <a:ea typeface="Cambria"/>
                <a:cs typeface="Cambria"/>
                <a:sym typeface="Cambria"/>
              </a:rPr>
              <a:t>Preprocessing Pipeline</a:t>
            </a:r>
            <a:endParaRPr b="0" i="0" sz="3000" u="none" cap="none" strike="noStrike">
              <a:solidFill>
                <a:schemeClr val="dk1"/>
              </a:solidFill>
              <a:latin typeface="Calibri"/>
              <a:ea typeface="Calibri"/>
              <a:cs typeface="Calibri"/>
              <a:sym typeface="Calibri"/>
            </a:endParaRPr>
          </a:p>
        </p:txBody>
      </p:sp>
      <p:sp>
        <p:nvSpPr>
          <p:cNvPr id="152" name="Google Shape;152;p5"/>
          <p:cNvSpPr/>
          <p:nvPr/>
        </p:nvSpPr>
        <p:spPr>
          <a:xfrm>
            <a:off x="548640" y="2377440"/>
            <a:ext cx="2514600" cy="1828800"/>
          </a:xfrm>
          <a:prstGeom prst="roundRect">
            <a:avLst>
              <a:gd fmla="val 4000" name="adj"/>
            </a:avLst>
          </a:prstGeom>
          <a:solidFill>
            <a:srgbClr val="F0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5"/>
          <p:cNvSpPr/>
          <p:nvPr/>
        </p:nvSpPr>
        <p:spPr>
          <a:xfrm>
            <a:off x="731520" y="2560320"/>
            <a:ext cx="365760" cy="365760"/>
          </a:xfrm>
          <a:prstGeom prst="ellipse">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5"/>
          <p:cNvSpPr/>
          <p:nvPr/>
        </p:nvSpPr>
        <p:spPr>
          <a:xfrm>
            <a:off x="731520" y="2560320"/>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Cambria"/>
              <a:buNone/>
            </a:pPr>
            <a:r>
              <a:rPr b="1" i="0" lang="en-US" sz="1400" u="none" cap="none" strike="noStrike">
                <a:solidFill>
                  <a:srgbClr val="FFFFFF"/>
                </a:solidFill>
                <a:latin typeface="Cambria"/>
                <a:ea typeface="Cambria"/>
                <a:cs typeface="Cambria"/>
                <a:sym typeface="Cambria"/>
              </a:rPr>
              <a:t>1</a:t>
            </a:r>
            <a:endParaRPr b="0" i="0" sz="1400" u="none" cap="none" strike="noStrike">
              <a:solidFill>
                <a:schemeClr val="dk1"/>
              </a:solidFill>
              <a:latin typeface="Calibri"/>
              <a:ea typeface="Calibri"/>
              <a:cs typeface="Calibri"/>
              <a:sym typeface="Calibri"/>
            </a:endParaRPr>
          </a:p>
        </p:txBody>
      </p:sp>
      <p:sp>
        <p:nvSpPr>
          <p:cNvPr id="155" name="Google Shape;155;p5"/>
          <p:cNvSpPr/>
          <p:nvPr/>
        </p:nvSpPr>
        <p:spPr>
          <a:xfrm>
            <a:off x="731520" y="3063240"/>
            <a:ext cx="21488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430"/>
              </a:buClr>
              <a:buSzPts val="1400"/>
              <a:buFont typeface="Calibri"/>
              <a:buNone/>
            </a:pPr>
            <a:r>
              <a:rPr b="1" i="0" lang="en-US" sz="1400" u="none" cap="none" strike="noStrike">
                <a:solidFill>
                  <a:srgbClr val="1B2430"/>
                </a:solidFill>
                <a:latin typeface="Calibri"/>
                <a:ea typeface="Calibri"/>
                <a:cs typeface="Calibri"/>
                <a:sym typeface="Calibri"/>
              </a:rPr>
              <a:t>Raw IDs</a:t>
            </a:r>
            <a:endParaRPr b="0" i="0" sz="1400" u="none" cap="none" strike="noStrike">
              <a:solidFill>
                <a:schemeClr val="dk1"/>
              </a:solidFill>
              <a:latin typeface="Calibri"/>
              <a:ea typeface="Calibri"/>
              <a:cs typeface="Calibri"/>
              <a:sym typeface="Calibri"/>
            </a:endParaRPr>
          </a:p>
        </p:txBody>
      </p:sp>
      <p:sp>
        <p:nvSpPr>
          <p:cNvPr id="156" name="Google Shape;156;p5"/>
          <p:cNvSpPr/>
          <p:nvPr/>
        </p:nvSpPr>
        <p:spPr>
          <a:xfrm>
            <a:off x="731520" y="3429000"/>
            <a:ext cx="2148840" cy="7315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80"/>
              </a:buClr>
              <a:buSzPts val="1050"/>
              <a:buFont typeface="Calibri"/>
              <a:buNone/>
            </a:pPr>
            <a:r>
              <a:rPr b="0" i="0" lang="en-US" sz="1050" u="none" cap="none" strike="noStrike">
                <a:solidFill>
                  <a:srgbClr val="5B6B80"/>
                </a:solidFill>
                <a:latin typeface="Calibri"/>
                <a:ea typeface="Calibri"/>
                <a:cs typeface="Calibri"/>
                <a:sym typeface="Calibri"/>
              </a:rPr>
              <a:t>Original user_id / item_id from u.data (1-indexed, gappy)</a:t>
            </a:r>
            <a:endParaRPr b="0" i="0" sz="1050" u="none" cap="none" strike="noStrike">
              <a:solidFill>
                <a:schemeClr val="dk1"/>
              </a:solidFill>
              <a:latin typeface="Calibri"/>
              <a:ea typeface="Calibri"/>
              <a:cs typeface="Calibri"/>
              <a:sym typeface="Calibri"/>
            </a:endParaRPr>
          </a:p>
        </p:txBody>
      </p:sp>
      <p:cxnSp>
        <p:nvCxnSpPr>
          <p:cNvPr id="157" name="Google Shape;157;p5"/>
          <p:cNvCxnSpPr/>
          <p:nvPr/>
        </p:nvCxnSpPr>
        <p:spPr>
          <a:xfrm>
            <a:off x="3063240" y="3291840"/>
            <a:ext cx="320040" cy="0"/>
          </a:xfrm>
          <a:prstGeom prst="straightConnector1">
            <a:avLst/>
          </a:prstGeom>
          <a:noFill/>
          <a:ln cap="flat" cmpd="sng" w="25400">
            <a:solidFill>
              <a:srgbClr val="1C7293"/>
            </a:solidFill>
            <a:prstDash val="solid"/>
            <a:round/>
            <a:headEnd len="sm" w="sm" type="none"/>
            <a:tailEnd len="med" w="med" type="triangle"/>
          </a:ln>
        </p:spPr>
      </p:cxnSp>
      <p:sp>
        <p:nvSpPr>
          <p:cNvPr id="158" name="Google Shape;158;p5"/>
          <p:cNvSpPr/>
          <p:nvPr/>
        </p:nvSpPr>
        <p:spPr>
          <a:xfrm>
            <a:off x="3383280" y="2377440"/>
            <a:ext cx="2514600" cy="1828800"/>
          </a:xfrm>
          <a:prstGeom prst="roundRect">
            <a:avLst>
              <a:gd fmla="val 4000" name="adj"/>
            </a:avLst>
          </a:prstGeom>
          <a:solidFill>
            <a:srgbClr val="F0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5"/>
          <p:cNvSpPr/>
          <p:nvPr/>
        </p:nvSpPr>
        <p:spPr>
          <a:xfrm>
            <a:off x="3566160" y="2560320"/>
            <a:ext cx="365760" cy="365760"/>
          </a:xfrm>
          <a:prstGeom prst="ellipse">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5"/>
          <p:cNvSpPr/>
          <p:nvPr/>
        </p:nvSpPr>
        <p:spPr>
          <a:xfrm>
            <a:off x="3566160" y="2560320"/>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Cambria"/>
              <a:buNone/>
            </a:pPr>
            <a:r>
              <a:rPr b="1" i="0" lang="en-US" sz="1400" u="none" cap="none" strike="noStrike">
                <a:solidFill>
                  <a:srgbClr val="FFFFFF"/>
                </a:solidFill>
                <a:latin typeface="Cambria"/>
                <a:ea typeface="Cambria"/>
                <a:cs typeface="Cambria"/>
                <a:sym typeface="Cambria"/>
              </a:rPr>
              <a:t>2</a:t>
            </a:r>
            <a:endParaRPr b="0" i="0" sz="1400" u="none" cap="none" strike="noStrike">
              <a:solidFill>
                <a:schemeClr val="dk1"/>
              </a:solidFill>
              <a:latin typeface="Calibri"/>
              <a:ea typeface="Calibri"/>
              <a:cs typeface="Calibri"/>
              <a:sym typeface="Calibri"/>
            </a:endParaRPr>
          </a:p>
        </p:txBody>
      </p:sp>
      <p:sp>
        <p:nvSpPr>
          <p:cNvPr id="161" name="Google Shape;161;p5"/>
          <p:cNvSpPr/>
          <p:nvPr/>
        </p:nvSpPr>
        <p:spPr>
          <a:xfrm>
            <a:off x="3566160" y="3063240"/>
            <a:ext cx="21488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430"/>
              </a:buClr>
              <a:buSzPts val="1400"/>
              <a:buFont typeface="Calibri"/>
              <a:buNone/>
            </a:pPr>
            <a:r>
              <a:rPr b="1" i="0" lang="en-US" sz="1400" u="none" cap="none" strike="noStrike">
                <a:solidFill>
                  <a:srgbClr val="1B2430"/>
                </a:solidFill>
                <a:latin typeface="Calibri"/>
                <a:ea typeface="Calibri"/>
                <a:cs typeface="Calibri"/>
                <a:sym typeface="Calibri"/>
              </a:rPr>
              <a:t>Re-indexing</a:t>
            </a:r>
            <a:endParaRPr b="0" i="0" sz="1400" u="none" cap="none" strike="noStrike">
              <a:solidFill>
                <a:schemeClr val="dk1"/>
              </a:solidFill>
              <a:latin typeface="Calibri"/>
              <a:ea typeface="Calibri"/>
              <a:cs typeface="Calibri"/>
              <a:sym typeface="Calibri"/>
            </a:endParaRPr>
          </a:p>
        </p:txBody>
      </p:sp>
      <p:sp>
        <p:nvSpPr>
          <p:cNvPr id="162" name="Google Shape;162;p5"/>
          <p:cNvSpPr/>
          <p:nvPr/>
        </p:nvSpPr>
        <p:spPr>
          <a:xfrm>
            <a:off x="3566160" y="3429000"/>
            <a:ext cx="2148840" cy="7315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80"/>
              </a:buClr>
              <a:buSzPts val="1050"/>
              <a:buFont typeface="Calibri"/>
              <a:buNone/>
            </a:pPr>
            <a:r>
              <a:rPr b="0" i="0" lang="en-US" sz="1050" u="none" cap="none" strike="noStrike">
                <a:solidFill>
                  <a:srgbClr val="5B6B80"/>
                </a:solidFill>
                <a:latin typeface="Calibri"/>
                <a:ea typeface="Calibri"/>
                <a:cs typeface="Calibri"/>
                <a:sym typeface="Calibri"/>
              </a:rPr>
              <a:t>Dense, contiguous 0-based indices for embeddings &amp; factor matrices</a:t>
            </a:r>
            <a:endParaRPr b="0" i="0" sz="1050" u="none" cap="none" strike="noStrike">
              <a:solidFill>
                <a:schemeClr val="dk1"/>
              </a:solidFill>
              <a:latin typeface="Calibri"/>
              <a:ea typeface="Calibri"/>
              <a:cs typeface="Calibri"/>
              <a:sym typeface="Calibri"/>
            </a:endParaRPr>
          </a:p>
        </p:txBody>
      </p:sp>
      <p:cxnSp>
        <p:nvCxnSpPr>
          <p:cNvPr id="163" name="Google Shape;163;p5"/>
          <p:cNvCxnSpPr/>
          <p:nvPr/>
        </p:nvCxnSpPr>
        <p:spPr>
          <a:xfrm>
            <a:off x="5897880" y="3291840"/>
            <a:ext cx="320040" cy="0"/>
          </a:xfrm>
          <a:prstGeom prst="straightConnector1">
            <a:avLst/>
          </a:prstGeom>
          <a:noFill/>
          <a:ln cap="flat" cmpd="sng" w="25400">
            <a:solidFill>
              <a:srgbClr val="1C7293"/>
            </a:solidFill>
            <a:prstDash val="solid"/>
            <a:round/>
            <a:headEnd len="sm" w="sm" type="none"/>
            <a:tailEnd len="med" w="med" type="triangle"/>
          </a:ln>
        </p:spPr>
      </p:cxnSp>
      <p:sp>
        <p:nvSpPr>
          <p:cNvPr id="164" name="Google Shape;164;p5"/>
          <p:cNvSpPr/>
          <p:nvPr/>
        </p:nvSpPr>
        <p:spPr>
          <a:xfrm>
            <a:off x="6217920" y="2377440"/>
            <a:ext cx="2514600" cy="1828800"/>
          </a:xfrm>
          <a:prstGeom prst="roundRect">
            <a:avLst>
              <a:gd fmla="val 4000" name="adj"/>
            </a:avLst>
          </a:prstGeom>
          <a:solidFill>
            <a:srgbClr val="F0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5"/>
          <p:cNvSpPr/>
          <p:nvPr/>
        </p:nvSpPr>
        <p:spPr>
          <a:xfrm>
            <a:off x="6400800" y="2560320"/>
            <a:ext cx="365760" cy="365760"/>
          </a:xfrm>
          <a:prstGeom prst="ellipse">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5"/>
          <p:cNvSpPr/>
          <p:nvPr/>
        </p:nvSpPr>
        <p:spPr>
          <a:xfrm>
            <a:off x="6400800" y="2560320"/>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Cambria"/>
              <a:buNone/>
            </a:pPr>
            <a:r>
              <a:rPr b="1" i="0" lang="en-US" sz="1400" u="none" cap="none" strike="noStrike">
                <a:solidFill>
                  <a:srgbClr val="FFFFFF"/>
                </a:solidFill>
                <a:latin typeface="Cambria"/>
                <a:ea typeface="Cambria"/>
                <a:cs typeface="Cambria"/>
                <a:sym typeface="Cambria"/>
              </a:rPr>
              <a:t>3</a:t>
            </a:r>
            <a:endParaRPr b="0" i="0" sz="1400" u="none" cap="none" strike="noStrike">
              <a:solidFill>
                <a:schemeClr val="dk1"/>
              </a:solidFill>
              <a:latin typeface="Calibri"/>
              <a:ea typeface="Calibri"/>
              <a:cs typeface="Calibri"/>
              <a:sym typeface="Calibri"/>
            </a:endParaRPr>
          </a:p>
        </p:txBody>
      </p:sp>
      <p:sp>
        <p:nvSpPr>
          <p:cNvPr id="167" name="Google Shape;167;p5"/>
          <p:cNvSpPr/>
          <p:nvPr/>
        </p:nvSpPr>
        <p:spPr>
          <a:xfrm>
            <a:off x="6400800" y="3063240"/>
            <a:ext cx="21488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430"/>
              </a:buClr>
              <a:buSzPts val="1400"/>
              <a:buFont typeface="Calibri"/>
              <a:buNone/>
            </a:pPr>
            <a:r>
              <a:rPr b="1" i="0" lang="en-US" sz="1400" u="none" cap="none" strike="noStrike">
                <a:solidFill>
                  <a:srgbClr val="1B2430"/>
                </a:solidFill>
                <a:latin typeface="Calibri"/>
                <a:ea typeface="Calibri"/>
                <a:cs typeface="Calibri"/>
                <a:sym typeface="Calibri"/>
              </a:rPr>
              <a:t>Per-User Split</a:t>
            </a:r>
            <a:endParaRPr b="0" i="0" sz="1400" u="none" cap="none" strike="noStrike">
              <a:solidFill>
                <a:schemeClr val="dk1"/>
              </a:solidFill>
              <a:latin typeface="Calibri"/>
              <a:ea typeface="Calibri"/>
              <a:cs typeface="Calibri"/>
              <a:sym typeface="Calibri"/>
            </a:endParaRPr>
          </a:p>
        </p:txBody>
      </p:sp>
      <p:sp>
        <p:nvSpPr>
          <p:cNvPr id="168" name="Google Shape;168;p5"/>
          <p:cNvSpPr/>
          <p:nvPr/>
        </p:nvSpPr>
        <p:spPr>
          <a:xfrm>
            <a:off x="6400800" y="3429000"/>
            <a:ext cx="2148840" cy="7315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80"/>
              </a:buClr>
              <a:buSzPts val="1050"/>
              <a:buFont typeface="Calibri"/>
              <a:buNone/>
            </a:pPr>
            <a:r>
              <a:rPr b="0" i="0" lang="en-US" sz="1050" u="none" cap="none" strike="noStrike">
                <a:solidFill>
                  <a:srgbClr val="5B6B80"/>
                </a:solidFill>
                <a:latin typeface="Calibri"/>
                <a:ea typeface="Calibri"/>
                <a:cs typeface="Calibri"/>
                <a:sym typeface="Calibri"/>
              </a:rPr>
              <a:t>80/20 split within each user's ratings — avoids artificial cold-start</a:t>
            </a:r>
            <a:endParaRPr b="0" i="0" sz="1050" u="none" cap="none" strike="noStrike">
              <a:solidFill>
                <a:schemeClr val="dk1"/>
              </a:solidFill>
              <a:latin typeface="Calibri"/>
              <a:ea typeface="Calibri"/>
              <a:cs typeface="Calibri"/>
              <a:sym typeface="Calibri"/>
            </a:endParaRPr>
          </a:p>
        </p:txBody>
      </p:sp>
      <p:cxnSp>
        <p:nvCxnSpPr>
          <p:cNvPr id="169" name="Google Shape;169;p5"/>
          <p:cNvCxnSpPr/>
          <p:nvPr/>
        </p:nvCxnSpPr>
        <p:spPr>
          <a:xfrm>
            <a:off x="8732520" y="3291840"/>
            <a:ext cx="320040" cy="0"/>
          </a:xfrm>
          <a:prstGeom prst="straightConnector1">
            <a:avLst/>
          </a:prstGeom>
          <a:noFill/>
          <a:ln cap="flat" cmpd="sng" w="25400">
            <a:solidFill>
              <a:srgbClr val="1C7293"/>
            </a:solidFill>
            <a:prstDash val="solid"/>
            <a:round/>
            <a:headEnd len="sm" w="sm" type="none"/>
            <a:tailEnd len="med" w="med" type="triangle"/>
          </a:ln>
        </p:spPr>
      </p:cxnSp>
      <p:sp>
        <p:nvSpPr>
          <p:cNvPr id="170" name="Google Shape;170;p5"/>
          <p:cNvSpPr/>
          <p:nvPr/>
        </p:nvSpPr>
        <p:spPr>
          <a:xfrm>
            <a:off x="9052560" y="2377440"/>
            <a:ext cx="2514600" cy="1828800"/>
          </a:xfrm>
          <a:prstGeom prst="roundRect">
            <a:avLst>
              <a:gd fmla="val 4000" name="adj"/>
            </a:avLst>
          </a:prstGeom>
          <a:solidFill>
            <a:srgbClr val="065A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5"/>
          <p:cNvSpPr/>
          <p:nvPr/>
        </p:nvSpPr>
        <p:spPr>
          <a:xfrm>
            <a:off x="9235440" y="2560320"/>
            <a:ext cx="365760" cy="365760"/>
          </a:xfrm>
          <a:prstGeom prst="ellipse">
            <a:avLst/>
          </a:prstGeom>
          <a:solidFill>
            <a:srgbClr val="E8A3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5"/>
          <p:cNvSpPr/>
          <p:nvPr/>
        </p:nvSpPr>
        <p:spPr>
          <a:xfrm>
            <a:off x="9235440" y="2560320"/>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Cambria"/>
              <a:buNone/>
            </a:pPr>
            <a:r>
              <a:rPr b="1" i="0" lang="en-US" sz="1400" u="none" cap="none" strike="noStrike">
                <a:solidFill>
                  <a:srgbClr val="FFFFFF"/>
                </a:solidFill>
                <a:latin typeface="Cambria"/>
                <a:ea typeface="Cambria"/>
                <a:cs typeface="Cambria"/>
                <a:sym typeface="Cambria"/>
              </a:rPr>
              <a:t>4</a:t>
            </a:r>
            <a:endParaRPr b="0" i="0" sz="1400" u="none" cap="none" strike="noStrike">
              <a:solidFill>
                <a:schemeClr val="dk1"/>
              </a:solidFill>
              <a:latin typeface="Calibri"/>
              <a:ea typeface="Calibri"/>
              <a:cs typeface="Calibri"/>
              <a:sym typeface="Calibri"/>
            </a:endParaRPr>
          </a:p>
        </p:txBody>
      </p:sp>
      <p:sp>
        <p:nvSpPr>
          <p:cNvPr id="173" name="Google Shape;173;p5"/>
          <p:cNvSpPr/>
          <p:nvPr/>
        </p:nvSpPr>
        <p:spPr>
          <a:xfrm>
            <a:off x="9235440" y="3063240"/>
            <a:ext cx="21488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Train / Test</a:t>
            </a:r>
            <a:endParaRPr b="0" i="0" sz="1400" u="none" cap="none" strike="noStrike">
              <a:solidFill>
                <a:schemeClr val="dk1"/>
              </a:solidFill>
              <a:latin typeface="Calibri"/>
              <a:ea typeface="Calibri"/>
              <a:cs typeface="Calibri"/>
              <a:sym typeface="Calibri"/>
            </a:endParaRPr>
          </a:p>
        </p:txBody>
      </p:sp>
      <p:sp>
        <p:nvSpPr>
          <p:cNvPr id="174" name="Google Shape;174;p5"/>
          <p:cNvSpPr/>
          <p:nvPr/>
        </p:nvSpPr>
        <p:spPr>
          <a:xfrm>
            <a:off x="9235440" y="3429000"/>
            <a:ext cx="2148840" cy="7315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6E6F0"/>
              </a:buClr>
              <a:buSzPts val="1050"/>
              <a:buFont typeface="Calibri"/>
              <a:buNone/>
            </a:pPr>
            <a:r>
              <a:rPr b="0" i="0" lang="en-US" sz="1050" u="none" cap="none" strike="noStrike">
                <a:solidFill>
                  <a:srgbClr val="D6E6F0"/>
                </a:solidFill>
                <a:latin typeface="Calibri"/>
                <a:ea typeface="Calibri"/>
                <a:cs typeface="Calibri"/>
                <a:sym typeface="Calibri"/>
              </a:rPr>
              <a:t>Every user appears in both sets; ready for modelling</a:t>
            </a:r>
            <a:endParaRPr b="0" i="0" sz="1050" u="none" cap="none" strike="noStrike">
              <a:solidFill>
                <a:schemeClr val="dk1"/>
              </a:solidFill>
              <a:latin typeface="Calibri"/>
              <a:ea typeface="Calibri"/>
              <a:cs typeface="Calibri"/>
              <a:sym typeface="Calibri"/>
            </a:endParaRPr>
          </a:p>
        </p:txBody>
      </p:sp>
      <p:sp>
        <p:nvSpPr>
          <p:cNvPr id="175" name="Google Shape;175;p5"/>
          <p:cNvSpPr/>
          <p:nvPr/>
        </p:nvSpPr>
        <p:spPr>
          <a:xfrm>
            <a:off x="548640" y="4663440"/>
            <a:ext cx="10881360" cy="10972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430"/>
              </a:buClr>
              <a:buSzPts val="1300"/>
              <a:buFont typeface="Calibri"/>
              <a:buNone/>
            </a:pPr>
            <a:r>
              <a:rPr b="0" i="1" lang="en-US" sz="1300" u="none" cap="none" strike="noStrike">
                <a:solidFill>
                  <a:srgbClr val="1B2430"/>
                </a:solidFill>
                <a:latin typeface="Calibri"/>
                <a:ea typeface="Calibri"/>
                <a:cs typeface="Calibri"/>
                <a:sym typeface="Calibri"/>
              </a:rPr>
              <a:t>Why per-user, not global random split? A single random split can accidentally leave some users out of training entirely — a genuine cold-start scenario neither model is designed to solve. Splitting within each user guarantees fair, comparable evaluation.</a:t>
            </a:r>
            <a:endParaRPr b="0" i="0" sz="1300" u="none" cap="none" strike="noStrike">
              <a:solidFill>
                <a:schemeClr val="dk1"/>
              </a:solidFill>
              <a:latin typeface="Calibri"/>
              <a:ea typeface="Calibri"/>
              <a:cs typeface="Calibri"/>
              <a:sym typeface="Calibri"/>
            </a:endParaRPr>
          </a:p>
        </p:txBody>
      </p:sp>
      <p:sp>
        <p:nvSpPr>
          <p:cNvPr id="176" name="Google Shape;176;p5"/>
          <p:cNvSpPr/>
          <p:nvPr/>
        </p:nvSpPr>
        <p:spPr>
          <a:xfrm>
            <a:off x="11521440" y="6446520"/>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6B80"/>
              </a:buClr>
              <a:buSzPts val="1000"/>
              <a:buFont typeface="Calibri"/>
              <a:buNone/>
            </a:pPr>
            <a:r>
              <a:rPr b="0" i="0" lang="en-US" sz="1000" u="none" cap="none" strike="noStrike">
                <a:solidFill>
                  <a:srgbClr val="5B6B80"/>
                </a:solidFill>
                <a:latin typeface="Calibri"/>
                <a:ea typeface="Calibri"/>
                <a:cs typeface="Calibri"/>
                <a:sym typeface="Calibri"/>
              </a:rPr>
              <a:t>05</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1" name="Shape 181"/>
        <p:cNvGrpSpPr/>
        <p:nvPr/>
      </p:nvGrpSpPr>
      <p:grpSpPr>
        <a:xfrm>
          <a:off x="0" y="0"/>
          <a:ext cx="0" cy="0"/>
          <a:chOff x="0" y="0"/>
          <a:chExt cx="0" cy="0"/>
        </a:xfrm>
      </p:grpSpPr>
      <p:cxnSp>
        <p:nvCxnSpPr>
          <p:cNvPr id="182" name="Google Shape;182;p6"/>
          <p:cNvCxnSpPr/>
          <p:nvPr/>
        </p:nvCxnSpPr>
        <p:spPr>
          <a:xfrm flipH="1" rot="10800000">
            <a:off x="11292840" y="521208"/>
            <a:ext cx="320040" cy="91440"/>
          </a:xfrm>
          <a:prstGeom prst="straightConnector1">
            <a:avLst/>
          </a:prstGeom>
          <a:noFill/>
          <a:ln cap="flat" cmpd="sng" w="12700">
            <a:solidFill>
              <a:srgbClr val="C7D6E0"/>
            </a:solidFill>
            <a:prstDash val="solid"/>
            <a:round/>
            <a:headEnd len="sm" w="sm" type="none"/>
            <a:tailEnd len="sm" w="sm" type="none"/>
          </a:ln>
        </p:spPr>
      </p:cxnSp>
      <p:cxnSp>
        <p:nvCxnSpPr>
          <p:cNvPr id="183" name="Google Shape;183;p6"/>
          <p:cNvCxnSpPr/>
          <p:nvPr/>
        </p:nvCxnSpPr>
        <p:spPr>
          <a:xfrm>
            <a:off x="11612880" y="521208"/>
            <a:ext cx="274320" cy="137160"/>
          </a:xfrm>
          <a:prstGeom prst="straightConnector1">
            <a:avLst/>
          </a:prstGeom>
          <a:noFill/>
          <a:ln cap="flat" cmpd="sng" w="12700">
            <a:solidFill>
              <a:srgbClr val="C7D6E0"/>
            </a:solidFill>
            <a:prstDash val="solid"/>
            <a:round/>
            <a:headEnd len="sm" w="sm" type="none"/>
            <a:tailEnd len="sm" w="sm" type="none"/>
          </a:ln>
        </p:spPr>
      </p:cxnSp>
      <p:sp>
        <p:nvSpPr>
          <p:cNvPr id="184" name="Google Shape;184;p6"/>
          <p:cNvSpPr/>
          <p:nvPr/>
        </p:nvSpPr>
        <p:spPr>
          <a:xfrm>
            <a:off x="11247120" y="566928"/>
            <a:ext cx="91440" cy="91440"/>
          </a:xfrm>
          <a:prstGeom prst="ellipse">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6"/>
          <p:cNvSpPr/>
          <p:nvPr/>
        </p:nvSpPr>
        <p:spPr>
          <a:xfrm>
            <a:off x="11567160" y="475488"/>
            <a:ext cx="73152" cy="73152"/>
          </a:xfrm>
          <a:prstGeom prst="ellipse">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6"/>
          <p:cNvSpPr/>
          <p:nvPr/>
        </p:nvSpPr>
        <p:spPr>
          <a:xfrm>
            <a:off x="11841480" y="612648"/>
            <a:ext cx="82296" cy="82296"/>
          </a:xfrm>
          <a:prstGeom prst="ellipse">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6"/>
          <p:cNvSpPr/>
          <p:nvPr/>
        </p:nvSpPr>
        <p:spPr>
          <a:xfrm>
            <a:off x="548640" y="384048"/>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7293"/>
              </a:buClr>
              <a:buSzPts val="1200"/>
              <a:buFont typeface="Calibri"/>
              <a:buNone/>
            </a:pPr>
            <a:r>
              <a:rPr b="1" i="0" lang="en-US" sz="1200" u="none" cap="none" strike="noStrike">
                <a:solidFill>
                  <a:srgbClr val="1C7293"/>
                </a:solidFill>
                <a:latin typeface="Calibri"/>
                <a:ea typeface="Calibri"/>
                <a:cs typeface="Calibri"/>
                <a:sym typeface="Calibri"/>
              </a:rPr>
              <a:t>02 · MODEL DESIGN</a:t>
            </a:r>
            <a:endParaRPr b="0" i="0" sz="1200" u="none" cap="none" strike="noStrike">
              <a:solidFill>
                <a:schemeClr val="dk1"/>
              </a:solidFill>
              <a:latin typeface="Calibri"/>
              <a:ea typeface="Calibri"/>
              <a:cs typeface="Calibri"/>
              <a:sym typeface="Calibri"/>
            </a:endParaRPr>
          </a:p>
        </p:txBody>
      </p:sp>
      <p:sp>
        <p:nvSpPr>
          <p:cNvPr id="188" name="Google Shape;188;p6"/>
          <p:cNvSpPr/>
          <p:nvPr/>
        </p:nvSpPr>
        <p:spPr>
          <a:xfrm>
            <a:off x="548640" y="658368"/>
            <a:ext cx="987552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1295C"/>
              </a:buClr>
              <a:buSzPts val="3000"/>
              <a:buFont typeface="Cambria"/>
              <a:buNone/>
            </a:pPr>
            <a:r>
              <a:rPr b="1" i="0" lang="en-US" sz="3000" u="none" cap="none" strike="noStrike">
                <a:solidFill>
                  <a:srgbClr val="21295C"/>
                </a:solidFill>
                <a:latin typeface="Cambria"/>
                <a:ea typeface="Cambria"/>
                <a:cs typeface="Cambria"/>
                <a:sym typeface="Cambria"/>
              </a:rPr>
              <a:t>Classical ML vs. Deep Learning</a:t>
            </a:r>
            <a:endParaRPr b="0" i="0" sz="3000" u="none" cap="none" strike="noStrike">
              <a:solidFill>
                <a:schemeClr val="dk1"/>
              </a:solidFill>
              <a:latin typeface="Calibri"/>
              <a:ea typeface="Calibri"/>
              <a:cs typeface="Calibri"/>
              <a:sym typeface="Calibri"/>
            </a:endParaRPr>
          </a:p>
        </p:txBody>
      </p:sp>
      <p:sp>
        <p:nvSpPr>
          <p:cNvPr id="189" name="Google Shape;189;p6"/>
          <p:cNvSpPr/>
          <p:nvPr/>
        </p:nvSpPr>
        <p:spPr>
          <a:xfrm>
            <a:off x="548640" y="1691640"/>
            <a:ext cx="5349240" cy="4297680"/>
          </a:xfrm>
          <a:prstGeom prst="roundRect">
            <a:avLst>
              <a:gd fmla="val 1702" name="adj"/>
            </a:avLst>
          </a:prstGeom>
          <a:solidFill>
            <a:srgbClr val="E7F1F6"/>
          </a:solidFill>
          <a:ln cap="flat" cmpd="sng" w="15875">
            <a:solidFill>
              <a:srgbClr val="065A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6"/>
          <p:cNvSpPr/>
          <p:nvPr/>
        </p:nvSpPr>
        <p:spPr>
          <a:xfrm>
            <a:off x="868680" y="1965960"/>
            <a:ext cx="45720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65A82"/>
              </a:buClr>
              <a:buSzPts val="2400"/>
              <a:buFont typeface="Cambria"/>
              <a:buNone/>
            </a:pPr>
            <a:r>
              <a:rPr b="1" i="0" lang="en-US" sz="2400" u="none" cap="none" strike="noStrike">
                <a:solidFill>
                  <a:srgbClr val="065A82"/>
                </a:solidFill>
                <a:latin typeface="Cambria"/>
                <a:ea typeface="Cambria"/>
                <a:cs typeface="Cambria"/>
                <a:sym typeface="Cambria"/>
              </a:rPr>
              <a:t>SVD</a:t>
            </a:r>
            <a:endParaRPr b="0" i="0" sz="2400" u="none" cap="none" strike="noStrike">
              <a:solidFill>
                <a:schemeClr val="dk1"/>
              </a:solidFill>
              <a:latin typeface="Calibri"/>
              <a:ea typeface="Calibri"/>
              <a:cs typeface="Calibri"/>
              <a:sym typeface="Calibri"/>
            </a:endParaRPr>
          </a:p>
        </p:txBody>
      </p:sp>
      <p:sp>
        <p:nvSpPr>
          <p:cNvPr id="191" name="Google Shape;191;p6"/>
          <p:cNvSpPr/>
          <p:nvPr/>
        </p:nvSpPr>
        <p:spPr>
          <a:xfrm>
            <a:off x="868680" y="2450592"/>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65A82"/>
              </a:buClr>
              <a:buSzPts val="1100"/>
              <a:buFont typeface="Calibri"/>
              <a:buNone/>
            </a:pPr>
            <a:r>
              <a:rPr b="1" i="0" lang="en-US" sz="1100" u="none" cap="none" strike="noStrike">
                <a:solidFill>
                  <a:srgbClr val="065A82"/>
                </a:solidFill>
                <a:latin typeface="Calibri"/>
                <a:ea typeface="Calibri"/>
                <a:cs typeface="Calibri"/>
                <a:sym typeface="Calibri"/>
              </a:rPr>
              <a:t>CLASSICAL ML</a:t>
            </a:r>
            <a:endParaRPr b="0" i="0" sz="1100" u="none" cap="none" strike="noStrike">
              <a:solidFill>
                <a:schemeClr val="dk1"/>
              </a:solidFill>
              <a:latin typeface="Calibri"/>
              <a:ea typeface="Calibri"/>
              <a:cs typeface="Calibri"/>
              <a:sym typeface="Calibri"/>
            </a:endParaRPr>
          </a:p>
        </p:txBody>
      </p:sp>
      <p:sp>
        <p:nvSpPr>
          <p:cNvPr id="192" name="Google Shape;192;p6"/>
          <p:cNvSpPr/>
          <p:nvPr/>
        </p:nvSpPr>
        <p:spPr>
          <a:xfrm>
            <a:off x="868680" y="3026664"/>
            <a:ext cx="128016" cy="128016"/>
          </a:xfrm>
          <a:prstGeom prst="ellipse">
            <a:avLst/>
          </a:prstGeom>
          <a:solidFill>
            <a:srgbClr val="065A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6"/>
          <p:cNvSpPr/>
          <p:nvPr/>
        </p:nvSpPr>
        <p:spPr>
          <a:xfrm>
            <a:off x="1143025" y="2739399"/>
            <a:ext cx="4480500" cy="658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430"/>
              </a:buClr>
              <a:buSzPts val="1300"/>
              <a:buFont typeface="Calibri"/>
              <a:buNone/>
            </a:pPr>
            <a:r>
              <a:rPr b="0" i="0" lang="en-US" sz="1300" u="none" cap="none" strike="noStrike">
                <a:solidFill>
                  <a:srgbClr val="1B2430"/>
                </a:solidFill>
                <a:latin typeface="Calibri"/>
                <a:ea typeface="Calibri"/>
                <a:cs typeface="Calibri"/>
                <a:sym typeface="Calibri"/>
              </a:rPr>
              <a:t>Bias-aware matrix factorization</a:t>
            </a:r>
            <a:endParaRPr b="0" i="0" sz="1300" u="none" cap="none" strike="noStrike">
              <a:solidFill>
                <a:schemeClr val="dk1"/>
              </a:solidFill>
              <a:latin typeface="Calibri"/>
              <a:ea typeface="Calibri"/>
              <a:cs typeface="Calibri"/>
              <a:sym typeface="Calibri"/>
            </a:endParaRPr>
          </a:p>
        </p:txBody>
      </p:sp>
      <p:sp>
        <p:nvSpPr>
          <p:cNvPr id="194" name="Google Shape;194;p6"/>
          <p:cNvSpPr/>
          <p:nvPr/>
        </p:nvSpPr>
        <p:spPr>
          <a:xfrm>
            <a:off x="868680" y="3685032"/>
            <a:ext cx="128016" cy="128016"/>
          </a:xfrm>
          <a:prstGeom prst="ellipse">
            <a:avLst/>
          </a:prstGeom>
          <a:solidFill>
            <a:srgbClr val="065A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6"/>
          <p:cNvSpPr/>
          <p:nvPr/>
        </p:nvSpPr>
        <p:spPr>
          <a:xfrm>
            <a:off x="1143000" y="3455523"/>
            <a:ext cx="44805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430"/>
              </a:buClr>
              <a:buSzPts val="1300"/>
              <a:buFont typeface="Calibri"/>
              <a:buNone/>
            </a:pPr>
            <a:r>
              <a:rPr b="0" i="0" lang="en-US" sz="1300" u="none" cap="none" strike="noStrike">
                <a:solidFill>
                  <a:srgbClr val="1B2430"/>
                </a:solidFill>
                <a:latin typeface="Calibri"/>
                <a:ea typeface="Calibri"/>
                <a:cs typeface="Calibri"/>
                <a:sym typeface="Calibri"/>
              </a:rPr>
              <a:t>Trained via SGD, from scratch (NumPy)</a:t>
            </a:r>
            <a:endParaRPr b="0" i="0" sz="1300" u="none" cap="none" strike="noStrike">
              <a:solidFill>
                <a:schemeClr val="dk1"/>
              </a:solidFill>
              <a:latin typeface="Calibri"/>
              <a:ea typeface="Calibri"/>
              <a:cs typeface="Calibri"/>
              <a:sym typeface="Calibri"/>
            </a:endParaRPr>
          </a:p>
        </p:txBody>
      </p:sp>
      <p:sp>
        <p:nvSpPr>
          <p:cNvPr id="196" name="Google Shape;196;p6"/>
          <p:cNvSpPr/>
          <p:nvPr/>
        </p:nvSpPr>
        <p:spPr>
          <a:xfrm>
            <a:off x="868680" y="4343400"/>
            <a:ext cx="128016" cy="128016"/>
          </a:xfrm>
          <a:prstGeom prst="ellipse">
            <a:avLst/>
          </a:prstGeom>
          <a:solidFill>
            <a:srgbClr val="065A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6"/>
          <p:cNvSpPr/>
          <p:nvPr/>
        </p:nvSpPr>
        <p:spPr>
          <a:xfrm>
            <a:off x="1143000" y="4113891"/>
            <a:ext cx="44805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430"/>
              </a:buClr>
              <a:buSzPts val="1300"/>
              <a:buFont typeface="Calibri"/>
              <a:buNone/>
            </a:pPr>
            <a:r>
              <a:rPr b="0" i="0" lang="en-US" sz="1300" u="none" cap="none" strike="noStrike">
                <a:solidFill>
                  <a:srgbClr val="1B2430"/>
                </a:solidFill>
                <a:latin typeface="Calibri"/>
                <a:ea typeface="Calibri"/>
                <a:cs typeface="Calibri"/>
                <a:sym typeface="Calibri"/>
              </a:rPr>
              <a:t>Linear latent-factor interactions</a:t>
            </a:r>
            <a:endParaRPr b="0" i="0" sz="1300" u="none" cap="none" strike="noStrike">
              <a:solidFill>
                <a:schemeClr val="dk1"/>
              </a:solidFill>
              <a:latin typeface="Calibri"/>
              <a:ea typeface="Calibri"/>
              <a:cs typeface="Calibri"/>
              <a:sym typeface="Calibri"/>
            </a:endParaRPr>
          </a:p>
        </p:txBody>
      </p:sp>
      <p:sp>
        <p:nvSpPr>
          <p:cNvPr id="198" name="Google Shape;198;p6"/>
          <p:cNvSpPr/>
          <p:nvPr/>
        </p:nvSpPr>
        <p:spPr>
          <a:xfrm>
            <a:off x="868680" y="5001768"/>
            <a:ext cx="128016" cy="128016"/>
          </a:xfrm>
          <a:prstGeom prst="ellipse">
            <a:avLst/>
          </a:prstGeom>
          <a:solidFill>
            <a:srgbClr val="065A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6"/>
          <p:cNvSpPr/>
          <p:nvPr/>
        </p:nvSpPr>
        <p:spPr>
          <a:xfrm>
            <a:off x="1143000" y="4772259"/>
            <a:ext cx="44805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430"/>
              </a:buClr>
              <a:buSzPts val="1300"/>
              <a:buFont typeface="Calibri"/>
              <a:buNone/>
            </a:pPr>
            <a:r>
              <a:rPr b="0" i="0" lang="en-US" sz="1300" u="none" cap="none" strike="noStrike">
                <a:solidFill>
                  <a:srgbClr val="1B2430"/>
                </a:solidFill>
                <a:latin typeface="Calibri"/>
                <a:ea typeface="Calibri"/>
                <a:cs typeface="Calibri"/>
                <a:sym typeface="Calibri"/>
              </a:rPr>
              <a:t>Seconds-to-minutes to train on CPU</a:t>
            </a:r>
            <a:endParaRPr b="0" i="0" sz="1300" u="none" cap="none" strike="noStrike">
              <a:solidFill>
                <a:schemeClr val="dk1"/>
              </a:solidFill>
              <a:latin typeface="Calibri"/>
              <a:ea typeface="Calibri"/>
              <a:cs typeface="Calibri"/>
              <a:sym typeface="Calibri"/>
            </a:endParaRPr>
          </a:p>
        </p:txBody>
      </p:sp>
      <p:sp>
        <p:nvSpPr>
          <p:cNvPr id="200" name="Google Shape;200;p6"/>
          <p:cNvSpPr/>
          <p:nvPr/>
        </p:nvSpPr>
        <p:spPr>
          <a:xfrm>
            <a:off x="6172200" y="1691640"/>
            <a:ext cx="5349240" cy="4297680"/>
          </a:xfrm>
          <a:prstGeom prst="roundRect">
            <a:avLst>
              <a:gd fmla="val 1702" name="adj"/>
            </a:avLst>
          </a:prstGeom>
          <a:solidFill>
            <a:srgbClr val="E8F3F1"/>
          </a:solidFill>
          <a:ln cap="flat" cmpd="sng" w="15875">
            <a:solidFill>
              <a:srgbClr val="1C729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6"/>
          <p:cNvSpPr/>
          <p:nvPr/>
        </p:nvSpPr>
        <p:spPr>
          <a:xfrm>
            <a:off x="6492240" y="1965960"/>
            <a:ext cx="45720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7293"/>
              </a:buClr>
              <a:buSzPts val="2400"/>
              <a:buFont typeface="Cambria"/>
              <a:buNone/>
            </a:pPr>
            <a:r>
              <a:rPr b="1" i="0" lang="en-US" sz="2400" u="none" cap="none" strike="noStrike">
                <a:solidFill>
                  <a:srgbClr val="1C7293"/>
                </a:solidFill>
                <a:latin typeface="Cambria"/>
                <a:ea typeface="Cambria"/>
                <a:cs typeface="Cambria"/>
                <a:sym typeface="Cambria"/>
              </a:rPr>
              <a:t>NCF</a:t>
            </a:r>
            <a:endParaRPr b="0" i="0" sz="2400" u="none" cap="none" strike="noStrike">
              <a:solidFill>
                <a:schemeClr val="dk1"/>
              </a:solidFill>
              <a:latin typeface="Calibri"/>
              <a:ea typeface="Calibri"/>
              <a:cs typeface="Calibri"/>
              <a:sym typeface="Calibri"/>
            </a:endParaRPr>
          </a:p>
        </p:txBody>
      </p:sp>
      <p:sp>
        <p:nvSpPr>
          <p:cNvPr id="202" name="Google Shape;202;p6"/>
          <p:cNvSpPr/>
          <p:nvPr/>
        </p:nvSpPr>
        <p:spPr>
          <a:xfrm>
            <a:off x="6492240" y="2450592"/>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7293"/>
              </a:buClr>
              <a:buSzPts val="1100"/>
              <a:buFont typeface="Calibri"/>
              <a:buNone/>
            </a:pPr>
            <a:r>
              <a:rPr b="1" i="0" lang="en-US" sz="1100" u="none" cap="none" strike="noStrike">
                <a:solidFill>
                  <a:srgbClr val="1C7293"/>
                </a:solidFill>
                <a:latin typeface="Calibri"/>
                <a:ea typeface="Calibri"/>
                <a:cs typeface="Calibri"/>
                <a:sym typeface="Calibri"/>
              </a:rPr>
              <a:t>DEEP LEARNING</a:t>
            </a:r>
            <a:endParaRPr b="0" i="0" sz="1100" u="none" cap="none" strike="noStrike">
              <a:solidFill>
                <a:schemeClr val="dk1"/>
              </a:solidFill>
              <a:latin typeface="Calibri"/>
              <a:ea typeface="Calibri"/>
              <a:cs typeface="Calibri"/>
              <a:sym typeface="Calibri"/>
            </a:endParaRPr>
          </a:p>
        </p:txBody>
      </p:sp>
      <p:sp>
        <p:nvSpPr>
          <p:cNvPr id="203" name="Google Shape;203;p6"/>
          <p:cNvSpPr/>
          <p:nvPr/>
        </p:nvSpPr>
        <p:spPr>
          <a:xfrm>
            <a:off x="6492240" y="3026664"/>
            <a:ext cx="128016" cy="128016"/>
          </a:xfrm>
          <a:prstGeom prst="ellipse">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6"/>
          <p:cNvSpPr/>
          <p:nvPr/>
        </p:nvSpPr>
        <p:spPr>
          <a:xfrm>
            <a:off x="6766560" y="2797155"/>
            <a:ext cx="44805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430"/>
              </a:buClr>
              <a:buSzPts val="1300"/>
              <a:buFont typeface="Calibri"/>
              <a:buNone/>
            </a:pPr>
            <a:r>
              <a:rPr b="0" i="0" lang="en-US" sz="1300" u="none" cap="none" strike="noStrike">
                <a:solidFill>
                  <a:srgbClr val="1B2430"/>
                </a:solidFill>
                <a:latin typeface="Calibri"/>
                <a:ea typeface="Calibri"/>
                <a:cs typeface="Calibri"/>
                <a:sym typeface="Calibri"/>
              </a:rPr>
              <a:t>Neural Collaborative Filtering (He et al., 2017)</a:t>
            </a:r>
            <a:endParaRPr b="0" i="0" sz="1300" u="none" cap="none" strike="noStrike">
              <a:solidFill>
                <a:schemeClr val="dk1"/>
              </a:solidFill>
              <a:latin typeface="Calibri"/>
              <a:ea typeface="Calibri"/>
              <a:cs typeface="Calibri"/>
              <a:sym typeface="Calibri"/>
            </a:endParaRPr>
          </a:p>
        </p:txBody>
      </p:sp>
      <p:sp>
        <p:nvSpPr>
          <p:cNvPr id="205" name="Google Shape;205;p6"/>
          <p:cNvSpPr/>
          <p:nvPr/>
        </p:nvSpPr>
        <p:spPr>
          <a:xfrm>
            <a:off x="6492240" y="3685032"/>
            <a:ext cx="128016" cy="128016"/>
          </a:xfrm>
          <a:prstGeom prst="ellipse">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6"/>
          <p:cNvSpPr/>
          <p:nvPr/>
        </p:nvSpPr>
        <p:spPr>
          <a:xfrm>
            <a:off x="6766560" y="3455523"/>
            <a:ext cx="44805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430"/>
              </a:buClr>
              <a:buSzPts val="1300"/>
              <a:buFont typeface="Calibri"/>
              <a:buNone/>
            </a:pPr>
            <a:r>
              <a:rPr b="0" i="0" lang="en-US" sz="1300" u="none" cap="none" strike="noStrike">
                <a:solidFill>
                  <a:srgbClr val="1B2430"/>
                </a:solidFill>
                <a:latin typeface="Calibri"/>
                <a:ea typeface="Calibri"/>
                <a:cs typeface="Calibri"/>
                <a:sym typeface="Calibri"/>
              </a:rPr>
              <a:t>PyTorch embeddings + MLP</a:t>
            </a:r>
            <a:endParaRPr b="0" i="0" sz="1300" u="none" cap="none" strike="noStrike">
              <a:solidFill>
                <a:schemeClr val="dk1"/>
              </a:solidFill>
              <a:latin typeface="Calibri"/>
              <a:ea typeface="Calibri"/>
              <a:cs typeface="Calibri"/>
              <a:sym typeface="Calibri"/>
            </a:endParaRPr>
          </a:p>
        </p:txBody>
      </p:sp>
      <p:sp>
        <p:nvSpPr>
          <p:cNvPr id="207" name="Google Shape;207;p6"/>
          <p:cNvSpPr/>
          <p:nvPr/>
        </p:nvSpPr>
        <p:spPr>
          <a:xfrm>
            <a:off x="6492240" y="4343400"/>
            <a:ext cx="128016" cy="128016"/>
          </a:xfrm>
          <a:prstGeom prst="ellipse">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6"/>
          <p:cNvSpPr/>
          <p:nvPr/>
        </p:nvSpPr>
        <p:spPr>
          <a:xfrm>
            <a:off x="6766560" y="4113891"/>
            <a:ext cx="44805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430"/>
              </a:buClr>
              <a:buSzPts val="1300"/>
              <a:buFont typeface="Calibri"/>
              <a:buNone/>
            </a:pPr>
            <a:r>
              <a:rPr b="0" i="0" lang="en-US" sz="1300" u="none" cap="none" strike="noStrike">
                <a:solidFill>
                  <a:srgbClr val="1B2430"/>
                </a:solidFill>
                <a:latin typeface="Calibri"/>
                <a:ea typeface="Calibri"/>
                <a:cs typeface="Calibri"/>
                <a:sym typeface="Calibri"/>
              </a:rPr>
              <a:t>Non-linear interactions + side features</a:t>
            </a:r>
            <a:endParaRPr b="0" i="0" sz="1300" u="none" cap="none" strike="noStrike">
              <a:solidFill>
                <a:schemeClr val="dk1"/>
              </a:solidFill>
              <a:latin typeface="Calibri"/>
              <a:ea typeface="Calibri"/>
              <a:cs typeface="Calibri"/>
              <a:sym typeface="Calibri"/>
            </a:endParaRPr>
          </a:p>
        </p:txBody>
      </p:sp>
      <p:sp>
        <p:nvSpPr>
          <p:cNvPr id="209" name="Google Shape;209;p6"/>
          <p:cNvSpPr/>
          <p:nvPr/>
        </p:nvSpPr>
        <p:spPr>
          <a:xfrm>
            <a:off x="6492240" y="5001768"/>
            <a:ext cx="128016" cy="128016"/>
          </a:xfrm>
          <a:prstGeom prst="ellipse">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6"/>
          <p:cNvSpPr/>
          <p:nvPr/>
        </p:nvSpPr>
        <p:spPr>
          <a:xfrm>
            <a:off x="6766560" y="4786758"/>
            <a:ext cx="44805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430"/>
              </a:buClr>
              <a:buSzPts val="1300"/>
              <a:buFont typeface="Calibri"/>
              <a:buNone/>
            </a:pPr>
            <a:r>
              <a:rPr b="0" i="0" lang="en-US" sz="1300" u="none" cap="none" strike="noStrike">
                <a:solidFill>
                  <a:srgbClr val="1B2430"/>
                </a:solidFill>
                <a:latin typeface="Calibri"/>
                <a:ea typeface="Calibri"/>
                <a:cs typeface="Calibri"/>
                <a:sym typeface="Calibri"/>
              </a:rPr>
              <a:t>Needs GPU-friendly pipeline, more tuning</a:t>
            </a:r>
            <a:endParaRPr b="0" i="0" sz="1300" u="none" cap="none" strike="noStrike">
              <a:solidFill>
                <a:schemeClr val="dk1"/>
              </a:solidFill>
              <a:latin typeface="Calibri"/>
              <a:ea typeface="Calibri"/>
              <a:cs typeface="Calibri"/>
              <a:sym typeface="Calibri"/>
            </a:endParaRPr>
          </a:p>
        </p:txBody>
      </p:sp>
      <p:sp>
        <p:nvSpPr>
          <p:cNvPr id="211" name="Google Shape;211;p6"/>
          <p:cNvSpPr/>
          <p:nvPr/>
        </p:nvSpPr>
        <p:spPr>
          <a:xfrm>
            <a:off x="11521440" y="6446520"/>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6B80"/>
              </a:buClr>
              <a:buSzPts val="1000"/>
              <a:buFont typeface="Calibri"/>
              <a:buNone/>
            </a:pPr>
            <a:r>
              <a:rPr b="0" i="0" lang="en-US" sz="1000" u="none" cap="none" strike="noStrike">
                <a:solidFill>
                  <a:srgbClr val="5B6B80"/>
                </a:solidFill>
                <a:latin typeface="Calibri"/>
                <a:ea typeface="Calibri"/>
                <a:cs typeface="Calibri"/>
                <a:sym typeface="Calibri"/>
              </a:rPr>
              <a:t>06</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6" name="Shape 216"/>
        <p:cNvGrpSpPr/>
        <p:nvPr/>
      </p:nvGrpSpPr>
      <p:grpSpPr>
        <a:xfrm>
          <a:off x="0" y="0"/>
          <a:ext cx="0" cy="0"/>
          <a:chOff x="0" y="0"/>
          <a:chExt cx="0" cy="0"/>
        </a:xfrm>
      </p:grpSpPr>
      <p:cxnSp>
        <p:nvCxnSpPr>
          <p:cNvPr id="217" name="Google Shape;217;p7"/>
          <p:cNvCxnSpPr/>
          <p:nvPr/>
        </p:nvCxnSpPr>
        <p:spPr>
          <a:xfrm flipH="1" rot="10800000">
            <a:off x="11292840" y="521208"/>
            <a:ext cx="320040" cy="91440"/>
          </a:xfrm>
          <a:prstGeom prst="straightConnector1">
            <a:avLst/>
          </a:prstGeom>
          <a:noFill/>
          <a:ln cap="flat" cmpd="sng" w="12700">
            <a:solidFill>
              <a:srgbClr val="C7D6E0"/>
            </a:solidFill>
            <a:prstDash val="solid"/>
            <a:round/>
            <a:headEnd len="sm" w="sm" type="none"/>
            <a:tailEnd len="sm" w="sm" type="none"/>
          </a:ln>
        </p:spPr>
      </p:cxnSp>
      <p:cxnSp>
        <p:nvCxnSpPr>
          <p:cNvPr id="218" name="Google Shape;218;p7"/>
          <p:cNvCxnSpPr/>
          <p:nvPr/>
        </p:nvCxnSpPr>
        <p:spPr>
          <a:xfrm>
            <a:off x="11612880" y="521208"/>
            <a:ext cx="274320" cy="137160"/>
          </a:xfrm>
          <a:prstGeom prst="straightConnector1">
            <a:avLst/>
          </a:prstGeom>
          <a:noFill/>
          <a:ln cap="flat" cmpd="sng" w="12700">
            <a:solidFill>
              <a:srgbClr val="C7D6E0"/>
            </a:solidFill>
            <a:prstDash val="solid"/>
            <a:round/>
            <a:headEnd len="sm" w="sm" type="none"/>
            <a:tailEnd len="sm" w="sm" type="none"/>
          </a:ln>
        </p:spPr>
      </p:cxnSp>
      <p:sp>
        <p:nvSpPr>
          <p:cNvPr id="219" name="Google Shape;219;p7"/>
          <p:cNvSpPr/>
          <p:nvPr/>
        </p:nvSpPr>
        <p:spPr>
          <a:xfrm>
            <a:off x="11247120" y="566928"/>
            <a:ext cx="91440" cy="91440"/>
          </a:xfrm>
          <a:prstGeom prst="ellipse">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7"/>
          <p:cNvSpPr/>
          <p:nvPr/>
        </p:nvSpPr>
        <p:spPr>
          <a:xfrm>
            <a:off x="11567160" y="475488"/>
            <a:ext cx="73152" cy="73152"/>
          </a:xfrm>
          <a:prstGeom prst="ellipse">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7"/>
          <p:cNvSpPr/>
          <p:nvPr/>
        </p:nvSpPr>
        <p:spPr>
          <a:xfrm>
            <a:off x="11841480" y="612648"/>
            <a:ext cx="82296" cy="82296"/>
          </a:xfrm>
          <a:prstGeom prst="ellipse">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7"/>
          <p:cNvSpPr/>
          <p:nvPr/>
        </p:nvSpPr>
        <p:spPr>
          <a:xfrm>
            <a:off x="548640" y="384048"/>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7293"/>
              </a:buClr>
              <a:buSzPts val="1200"/>
              <a:buFont typeface="Calibri"/>
              <a:buNone/>
            </a:pPr>
            <a:r>
              <a:rPr b="1" i="0" lang="en-US" sz="1200" u="none" cap="none" strike="noStrike">
                <a:solidFill>
                  <a:srgbClr val="1C7293"/>
                </a:solidFill>
                <a:latin typeface="Calibri"/>
                <a:ea typeface="Calibri"/>
                <a:cs typeface="Calibri"/>
                <a:sym typeface="Calibri"/>
              </a:rPr>
              <a:t>02 · MODEL DESIGN</a:t>
            </a:r>
            <a:endParaRPr b="0" i="0" sz="1200" u="none" cap="none" strike="noStrike">
              <a:solidFill>
                <a:schemeClr val="dk1"/>
              </a:solidFill>
              <a:latin typeface="Calibri"/>
              <a:ea typeface="Calibri"/>
              <a:cs typeface="Calibri"/>
              <a:sym typeface="Calibri"/>
            </a:endParaRPr>
          </a:p>
        </p:txBody>
      </p:sp>
      <p:sp>
        <p:nvSpPr>
          <p:cNvPr id="223" name="Google Shape;223;p7"/>
          <p:cNvSpPr/>
          <p:nvPr/>
        </p:nvSpPr>
        <p:spPr>
          <a:xfrm>
            <a:off x="548640" y="658368"/>
            <a:ext cx="987552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1295C"/>
              </a:buClr>
              <a:buSzPts val="3000"/>
              <a:buFont typeface="Cambria"/>
              <a:buNone/>
            </a:pPr>
            <a:r>
              <a:rPr b="1" i="0" lang="en-US" sz="3000" u="none" cap="none" strike="noStrike">
                <a:solidFill>
                  <a:srgbClr val="21295C"/>
                </a:solidFill>
                <a:latin typeface="Cambria"/>
                <a:ea typeface="Cambria"/>
                <a:cs typeface="Cambria"/>
                <a:sym typeface="Cambria"/>
              </a:rPr>
              <a:t>Classical ML — Regularised SVD</a:t>
            </a:r>
            <a:endParaRPr b="0" i="0" sz="3000" u="none" cap="none" strike="noStrike">
              <a:solidFill>
                <a:schemeClr val="dk1"/>
              </a:solidFill>
              <a:latin typeface="Calibri"/>
              <a:ea typeface="Calibri"/>
              <a:cs typeface="Calibri"/>
              <a:sym typeface="Calibri"/>
            </a:endParaRPr>
          </a:p>
        </p:txBody>
      </p:sp>
      <p:sp>
        <p:nvSpPr>
          <p:cNvPr id="224" name="Google Shape;224;p7"/>
          <p:cNvSpPr/>
          <p:nvPr/>
        </p:nvSpPr>
        <p:spPr>
          <a:xfrm>
            <a:off x="548640" y="1737360"/>
            <a:ext cx="5577840" cy="1371600"/>
          </a:xfrm>
          <a:prstGeom prst="roundRect">
            <a:avLst>
              <a:gd fmla="val 5333" name="adj"/>
            </a:avLst>
          </a:prstGeom>
          <a:solidFill>
            <a:srgbClr val="2129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7"/>
          <p:cNvSpPr/>
          <p:nvPr/>
        </p:nvSpPr>
        <p:spPr>
          <a:xfrm>
            <a:off x="548640" y="1737360"/>
            <a:ext cx="5577840" cy="1371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8A33D"/>
              </a:buClr>
              <a:buSzPts val="2200"/>
              <a:buFont typeface="Cambria Math"/>
              <a:buNone/>
            </a:pPr>
            <a:r>
              <a:rPr b="1" i="0" lang="en-US" sz="2200" u="none" cap="none" strike="noStrike">
                <a:solidFill>
                  <a:srgbClr val="E8A33D"/>
                </a:solidFill>
                <a:latin typeface="Cambria Math"/>
                <a:ea typeface="Cambria Math"/>
                <a:cs typeface="Cambria Math"/>
                <a:sym typeface="Cambria Math"/>
              </a:rPr>
              <a:t>r̂ui = μ + bu + bi + puTqi</a:t>
            </a:r>
            <a:endParaRPr b="0" i="0" sz="2200" u="none" cap="none" strike="noStrike">
              <a:solidFill>
                <a:schemeClr val="dk1"/>
              </a:solidFill>
              <a:latin typeface="Calibri"/>
              <a:ea typeface="Calibri"/>
              <a:cs typeface="Calibri"/>
              <a:sym typeface="Calibri"/>
            </a:endParaRPr>
          </a:p>
        </p:txBody>
      </p:sp>
      <p:sp>
        <p:nvSpPr>
          <p:cNvPr id="226" name="Google Shape;226;p7"/>
          <p:cNvSpPr/>
          <p:nvPr/>
        </p:nvSpPr>
        <p:spPr>
          <a:xfrm>
            <a:off x="548640" y="3200400"/>
            <a:ext cx="557784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B6B80"/>
              </a:buClr>
              <a:buSzPts val="1050"/>
              <a:buFont typeface="Calibri"/>
              <a:buNone/>
            </a:pPr>
            <a:r>
              <a:rPr b="0" i="1" lang="en-US" sz="1050" u="none" cap="none" strike="noStrike">
                <a:solidFill>
                  <a:srgbClr val="5B6B80"/>
                </a:solidFill>
                <a:latin typeface="Calibri"/>
                <a:ea typeface="Calibri"/>
                <a:cs typeface="Calibri"/>
                <a:sym typeface="Calibri"/>
              </a:rPr>
              <a:t>global mean  +  user bias  +  item bias  +  latent-factor interaction</a:t>
            </a:r>
            <a:endParaRPr b="0" i="0" sz="1050" u="none" cap="none" strike="noStrike">
              <a:solidFill>
                <a:schemeClr val="dk1"/>
              </a:solidFill>
              <a:latin typeface="Calibri"/>
              <a:ea typeface="Calibri"/>
              <a:cs typeface="Calibri"/>
              <a:sym typeface="Calibri"/>
            </a:endParaRPr>
          </a:p>
        </p:txBody>
      </p:sp>
      <p:sp>
        <p:nvSpPr>
          <p:cNvPr id="227" name="Google Shape;227;p7"/>
          <p:cNvSpPr/>
          <p:nvPr/>
        </p:nvSpPr>
        <p:spPr>
          <a:xfrm>
            <a:off x="548640" y="3749040"/>
            <a:ext cx="55778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430"/>
              </a:buClr>
              <a:buSzPts val="1400"/>
              <a:buFont typeface="Cambria"/>
              <a:buNone/>
            </a:pPr>
            <a:r>
              <a:rPr b="1" i="0" lang="en-US" sz="1400" u="none" cap="none" strike="noStrike">
                <a:solidFill>
                  <a:srgbClr val="1B2430"/>
                </a:solidFill>
                <a:latin typeface="Cambria"/>
                <a:ea typeface="Cambria"/>
                <a:cs typeface="Cambria"/>
                <a:sym typeface="Cambria"/>
              </a:rPr>
              <a:t>Why this model?</a:t>
            </a:r>
            <a:endParaRPr b="0" i="0" sz="1400" u="none" cap="none" strike="noStrike">
              <a:solidFill>
                <a:schemeClr val="dk1"/>
              </a:solidFill>
              <a:latin typeface="Calibri"/>
              <a:ea typeface="Calibri"/>
              <a:cs typeface="Calibri"/>
              <a:sym typeface="Calibri"/>
            </a:endParaRPr>
          </a:p>
        </p:txBody>
      </p:sp>
      <p:sp>
        <p:nvSpPr>
          <p:cNvPr id="228" name="Google Shape;228;p7"/>
          <p:cNvSpPr/>
          <p:nvPr/>
        </p:nvSpPr>
        <p:spPr>
          <a:xfrm>
            <a:off x="548640" y="4114800"/>
            <a:ext cx="557784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80"/>
              </a:buClr>
              <a:buSzPts val="1200"/>
              <a:buFont typeface="Calibri"/>
              <a:buNone/>
            </a:pPr>
            <a:r>
              <a:rPr b="0" i="0" lang="en-US" sz="1200" u="none" cap="none" strike="noStrike">
                <a:solidFill>
                  <a:srgbClr val="5B6B80"/>
                </a:solidFill>
                <a:latin typeface="Calibri"/>
                <a:ea typeface="Calibri"/>
                <a:cs typeface="Calibri"/>
                <a:sym typeface="Calibri"/>
              </a:rPr>
              <a:t>The Netflix-Prize-style baseline: transparent structure, fast to train, still a strong production default across the industry.</a:t>
            </a:r>
            <a:endParaRPr b="0" i="0" sz="1200" u="none" cap="none" strike="noStrike">
              <a:solidFill>
                <a:schemeClr val="dk1"/>
              </a:solidFill>
              <a:latin typeface="Calibri"/>
              <a:ea typeface="Calibri"/>
              <a:cs typeface="Calibri"/>
              <a:sym typeface="Calibri"/>
            </a:endParaRPr>
          </a:p>
        </p:txBody>
      </p:sp>
      <p:sp>
        <p:nvSpPr>
          <p:cNvPr id="229" name="Google Shape;229;p7"/>
          <p:cNvSpPr/>
          <p:nvPr/>
        </p:nvSpPr>
        <p:spPr>
          <a:xfrm>
            <a:off x="6492240" y="1737360"/>
            <a:ext cx="51206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430"/>
              </a:buClr>
              <a:buSzPts val="1400"/>
              <a:buFont typeface="Cambria"/>
              <a:buNone/>
            </a:pPr>
            <a:r>
              <a:rPr b="1" i="0" lang="en-US" sz="1400" u="none" cap="none" strike="noStrike">
                <a:solidFill>
                  <a:srgbClr val="1B2430"/>
                </a:solidFill>
                <a:latin typeface="Cambria"/>
                <a:ea typeface="Cambria"/>
                <a:cs typeface="Cambria"/>
                <a:sym typeface="Cambria"/>
              </a:rPr>
              <a:t>Key hyperparameters (validated via grid search)</a:t>
            </a:r>
            <a:endParaRPr b="0" i="0" sz="1400" u="none" cap="none" strike="noStrike">
              <a:solidFill>
                <a:schemeClr val="dk1"/>
              </a:solidFill>
              <a:latin typeface="Calibri"/>
              <a:ea typeface="Calibri"/>
              <a:cs typeface="Calibri"/>
              <a:sym typeface="Calibri"/>
            </a:endParaRPr>
          </a:p>
        </p:txBody>
      </p:sp>
      <p:sp>
        <p:nvSpPr>
          <p:cNvPr id="230" name="Google Shape;230;p7"/>
          <p:cNvSpPr/>
          <p:nvPr/>
        </p:nvSpPr>
        <p:spPr>
          <a:xfrm>
            <a:off x="6492240" y="2194560"/>
            <a:ext cx="5120640" cy="640080"/>
          </a:xfrm>
          <a:prstGeom prst="roundRect">
            <a:avLst>
              <a:gd fmla="val 8571" name="adj"/>
            </a:avLst>
          </a:prstGeom>
          <a:solidFill>
            <a:srgbClr val="F0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7"/>
          <p:cNvSpPr/>
          <p:nvPr/>
        </p:nvSpPr>
        <p:spPr>
          <a:xfrm>
            <a:off x="6720840" y="2258568"/>
            <a:ext cx="18288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65A82"/>
              </a:buClr>
              <a:buSzPts val="1300"/>
              <a:buFont typeface="Calibri"/>
              <a:buNone/>
            </a:pPr>
            <a:r>
              <a:rPr b="1" i="0" lang="en-US" sz="1300" u="none" cap="none" strike="noStrike">
                <a:solidFill>
                  <a:srgbClr val="065A82"/>
                </a:solidFill>
                <a:latin typeface="Calibri"/>
                <a:ea typeface="Calibri"/>
                <a:cs typeface="Calibri"/>
                <a:sym typeface="Calibri"/>
              </a:rPr>
              <a:t>n_factors</a:t>
            </a:r>
            <a:endParaRPr b="0" i="0" sz="1300" u="none" cap="none" strike="noStrike">
              <a:solidFill>
                <a:schemeClr val="dk1"/>
              </a:solidFill>
              <a:latin typeface="Calibri"/>
              <a:ea typeface="Calibri"/>
              <a:cs typeface="Calibri"/>
              <a:sym typeface="Calibri"/>
            </a:endParaRPr>
          </a:p>
        </p:txBody>
      </p:sp>
      <p:sp>
        <p:nvSpPr>
          <p:cNvPr id="232" name="Google Shape;232;p7"/>
          <p:cNvSpPr/>
          <p:nvPr/>
        </p:nvSpPr>
        <p:spPr>
          <a:xfrm>
            <a:off x="8503920" y="2258568"/>
            <a:ext cx="292608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430"/>
              </a:buClr>
              <a:buSzPts val="1150"/>
              <a:buFont typeface="Calibri"/>
              <a:buNone/>
            </a:pPr>
            <a:r>
              <a:rPr b="0" i="0" lang="en-US" sz="1150" u="none" cap="none" strike="noStrike">
                <a:solidFill>
                  <a:srgbClr val="1B2430"/>
                </a:solidFill>
                <a:latin typeface="Calibri"/>
                <a:ea typeface="Calibri"/>
                <a:cs typeface="Calibri"/>
                <a:sym typeface="Calibri"/>
              </a:rPr>
              <a:t>10 / 20 / 40 tested</a:t>
            </a:r>
            <a:endParaRPr b="0" i="0" sz="1150" u="none" cap="none" strike="noStrike">
              <a:solidFill>
                <a:schemeClr val="dk1"/>
              </a:solidFill>
              <a:latin typeface="Calibri"/>
              <a:ea typeface="Calibri"/>
              <a:cs typeface="Calibri"/>
              <a:sym typeface="Calibri"/>
            </a:endParaRPr>
          </a:p>
        </p:txBody>
      </p:sp>
      <p:sp>
        <p:nvSpPr>
          <p:cNvPr id="233" name="Google Shape;233;p7"/>
          <p:cNvSpPr/>
          <p:nvPr/>
        </p:nvSpPr>
        <p:spPr>
          <a:xfrm>
            <a:off x="6492240" y="2971800"/>
            <a:ext cx="5120640" cy="640080"/>
          </a:xfrm>
          <a:prstGeom prst="roundRect">
            <a:avLst>
              <a:gd fmla="val 8571" name="adj"/>
            </a:avLst>
          </a:prstGeom>
          <a:solidFill>
            <a:srgbClr val="F0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7"/>
          <p:cNvSpPr/>
          <p:nvPr/>
        </p:nvSpPr>
        <p:spPr>
          <a:xfrm>
            <a:off x="6720840" y="3035808"/>
            <a:ext cx="18288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65A82"/>
              </a:buClr>
              <a:buSzPts val="1300"/>
              <a:buFont typeface="Calibri"/>
              <a:buNone/>
            </a:pPr>
            <a:r>
              <a:rPr b="1" i="0" lang="en-US" sz="1300" u="none" cap="none" strike="noStrike">
                <a:solidFill>
                  <a:srgbClr val="065A82"/>
                </a:solidFill>
                <a:latin typeface="Calibri"/>
                <a:ea typeface="Calibri"/>
                <a:cs typeface="Calibri"/>
                <a:sym typeface="Calibri"/>
              </a:rPr>
              <a:t>reg</a:t>
            </a:r>
            <a:endParaRPr b="0" i="0" sz="1300" u="none" cap="none" strike="noStrike">
              <a:solidFill>
                <a:schemeClr val="dk1"/>
              </a:solidFill>
              <a:latin typeface="Calibri"/>
              <a:ea typeface="Calibri"/>
              <a:cs typeface="Calibri"/>
              <a:sym typeface="Calibri"/>
            </a:endParaRPr>
          </a:p>
        </p:txBody>
      </p:sp>
      <p:sp>
        <p:nvSpPr>
          <p:cNvPr id="235" name="Google Shape;235;p7"/>
          <p:cNvSpPr/>
          <p:nvPr/>
        </p:nvSpPr>
        <p:spPr>
          <a:xfrm>
            <a:off x="8503920" y="3035808"/>
            <a:ext cx="292608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430"/>
              </a:buClr>
              <a:buSzPts val="1150"/>
              <a:buFont typeface="Calibri"/>
              <a:buNone/>
            </a:pPr>
            <a:r>
              <a:rPr b="0" i="0" lang="en-US" sz="1150" u="none" cap="none" strike="noStrike">
                <a:solidFill>
                  <a:srgbClr val="1B2430"/>
                </a:solidFill>
                <a:latin typeface="Calibri"/>
                <a:ea typeface="Calibri"/>
                <a:cs typeface="Calibri"/>
                <a:sym typeface="Calibri"/>
              </a:rPr>
              <a:t>0.02 / 0.05 / 0.1 tested</a:t>
            </a:r>
            <a:endParaRPr b="0" i="0" sz="1150" u="none" cap="none" strike="noStrike">
              <a:solidFill>
                <a:schemeClr val="dk1"/>
              </a:solidFill>
              <a:latin typeface="Calibri"/>
              <a:ea typeface="Calibri"/>
              <a:cs typeface="Calibri"/>
              <a:sym typeface="Calibri"/>
            </a:endParaRPr>
          </a:p>
        </p:txBody>
      </p:sp>
      <p:sp>
        <p:nvSpPr>
          <p:cNvPr id="236" name="Google Shape;236;p7"/>
          <p:cNvSpPr/>
          <p:nvPr/>
        </p:nvSpPr>
        <p:spPr>
          <a:xfrm>
            <a:off x="6492240" y="3749040"/>
            <a:ext cx="5120640" cy="640080"/>
          </a:xfrm>
          <a:prstGeom prst="roundRect">
            <a:avLst>
              <a:gd fmla="val 8571" name="adj"/>
            </a:avLst>
          </a:prstGeom>
          <a:solidFill>
            <a:srgbClr val="F0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7"/>
          <p:cNvSpPr/>
          <p:nvPr/>
        </p:nvSpPr>
        <p:spPr>
          <a:xfrm>
            <a:off x="6720840" y="3813048"/>
            <a:ext cx="18288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65A82"/>
              </a:buClr>
              <a:buSzPts val="1300"/>
              <a:buFont typeface="Calibri"/>
              <a:buNone/>
            </a:pPr>
            <a:r>
              <a:rPr b="1" i="0" lang="en-US" sz="1300" u="none" cap="none" strike="noStrike">
                <a:solidFill>
                  <a:srgbClr val="065A82"/>
                </a:solidFill>
                <a:latin typeface="Calibri"/>
                <a:ea typeface="Calibri"/>
                <a:cs typeface="Calibri"/>
                <a:sym typeface="Calibri"/>
              </a:rPr>
              <a:t>lr</a:t>
            </a:r>
            <a:endParaRPr b="0" i="0" sz="1300" u="none" cap="none" strike="noStrike">
              <a:solidFill>
                <a:schemeClr val="dk1"/>
              </a:solidFill>
              <a:latin typeface="Calibri"/>
              <a:ea typeface="Calibri"/>
              <a:cs typeface="Calibri"/>
              <a:sym typeface="Calibri"/>
            </a:endParaRPr>
          </a:p>
        </p:txBody>
      </p:sp>
      <p:sp>
        <p:nvSpPr>
          <p:cNvPr id="238" name="Google Shape;238;p7"/>
          <p:cNvSpPr/>
          <p:nvPr/>
        </p:nvSpPr>
        <p:spPr>
          <a:xfrm>
            <a:off x="8503920" y="3813048"/>
            <a:ext cx="292608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430"/>
              </a:buClr>
              <a:buSzPts val="1150"/>
              <a:buFont typeface="Calibri"/>
              <a:buNone/>
            </a:pPr>
            <a:r>
              <a:rPr b="0" i="0" lang="en-US" sz="1150" u="none" cap="none" strike="noStrike">
                <a:solidFill>
                  <a:srgbClr val="1B2430"/>
                </a:solidFill>
                <a:latin typeface="Calibri"/>
                <a:ea typeface="Calibri"/>
                <a:cs typeface="Calibri"/>
                <a:sym typeface="Calibri"/>
              </a:rPr>
              <a:t>0.01</a:t>
            </a:r>
            <a:endParaRPr b="0" i="0" sz="1150" u="none" cap="none" strike="noStrike">
              <a:solidFill>
                <a:schemeClr val="dk1"/>
              </a:solidFill>
              <a:latin typeface="Calibri"/>
              <a:ea typeface="Calibri"/>
              <a:cs typeface="Calibri"/>
              <a:sym typeface="Calibri"/>
            </a:endParaRPr>
          </a:p>
        </p:txBody>
      </p:sp>
      <p:sp>
        <p:nvSpPr>
          <p:cNvPr id="239" name="Google Shape;239;p7"/>
          <p:cNvSpPr/>
          <p:nvPr/>
        </p:nvSpPr>
        <p:spPr>
          <a:xfrm>
            <a:off x="6492240" y="4526280"/>
            <a:ext cx="5120640" cy="640080"/>
          </a:xfrm>
          <a:prstGeom prst="roundRect">
            <a:avLst>
              <a:gd fmla="val 8571" name="adj"/>
            </a:avLst>
          </a:prstGeom>
          <a:solidFill>
            <a:srgbClr val="F0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7"/>
          <p:cNvSpPr/>
          <p:nvPr/>
        </p:nvSpPr>
        <p:spPr>
          <a:xfrm>
            <a:off x="6720840" y="4590288"/>
            <a:ext cx="18288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65A82"/>
              </a:buClr>
              <a:buSzPts val="1300"/>
              <a:buFont typeface="Calibri"/>
              <a:buNone/>
            </a:pPr>
            <a:r>
              <a:rPr b="1" i="0" lang="en-US" sz="1300" u="none" cap="none" strike="noStrike">
                <a:solidFill>
                  <a:srgbClr val="065A82"/>
                </a:solidFill>
                <a:latin typeface="Calibri"/>
                <a:ea typeface="Calibri"/>
                <a:cs typeface="Calibri"/>
                <a:sym typeface="Calibri"/>
              </a:rPr>
              <a:t>epochs</a:t>
            </a:r>
            <a:endParaRPr b="0" i="0" sz="1300" u="none" cap="none" strike="noStrike">
              <a:solidFill>
                <a:schemeClr val="dk1"/>
              </a:solidFill>
              <a:latin typeface="Calibri"/>
              <a:ea typeface="Calibri"/>
              <a:cs typeface="Calibri"/>
              <a:sym typeface="Calibri"/>
            </a:endParaRPr>
          </a:p>
        </p:txBody>
      </p:sp>
      <p:sp>
        <p:nvSpPr>
          <p:cNvPr id="241" name="Google Shape;241;p7"/>
          <p:cNvSpPr/>
          <p:nvPr/>
        </p:nvSpPr>
        <p:spPr>
          <a:xfrm>
            <a:off x="8503920" y="4590288"/>
            <a:ext cx="292608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430"/>
              </a:buClr>
              <a:buSzPts val="1150"/>
              <a:buFont typeface="Calibri"/>
              <a:buNone/>
            </a:pPr>
            <a:r>
              <a:rPr b="0" i="0" lang="en-US" sz="1150" u="none" cap="none" strike="noStrike">
                <a:solidFill>
                  <a:srgbClr val="1B2430"/>
                </a:solidFill>
                <a:latin typeface="Calibri"/>
                <a:ea typeface="Calibri"/>
                <a:cs typeface="Calibri"/>
                <a:sym typeface="Calibri"/>
              </a:rPr>
              <a:t>30, with validation tracking</a:t>
            </a:r>
            <a:endParaRPr b="0" i="0" sz="1150" u="none" cap="none" strike="noStrike">
              <a:solidFill>
                <a:schemeClr val="dk1"/>
              </a:solidFill>
              <a:latin typeface="Calibri"/>
              <a:ea typeface="Calibri"/>
              <a:cs typeface="Calibri"/>
              <a:sym typeface="Calibri"/>
            </a:endParaRPr>
          </a:p>
        </p:txBody>
      </p:sp>
      <p:sp>
        <p:nvSpPr>
          <p:cNvPr id="242" name="Google Shape;242;p7"/>
          <p:cNvSpPr/>
          <p:nvPr/>
        </p:nvSpPr>
        <p:spPr>
          <a:xfrm>
            <a:off x="11521440" y="6446520"/>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6B80"/>
              </a:buClr>
              <a:buSzPts val="1000"/>
              <a:buFont typeface="Calibri"/>
              <a:buNone/>
            </a:pPr>
            <a:r>
              <a:rPr b="0" i="0" lang="en-US" sz="1000" u="none" cap="none" strike="noStrike">
                <a:solidFill>
                  <a:srgbClr val="5B6B80"/>
                </a:solidFill>
                <a:latin typeface="Calibri"/>
                <a:ea typeface="Calibri"/>
                <a:cs typeface="Calibri"/>
                <a:sym typeface="Calibri"/>
              </a:rPr>
              <a:t>07</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7" name="Shape 247"/>
        <p:cNvGrpSpPr/>
        <p:nvPr/>
      </p:nvGrpSpPr>
      <p:grpSpPr>
        <a:xfrm>
          <a:off x="0" y="0"/>
          <a:ext cx="0" cy="0"/>
          <a:chOff x="0" y="0"/>
          <a:chExt cx="0" cy="0"/>
        </a:xfrm>
      </p:grpSpPr>
      <p:cxnSp>
        <p:nvCxnSpPr>
          <p:cNvPr id="248" name="Google Shape;248;p8"/>
          <p:cNvCxnSpPr/>
          <p:nvPr/>
        </p:nvCxnSpPr>
        <p:spPr>
          <a:xfrm flipH="1" rot="10800000">
            <a:off x="11292840" y="521208"/>
            <a:ext cx="320040" cy="91440"/>
          </a:xfrm>
          <a:prstGeom prst="straightConnector1">
            <a:avLst/>
          </a:prstGeom>
          <a:noFill/>
          <a:ln cap="flat" cmpd="sng" w="12700">
            <a:solidFill>
              <a:srgbClr val="C7D6E0"/>
            </a:solidFill>
            <a:prstDash val="solid"/>
            <a:round/>
            <a:headEnd len="sm" w="sm" type="none"/>
            <a:tailEnd len="sm" w="sm" type="none"/>
          </a:ln>
        </p:spPr>
      </p:cxnSp>
      <p:cxnSp>
        <p:nvCxnSpPr>
          <p:cNvPr id="249" name="Google Shape;249;p8"/>
          <p:cNvCxnSpPr/>
          <p:nvPr/>
        </p:nvCxnSpPr>
        <p:spPr>
          <a:xfrm>
            <a:off x="11612880" y="521208"/>
            <a:ext cx="274320" cy="137160"/>
          </a:xfrm>
          <a:prstGeom prst="straightConnector1">
            <a:avLst/>
          </a:prstGeom>
          <a:noFill/>
          <a:ln cap="flat" cmpd="sng" w="12700">
            <a:solidFill>
              <a:srgbClr val="C7D6E0"/>
            </a:solidFill>
            <a:prstDash val="solid"/>
            <a:round/>
            <a:headEnd len="sm" w="sm" type="none"/>
            <a:tailEnd len="sm" w="sm" type="none"/>
          </a:ln>
        </p:spPr>
      </p:cxnSp>
      <p:sp>
        <p:nvSpPr>
          <p:cNvPr id="250" name="Google Shape;250;p8"/>
          <p:cNvSpPr/>
          <p:nvPr/>
        </p:nvSpPr>
        <p:spPr>
          <a:xfrm>
            <a:off x="11247120" y="566928"/>
            <a:ext cx="91440" cy="91440"/>
          </a:xfrm>
          <a:prstGeom prst="ellipse">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8"/>
          <p:cNvSpPr/>
          <p:nvPr/>
        </p:nvSpPr>
        <p:spPr>
          <a:xfrm>
            <a:off x="11567160" y="475488"/>
            <a:ext cx="73152" cy="73152"/>
          </a:xfrm>
          <a:prstGeom prst="ellipse">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8"/>
          <p:cNvSpPr/>
          <p:nvPr/>
        </p:nvSpPr>
        <p:spPr>
          <a:xfrm>
            <a:off x="11841480" y="612648"/>
            <a:ext cx="82296" cy="82296"/>
          </a:xfrm>
          <a:prstGeom prst="ellipse">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8"/>
          <p:cNvSpPr/>
          <p:nvPr/>
        </p:nvSpPr>
        <p:spPr>
          <a:xfrm>
            <a:off x="548640" y="384048"/>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7293"/>
              </a:buClr>
              <a:buSzPts val="1200"/>
              <a:buFont typeface="Calibri"/>
              <a:buNone/>
            </a:pPr>
            <a:r>
              <a:rPr b="1" i="0" lang="en-US" sz="1200" u="none" cap="none" strike="noStrike">
                <a:solidFill>
                  <a:srgbClr val="1C7293"/>
                </a:solidFill>
                <a:latin typeface="Calibri"/>
                <a:ea typeface="Calibri"/>
                <a:cs typeface="Calibri"/>
                <a:sym typeface="Calibri"/>
              </a:rPr>
              <a:t>02 · MODEL DESIGN</a:t>
            </a:r>
            <a:endParaRPr b="0" i="0" sz="1200" u="none" cap="none" strike="noStrike">
              <a:solidFill>
                <a:schemeClr val="dk1"/>
              </a:solidFill>
              <a:latin typeface="Calibri"/>
              <a:ea typeface="Calibri"/>
              <a:cs typeface="Calibri"/>
              <a:sym typeface="Calibri"/>
            </a:endParaRPr>
          </a:p>
        </p:txBody>
      </p:sp>
      <p:sp>
        <p:nvSpPr>
          <p:cNvPr id="254" name="Google Shape;254;p8"/>
          <p:cNvSpPr/>
          <p:nvPr/>
        </p:nvSpPr>
        <p:spPr>
          <a:xfrm>
            <a:off x="548640" y="658368"/>
            <a:ext cx="987552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1295C"/>
              </a:buClr>
              <a:buSzPts val="3000"/>
              <a:buFont typeface="Cambria"/>
              <a:buNone/>
            </a:pPr>
            <a:r>
              <a:rPr b="1" i="0" lang="en-US" sz="3000" u="none" cap="none" strike="noStrike">
                <a:solidFill>
                  <a:srgbClr val="21295C"/>
                </a:solidFill>
                <a:latin typeface="Cambria"/>
                <a:ea typeface="Cambria"/>
                <a:cs typeface="Cambria"/>
                <a:sym typeface="Cambria"/>
              </a:rPr>
              <a:t>Deep Learning — Neural Collaborative Filtering</a:t>
            </a:r>
            <a:endParaRPr b="0" i="0" sz="3000" u="none" cap="none" strike="noStrike">
              <a:solidFill>
                <a:schemeClr val="dk1"/>
              </a:solidFill>
              <a:latin typeface="Calibri"/>
              <a:ea typeface="Calibri"/>
              <a:cs typeface="Calibri"/>
              <a:sym typeface="Calibri"/>
            </a:endParaRPr>
          </a:p>
        </p:txBody>
      </p:sp>
      <p:sp>
        <p:nvSpPr>
          <p:cNvPr id="255" name="Google Shape;255;p8"/>
          <p:cNvSpPr/>
          <p:nvPr/>
        </p:nvSpPr>
        <p:spPr>
          <a:xfrm>
            <a:off x="640080" y="1737360"/>
            <a:ext cx="2331720" cy="822960"/>
          </a:xfrm>
          <a:prstGeom prst="roundRect">
            <a:avLst>
              <a:gd fmla="val 6667" name="adj"/>
            </a:avLst>
          </a:prstGeom>
          <a:solidFill>
            <a:srgbClr val="065A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8"/>
          <p:cNvSpPr/>
          <p:nvPr/>
        </p:nvSpPr>
        <p:spPr>
          <a:xfrm>
            <a:off x="640080" y="1737360"/>
            <a:ext cx="2331720" cy="8229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User Embedding</a:t>
            </a:r>
            <a:endParaRPr b="0" i="0" sz="11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(32-dim)</a:t>
            </a:r>
            <a:endParaRPr b="0" i="0" sz="1150" u="none" cap="none" strike="noStrike">
              <a:solidFill>
                <a:schemeClr val="dk1"/>
              </a:solidFill>
              <a:latin typeface="Calibri"/>
              <a:ea typeface="Calibri"/>
              <a:cs typeface="Calibri"/>
              <a:sym typeface="Calibri"/>
            </a:endParaRPr>
          </a:p>
        </p:txBody>
      </p:sp>
      <p:cxnSp>
        <p:nvCxnSpPr>
          <p:cNvPr id="257" name="Google Shape;257;p8"/>
          <p:cNvCxnSpPr/>
          <p:nvPr/>
        </p:nvCxnSpPr>
        <p:spPr>
          <a:xfrm>
            <a:off x="1805940" y="2560320"/>
            <a:ext cx="0" cy="457200"/>
          </a:xfrm>
          <a:prstGeom prst="straightConnector1">
            <a:avLst/>
          </a:prstGeom>
          <a:noFill/>
          <a:ln cap="flat" cmpd="sng" w="19050">
            <a:solidFill>
              <a:srgbClr val="5B6B80"/>
            </a:solidFill>
            <a:prstDash val="solid"/>
            <a:round/>
            <a:headEnd len="sm" w="sm" type="none"/>
            <a:tailEnd len="med" w="med" type="triangle"/>
          </a:ln>
        </p:spPr>
      </p:cxnSp>
      <p:sp>
        <p:nvSpPr>
          <p:cNvPr id="258" name="Google Shape;258;p8"/>
          <p:cNvSpPr/>
          <p:nvPr/>
        </p:nvSpPr>
        <p:spPr>
          <a:xfrm>
            <a:off x="3200400" y="1737360"/>
            <a:ext cx="2331720" cy="822960"/>
          </a:xfrm>
          <a:prstGeom prst="roundRect">
            <a:avLst>
              <a:gd fmla="val 6667" name="adj"/>
            </a:avLst>
          </a:prstGeom>
          <a:solidFill>
            <a:srgbClr val="065A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8"/>
          <p:cNvSpPr/>
          <p:nvPr/>
        </p:nvSpPr>
        <p:spPr>
          <a:xfrm>
            <a:off x="3200400" y="1737360"/>
            <a:ext cx="2331720" cy="8229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Item Embedding</a:t>
            </a:r>
            <a:endParaRPr b="0" i="0" sz="11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(32-dim)</a:t>
            </a:r>
            <a:endParaRPr b="0" i="0" sz="1150" u="none" cap="none" strike="noStrike">
              <a:solidFill>
                <a:schemeClr val="dk1"/>
              </a:solidFill>
              <a:latin typeface="Calibri"/>
              <a:ea typeface="Calibri"/>
              <a:cs typeface="Calibri"/>
              <a:sym typeface="Calibri"/>
            </a:endParaRPr>
          </a:p>
        </p:txBody>
      </p:sp>
      <p:cxnSp>
        <p:nvCxnSpPr>
          <p:cNvPr id="260" name="Google Shape;260;p8"/>
          <p:cNvCxnSpPr/>
          <p:nvPr/>
        </p:nvCxnSpPr>
        <p:spPr>
          <a:xfrm>
            <a:off x="4366260" y="2560320"/>
            <a:ext cx="0" cy="457200"/>
          </a:xfrm>
          <a:prstGeom prst="straightConnector1">
            <a:avLst/>
          </a:prstGeom>
          <a:noFill/>
          <a:ln cap="flat" cmpd="sng" w="19050">
            <a:solidFill>
              <a:srgbClr val="5B6B80"/>
            </a:solidFill>
            <a:prstDash val="solid"/>
            <a:round/>
            <a:headEnd len="sm" w="sm" type="none"/>
            <a:tailEnd len="med" w="med" type="triangle"/>
          </a:ln>
        </p:spPr>
      </p:cxnSp>
      <p:sp>
        <p:nvSpPr>
          <p:cNvPr id="261" name="Google Shape;261;p8"/>
          <p:cNvSpPr/>
          <p:nvPr/>
        </p:nvSpPr>
        <p:spPr>
          <a:xfrm>
            <a:off x="5760720" y="1737360"/>
            <a:ext cx="2331720" cy="822960"/>
          </a:xfrm>
          <a:prstGeom prst="roundRect">
            <a:avLst>
              <a:gd fmla="val 6667" name="adj"/>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8"/>
          <p:cNvSpPr/>
          <p:nvPr/>
        </p:nvSpPr>
        <p:spPr>
          <a:xfrm>
            <a:off x="5760720" y="1737360"/>
            <a:ext cx="2331720" cy="8229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Genre Flags</a:t>
            </a:r>
            <a:endParaRPr b="0" i="0" sz="11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(19-dim)</a:t>
            </a:r>
            <a:endParaRPr b="0" i="0" sz="1150" u="none" cap="none" strike="noStrike">
              <a:solidFill>
                <a:schemeClr val="dk1"/>
              </a:solidFill>
              <a:latin typeface="Calibri"/>
              <a:ea typeface="Calibri"/>
              <a:cs typeface="Calibri"/>
              <a:sym typeface="Calibri"/>
            </a:endParaRPr>
          </a:p>
        </p:txBody>
      </p:sp>
      <p:cxnSp>
        <p:nvCxnSpPr>
          <p:cNvPr id="263" name="Google Shape;263;p8"/>
          <p:cNvCxnSpPr/>
          <p:nvPr/>
        </p:nvCxnSpPr>
        <p:spPr>
          <a:xfrm>
            <a:off x="6926580" y="2560320"/>
            <a:ext cx="0" cy="457200"/>
          </a:xfrm>
          <a:prstGeom prst="straightConnector1">
            <a:avLst/>
          </a:prstGeom>
          <a:noFill/>
          <a:ln cap="flat" cmpd="sng" w="19050">
            <a:solidFill>
              <a:srgbClr val="5B6B80"/>
            </a:solidFill>
            <a:prstDash val="solid"/>
            <a:round/>
            <a:headEnd len="sm" w="sm" type="none"/>
            <a:tailEnd len="med" w="med" type="triangle"/>
          </a:ln>
        </p:spPr>
      </p:cxnSp>
      <p:sp>
        <p:nvSpPr>
          <p:cNvPr id="264" name="Google Shape;264;p8"/>
          <p:cNvSpPr/>
          <p:nvPr/>
        </p:nvSpPr>
        <p:spPr>
          <a:xfrm>
            <a:off x="8321040" y="1737360"/>
            <a:ext cx="2331720" cy="822960"/>
          </a:xfrm>
          <a:prstGeom prst="roundRect">
            <a:avLst>
              <a:gd fmla="val 6667" name="adj"/>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8"/>
          <p:cNvSpPr/>
          <p:nvPr/>
        </p:nvSpPr>
        <p:spPr>
          <a:xfrm>
            <a:off x="8321040" y="1737360"/>
            <a:ext cx="2331720" cy="8229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Age Embedding</a:t>
            </a:r>
            <a:endParaRPr b="0" i="0" sz="11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(8-dim)</a:t>
            </a:r>
            <a:endParaRPr b="0" i="0" sz="1150" u="none" cap="none" strike="noStrike">
              <a:solidFill>
                <a:schemeClr val="dk1"/>
              </a:solidFill>
              <a:latin typeface="Calibri"/>
              <a:ea typeface="Calibri"/>
              <a:cs typeface="Calibri"/>
              <a:sym typeface="Calibri"/>
            </a:endParaRPr>
          </a:p>
        </p:txBody>
      </p:sp>
      <p:cxnSp>
        <p:nvCxnSpPr>
          <p:cNvPr id="266" name="Google Shape;266;p8"/>
          <p:cNvCxnSpPr/>
          <p:nvPr/>
        </p:nvCxnSpPr>
        <p:spPr>
          <a:xfrm>
            <a:off x="9486900" y="2560320"/>
            <a:ext cx="0" cy="457200"/>
          </a:xfrm>
          <a:prstGeom prst="straightConnector1">
            <a:avLst/>
          </a:prstGeom>
          <a:noFill/>
          <a:ln cap="flat" cmpd="sng" w="19050">
            <a:solidFill>
              <a:srgbClr val="5B6B80"/>
            </a:solidFill>
            <a:prstDash val="solid"/>
            <a:round/>
            <a:headEnd len="sm" w="sm" type="none"/>
            <a:tailEnd len="med" w="med" type="triangle"/>
          </a:ln>
        </p:spPr>
      </p:cxnSp>
      <p:sp>
        <p:nvSpPr>
          <p:cNvPr id="267" name="Google Shape;267;p8"/>
          <p:cNvSpPr/>
          <p:nvPr/>
        </p:nvSpPr>
        <p:spPr>
          <a:xfrm>
            <a:off x="640080" y="3063240"/>
            <a:ext cx="10881360" cy="685800"/>
          </a:xfrm>
          <a:prstGeom prst="roundRect">
            <a:avLst>
              <a:gd fmla="val 8000" name="adj"/>
            </a:avLst>
          </a:prstGeom>
          <a:solidFill>
            <a:srgbClr val="2129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8"/>
          <p:cNvSpPr/>
          <p:nvPr/>
        </p:nvSpPr>
        <p:spPr>
          <a:xfrm>
            <a:off x="640080" y="3063240"/>
            <a:ext cx="10881360" cy="68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Concatenate  -&gt;  91-dimensional input vector</a:t>
            </a:r>
            <a:endParaRPr b="0" i="0" sz="1400" u="none" cap="none" strike="noStrike">
              <a:solidFill>
                <a:schemeClr val="dk1"/>
              </a:solidFill>
              <a:latin typeface="Calibri"/>
              <a:ea typeface="Calibri"/>
              <a:cs typeface="Calibri"/>
              <a:sym typeface="Calibri"/>
            </a:endParaRPr>
          </a:p>
        </p:txBody>
      </p:sp>
      <p:cxnSp>
        <p:nvCxnSpPr>
          <p:cNvPr id="269" name="Google Shape;269;p8"/>
          <p:cNvCxnSpPr/>
          <p:nvPr/>
        </p:nvCxnSpPr>
        <p:spPr>
          <a:xfrm>
            <a:off x="6080760" y="3749040"/>
            <a:ext cx="0" cy="365760"/>
          </a:xfrm>
          <a:prstGeom prst="straightConnector1">
            <a:avLst/>
          </a:prstGeom>
          <a:noFill/>
          <a:ln cap="flat" cmpd="sng" w="19050">
            <a:solidFill>
              <a:srgbClr val="5B6B80"/>
            </a:solidFill>
            <a:prstDash val="solid"/>
            <a:round/>
            <a:headEnd len="sm" w="sm" type="none"/>
            <a:tailEnd len="med" w="med" type="triangle"/>
          </a:ln>
        </p:spPr>
      </p:cxnSp>
      <p:sp>
        <p:nvSpPr>
          <p:cNvPr id="270" name="Google Shape;270;p8"/>
          <p:cNvSpPr/>
          <p:nvPr/>
        </p:nvSpPr>
        <p:spPr>
          <a:xfrm>
            <a:off x="640080" y="4251960"/>
            <a:ext cx="10881360" cy="502920"/>
          </a:xfrm>
          <a:prstGeom prst="roundRect">
            <a:avLst>
              <a:gd fmla="val 10909" name="adj"/>
            </a:avLst>
          </a:prstGeom>
          <a:solidFill>
            <a:srgbClr val="F0F5F9"/>
          </a:solidFill>
          <a:ln cap="flat" cmpd="sng" w="12700">
            <a:solidFill>
              <a:srgbClr val="1C729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8"/>
          <p:cNvSpPr/>
          <p:nvPr/>
        </p:nvSpPr>
        <p:spPr>
          <a:xfrm>
            <a:off x="640080" y="4251960"/>
            <a:ext cx="1088136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430"/>
              </a:buClr>
              <a:buSzPts val="1200"/>
              <a:buFont typeface="Calibri"/>
              <a:buNone/>
            </a:pPr>
            <a:r>
              <a:rPr b="0" i="0" lang="en-US" sz="1200" u="none" cap="none" strike="noStrike">
                <a:solidFill>
                  <a:srgbClr val="1B2430"/>
                </a:solidFill>
                <a:latin typeface="Calibri"/>
                <a:ea typeface="Calibri"/>
                <a:cs typeface="Calibri"/>
                <a:sym typeface="Calibri"/>
              </a:rPr>
              <a:t>Dense(128) + ReLU + Dropout(0.2)</a:t>
            </a:r>
            <a:endParaRPr b="0" i="0" sz="1200" u="none" cap="none" strike="noStrike">
              <a:solidFill>
                <a:schemeClr val="dk1"/>
              </a:solidFill>
              <a:latin typeface="Calibri"/>
              <a:ea typeface="Calibri"/>
              <a:cs typeface="Calibri"/>
              <a:sym typeface="Calibri"/>
            </a:endParaRPr>
          </a:p>
        </p:txBody>
      </p:sp>
      <p:cxnSp>
        <p:nvCxnSpPr>
          <p:cNvPr id="272" name="Google Shape;272;p8"/>
          <p:cNvCxnSpPr/>
          <p:nvPr/>
        </p:nvCxnSpPr>
        <p:spPr>
          <a:xfrm>
            <a:off x="6094476" y="4754880"/>
            <a:ext cx="0" cy="155448"/>
          </a:xfrm>
          <a:prstGeom prst="straightConnector1">
            <a:avLst/>
          </a:prstGeom>
          <a:noFill/>
          <a:ln cap="flat" cmpd="sng" w="19050">
            <a:solidFill>
              <a:srgbClr val="5B6B80"/>
            </a:solidFill>
            <a:prstDash val="solid"/>
            <a:round/>
            <a:headEnd len="sm" w="sm" type="none"/>
            <a:tailEnd len="med" w="med" type="triangle"/>
          </a:ln>
        </p:spPr>
      </p:cxnSp>
      <p:sp>
        <p:nvSpPr>
          <p:cNvPr id="273" name="Google Shape;273;p8"/>
          <p:cNvSpPr/>
          <p:nvPr/>
        </p:nvSpPr>
        <p:spPr>
          <a:xfrm>
            <a:off x="1371600" y="4910328"/>
            <a:ext cx="9418320" cy="502920"/>
          </a:xfrm>
          <a:prstGeom prst="roundRect">
            <a:avLst>
              <a:gd fmla="val 10909" name="adj"/>
            </a:avLst>
          </a:prstGeom>
          <a:solidFill>
            <a:srgbClr val="F0F5F9"/>
          </a:solidFill>
          <a:ln cap="flat" cmpd="sng" w="12700">
            <a:solidFill>
              <a:srgbClr val="1C729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8"/>
          <p:cNvSpPr/>
          <p:nvPr/>
        </p:nvSpPr>
        <p:spPr>
          <a:xfrm>
            <a:off x="1371600" y="4910328"/>
            <a:ext cx="941832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430"/>
              </a:buClr>
              <a:buSzPts val="1200"/>
              <a:buFont typeface="Calibri"/>
              <a:buNone/>
            </a:pPr>
            <a:r>
              <a:rPr b="0" i="0" lang="en-US" sz="1200" u="none" cap="none" strike="noStrike">
                <a:solidFill>
                  <a:srgbClr val="1B2430"/>
                </a:solidFill>
                <a:latin typeface="Calibri"/>
                <a:ea typeface="Calibri"/>
                <a:cs typeface="Calibri"/>
                <a:sym typeface="Calibri"/>
              </a:rPr>
              <a:t>Dense(64) + ReLU + Dropout(0.2)</a:t>
            </a:r>
            <a:endParaRPr b="0" i="0" sz="1200" u="none" cap="none" strike="noStrike">
              <a:solidFill>
                <a:schemeClr val="dk1"/>
              </a:solidFill>
              <a:latin typeface="Calibri"/>
              <a:ea typeface="Calibri"/>
              <a:cs typeface="Calibri"/>
              <a:sym typeface="Calibri"/>
            </a:endParaRPr>
          </a:p>
        </p:txBody>
      </p:sp>
      <p:cxnSp>
        <p:nvCxnSpPr>
          <p:cNvPr id="275" name="Google Shape;275;p8"/>
          <p:cNvCxnSpPr/>
          <p:nvPr/>
        </p:nvCxnSpPr>
        <p:spPr>
          <a:xfrm>
            <a:off x="6094476" y="5413248"/>
            <a:ext cx="0" cy="155448"/>
          </a:xfrm>
          <a:prstGeom prst="straightConnector1">
            <a:avLst/>
          </a:prstGeom>
          <a:noFill/>
          <a:ln cap="flat" cmpd="sng" w="19050">
            <a:solidFill>
              <a:srgbClr val="5B6B80"/>
            </a:solidFill>
            <a:prstDash val="solid"/>
            <a:round/>
            <a:headEnd len="sm" w="sm" type="none"/>
            <a:tailEnd len="med" w="med" type="triangle"/>
          </a:ln>
        </p:spPr>
      </p:cxnSp>
      <p:sp>
        <p:nvSpPr>
          <p:cNvPr id="276" name="Google Shape;276;p8"/>
          <p:cNvSpPr/>
          <p:nvPr/>
        </p:nvSpPr>
        <p:spPr>
          <a:xfrm>
            <a:off x="2103120" y="5568696"/>
            <a:ext cx="7955280" cy="502920"/>
          </a:xfrm>
          <a:prstGeom prst="roundRect">
            <a:avLst>
              <a:gd fmla="val 10909" name="adj"/>
            </a:avLst>
          </a:prstGeom>
          <a:solidFill>
            <a:srgbClr val="E8A33D"/>
          </a:solidFill>
          <a:ln cap="flat" cmpd="sng" w="12700">
            <a:solidFill>
              <a:srgbClr val="1C729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8"/>
          <p:cNvSpPr/>
          <p:nvPr/>
        </p:nvSpPr>
        <p:spPr>
          <a:xfrm>
            <a:off x="2103120" y="5568696"/>
            <a:ext cx="795528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1295C"/>
              </a:buClr>
              <a:buSzPts val="1200"/>
              <a:buFont typeface="Calibri"/>
              <a:buNone/>
            </a:pPr>
            <a:r>
              <a:rPr b="1" i="0" lang="en-US" sz="1200" u="none" cap="none" strike="noStrike">
                <a:solidFill>
                  <a:srgbClr val="21295C"/>
                </a:solidFill>
                <a:latin typeface="Calibri"/>
                <a:ea typeface="Calibri"/>
                <a:cs typeface="Calibri"/>
                <a:sym typeface="Calibri"/>
              </a:rPr>
              <a:t>Dense(1) — predicted rating</a:t>
            </a:r>
            <a:endParaRPr b="0" i="0" sz="1200" u="none" cap="none" strike="noStrike">
              <a:solidFill>
                <a:schemeClr val="dk1"/>
              </a:solidFill>
              <a:latin typeface="Calibri"/>
              <a:ea typeface="Calibri"/>
              <a:cs typeface="Calibri"/>
              <a:sym typeface="Calibri"/>
            </a:endParaRPr>
          </a:p>
        </p:txBody>
      </p:sp>
      <p:sp>
        <p:nvSpPr>
          <p:cNvPr id="278" name="Google Shape;278;p8"/>
          <p:cNvSpPr/>
          <p:nvPr/>
        </p:nvSpPr>
        <p:spPr>
          <a:xfrm>
            <a:off x="11521440" y="6446520"/>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6B80"/>
              </a:buClr>
              <a:buSzPts val="1000"/>
              <a:buFont typeface="Calibri"/>
              <a:buNone/>
            </a:pPr>
            <a:r>
              <a:rPr b="0" i="0" lang="en-US" sz="1000" u="none" cap="none" strike="noStrike">
                <a:solidFill>
                  <a:srgbClr val="5B6B80"/>
                </a:solidFill>
                <a:latin typeface="Calibri"/>
                <a:ea typeface="Calibri"/>
                <a:cs typeface="Calibri"/>
                <a:sym typeface="Calibri"/>
              </a:rPr>
              <a:t>08</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3" name="Shape 283"/>
        <p:cNvGrpSpPr/>
        <p:nvPr/>
      </p:nvGrpSpPr>
      <p:grpSpPr>
        <a:xfrm>
          <a:off x="0" y="0"/>
          <a:ext cx="0" cy="0"/>
          <a:chOff x="0" y="0"/>
          <a:chExt cx="0" cy="0"/>
        </a:xfrm>
      </p:grpSpPr>
      <p:cxnSp>
        <p:nvCxnSpPr>
          <p:cNvPr id="284" name="Google Shape;284;p9"/>
          <p:cNvCxnSpPr/>
          <p:nvPr/>
        </p:nvCxnSpPr>
        <p:spPr>
          <a:xfrm flipH="1" rot="10800000">
            <a:off x="11292840" y="521208"/>
            <a:ext cx="320040" cy="91440"/>
          </a:xfrm>
          <a:prstGeom prst="straightConnector1">
            <a:avLst/>
          </a:prstGeom>
          <a:noFill/>
          <a:ln cap="flat" cmpd="sng" w="12700">
            <a:solidFill>
              <a:srgbClr val="C7D6E0"/>
            </a:solidFill>
            <a:prstDash val="solid"/>
            <a:round/>
            <a:headEnd len="sm" w="sm" type="none"/>
            <a:tailEnd len="sm" w="sm" type="none"/>
          </a:ln>
        </p:spPr>
      </p:cxnSp>
      <p:cxnSp>
        <p:nvCxnSpPr>
          <p:cNvPr id="285" name="Google Shape;285;p9"/>
          <p:cNvCxnSpPr/>
          <p:nvPr/>
        </p:nvCxnSpPr>
        <p:spPr>
          <a:xfrm>
            <a:off x="11612880" y="521208"/>
            <a:ext cx="274320" cy="137160"/>
          </a:xfrm>
          <a:prstGeom prst="straightConnector1">
            <a:avLst/>
          </a:prstGeom>
          <a:noFill/>
          <a:ln cap="flat" cmpd="sng" w="12700">
            <a:solidFill>
              <a:srgbClr val="C7D6E0"/>
            </a:solidFill>
            <a:prstDash val="solid"/>
            <a:round/>
            <a:headEnd len="sm" w="sm" type="none"/>
            <a:tailEnd len="sm" w="sm" type="none"/>
          </a:ln>
        </p:spPr>
      </p:cxnSp>
      <p:sp>
        <p:nvSpPr>
          <p:cNvPr id="286" name="Google Shape;286;p9"/>
          <p:cNvSpPr/>
          <p:nvPr/>
        </p:nvSpPr>
        <p:spPr>
          <a:xfrm>
            <a:off x="11247120" y="566928"/>
            <a:ext cx="91440" cy="91440"/>
          </a:xfrm>
          <a:prstGeom prst="ellipse">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9"/>
          <p:cNvSpPr/>
          <p:nvPr/>
        </p:nvSpPr>
        <p:spPr>
          <a:xfrm>
            <a:off x="11567160" y="475488"/>
            <a:ext cx="73152" cy="73152"/>
          </a:xfrm>
          <a:prstGeom prst="ellipse">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9"/>
          <p:cNvSpPr/>
          <p:nvPr/>
        </p:nvSpPr>
        <p:spPr>
          <a:xfrm>
            <a:off x="11841480" y="612648"/>
            <a:ext cx="82296" cy="82296"/>
          </a:xfrm>
          <a:prstGeom prst="ellipse">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9"/>
          <p:cNvSpPr/>
          <p:nvPr/>
        </p:nvSpPr>
        <p:spPr>
          <a:xfrm>
            <a:off x="548640" y="384048"/>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7293"/>
              </a:buClr>
              <a:buSzPts val="1200"/>
              <a:buFont typeface="Calibri"/>
              <a:buNone/>
            </a:pPr>
            <a:r>
              <a:rPr b="1" i="0" lang="en-US" sz="1200" u="none" cap="none" strike="noStrike">
                <a:solidFill>
                  <a:srgbClr val="1C7293"/>
                </a:solidFill>
                <a:latin typeface="Calibri"/>
                <a:ea typeface="Calibri"/>
                <a:cs typeface="Calibri"/>
                <a:sym typeface="Calibri"/>
              </a:rPr>
              <a:t>03 · EVALUATION</a:t>
            </a:r>
            <a:endParaRPr b="0" i="0" sz="1200" u="none" cap="none" strike="noStrike">
              <a:solidFill>
                <a:schemeClr val="dk1"/>
              </a:solidFill>
              <a:latin typeface="Calibri"/>
              <a:ea typeface="Calibri"/>
              <a:cs typeface="Calibri"/>
              <a:sym typeface="Calibri"/>
            </a:endParaRPr>
          </a:p>
        </p:txBody>
      </p:sp>
      <p:sp>
        <p:nvSpPr>
          <p:cNvPr id="290" name="Google Shape;290;p9"/>
          <p:cNvSpPr/>
          <p:nvPr/>
        </p:nvSpPr>
        <p:spPr>
          <a:xfrm>
            <a:off x="548640" y="658368"/>
            <a:ext cx="987552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1295C"/>
              </a:buClr>
              <a:buSzPts val="3000"/>
              <a:buFont typeface="Cambria"/>
              <a:buNone/>
            </a:pPr>
            <a:r>
              <a:rPr b="1" i="0" lang="en-US" sz="3000" u="none" cap="none" strike="noStrike">
                <a:solidFill>
                  <a:srgbClr val="21295C"/>
                </a:solidFill>
                <a:latin typeface="Cambria"/>
                <a:ea typeface="Cambria"/>
                <a:cs typeface="Cambria"/>
                <a:sym typeface="Cambria"/>
              </a:rPr>
              <a:t>How We Measure Success</a:t>
            </a:r>
            <a:endParaRPr b="0" i="0" sz="3000" u="none" cap="none" strike="noStrike">
              <a:solidFill>
                <a:schemeClr val="dk1"/>
              </a:solidFill>
              <a:latin typeface="Calibri"/>
              <a:ea typeface="Calibri"/>
              <a:cs typeface="Calibri"/>
              <a:sym typeface="Calibri"/>
            </a:endParaRPr>
          </a:p>
        </p:txBody>
      </p:sp>
      <p:sp>
        <p:nvSpPr>
          <p:cNvPr id="291" name="Google Shape;291;p9"/>
          <p:cNvSpPr/>
          <p:nvPr/>
        </p:nvSpPr>
        <p:spPr>
          <a:xfrm>
            <a:off x="548640" y="1737360"/>
            <a:ext cx="5349240" cy="4206240"/>
          </a:xfrm>
          <a:prstGeom prst="roundRect">
            <a:avLst>
              <a:gd fmla="val 1739" name="adj"/>
            </a:avLst>
          </a:prstGeom>
          <a:solidFill>
            <a:srgbClr val="F0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9"/>
          <p:cNvSpPr/>
          <p:nvPr/>
        </p:nvSpPr>
        <p:spPr>
          <a:xfrm>
            <a:off x="868680" y="2011680"/>
            <a:ext cx="2103120" cy="640080"/>
          </a:xfrm>
          <a:prstGeom prst="roundRect">
            <a:avLst>
              <a:gd fmla="val 50000" name="adj"/>
            </a:avLst>
          </a:prstGeom>
          <a:solidFill>
            <a:srgbClr val="065A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9"/>
          <p:cNvSpPr/>
          <p:nvPr/>
        </p:nvSpPr>
        <p:spPr>
          <a:xfrm>
            <a:off x="868680" y="2011680"/>
            <a:ext cx="210312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800"/>
              <a:buFont typeface="Cambria"/>
              <a:buNone/>
            </a:pPr>
            <a:r>
              <a:rPr b="1" i="0" lang="en-US" sz="1800" u="none" cap="none" strike="noStrike">
                <a:solidFill>
                  <a:srgbClr val="FFFFFF"/>
                </a:solidFill>
                <a:latin typeface="Cambria"/>
                <a:ea typeface="Cambria"/>
                <a:cs typeface="Cambria"/>
                <a:sym typeface="Cambria"/>
              </a:rPr>
              <a:t>RMSE</a:t>
            </a:r>
            <a:endParaRPr b="0" i="0" sz="1800" u="none" cap="none" strike="noStrike">
              <a:solidFill>
                <a:schemeClr val="dk1"/>
              </a:solidFill>
              <a:latin typeface="Calibri"/>
              <a:ea typeface="Calibri"/>
              <a:cs typeface="Calibri"/>
              <a:sym typeface="Calibri"/>
            </a:endParaRPr>
          </a:p>
        </p:txBody>
      </p:sp>
      <p:sp>
        <p:nvSpPr>
          <p:cNvPr id="294" name="Google Shape;294;p9"/>
          <p:cNvSpPr/>
          <p:nvPr/>
        </p:nvSpPr>
        <p:spPr>
          <a:xfrm>
            <a:off x="868680" y="2788920"/>
            <a:ext cx="46634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65A82"/>
              </a:buClr>
              <a:buSzPts val="1300"/>
              <a:buFont typeface="Calibri"/>
              <a:buNone/>
            </a:pPr>
            <a:r>
              <a:rPr b="1" i="1" lang="en-US" sz="1300" u="none" cap="none" strike="noStrike">
                <a:solidFill>
                  <a:srgbClr val="065A82"/>
                </a:solidFill>
                <a:latin typeface="Calibri"/>
                <a:ea typeface="Calibri"/>
                <a:cs typeface="Calibri"/>
                <a:sym typeface="Calibri"/>
              </a:rPr>
              <a:t>Rating accuracy</a:t>
            </a:r>
            <a:endParaRPr b="0" i="0" sz="1300" u="none" cap="none" strike="noStrike">
              <a:solidFill>
                <a:schemeClr val="dk1"/>
              </a:solidFill>
              <a:latin typeface="Calibri"/>
              <a:ea typeface="Calibri"/>
              <a:cs typeface="Calibri"/>
              <a:sym typeface="Calibri"/>
            </a:endParaRPr>
          </a:p>
        </p:txBody>
      </p:sp>
      <p:sp>
        <p:nvSpPr>
          <p:cNvPr id="295" name="Google Shape;295;p9"/>
          <p:cNvSpPr/>
          <p:nvPr/>
        </p:nvSpPr>
        <p:spPr>
          <a:xfrm>
            <a:off x="868680" y="3200400"/>
            <a:ext cx="4663440" cy="2286000"/>
          </a:xfrm>
          <a:prstGeom prst="rect">
            <a:avLst/>
          </a:prstGeom>
          <a:noFill/>
          <a:ln>
            <a:noFill/>
          </a:ln>
        </p:spPr>
        <p:txBody>
          <a:bodyPr anchorCtr="0" anchor="ctr" bIns="45700" lIns="91425" spcFirstLastPara="1" rIns="91425" wrap="square" tIns="45700">
            <a:noAutofit/>
          </a:bodyPr>
          <a:lstStyle/>
          <a:p>
            <a:pPr indent="0" lvl="0" marL="0" marR="0" rtl="0" algn="l">
              <a:lnSpc>
                <a:spcPct val="125000"/>
              </a:lnSpc>
              <a:spcBef>
                <a:spcPts val="0"/>
              </a:spcBef>
              <a:spcAft>
                <a:spcPts val="0"/>
              </a:spcAft>
              <a:buClr>
                <a:srgbClr val="1B2430"/>
              </a:buClr>
              <a:buSzPts val="1300"/>
              <a:buFont typeface="Calibri"/>
              <a:buNone/>
            </a:pPr>
            <a:r>
              <a:rPr b="0" i="0" lang="en-US" sz="1300" u="none" cap="none" strike="noStrike">
                <a:solidFill>
                  <a:srgbClr val="1B2430"/>
                </a:solidFill>
                <a:latin typeface="Calibri"/>
                <a:ea typeface="Calibri"/>
                <a:cs typeface="Calibri"/>
                <a:sym typeface="Calibri"/>
              </a:rPr>
              <a:t>Penalises large rating errors heavily. Standard metric for explicit-feedback prediction; directly comparable to published benchmarks.</a:t>
            </a:r>
            <a:endParaRPr b="0" i="0" sz="1300" u="none" cap="none" strike="noStrike">
              <a:solidFill>
                <a:schemeClr val="dk1"/>
              </a:solidFill>
              <a:latin typeface="Calibri"/>
              <a:ea typeface="Calibri"/>
              <a:cs typeface="Calibri"/>
              <a:sym typeface="Calibri"/>
            </a:endParaRPr>
          </a:p>
        </p:txBody>
      </p:sp>
      <p:sp>
        <p:nvSpPr>
          <p:cNvPr id="296" name="Google Shape;296;p9"/>
          <p:cNvSpPr/>
          <p:nvPr/>
        </p:nvSpPr>
        <p:spPr>
          <a:xfrm>
            <a:off x="6172200" y="1737360"/>
            <a:ext cx="5349240" cy="4206240"/>
          </a:xfrm>
          <a:prstGeom prst="roundRect">
            <a:avLst>
              <a:gd fmla="val 1739" name="adj"/>
            </a:avLst>
          </a:prstGeom>
          <a:solidFill>
            <a:srgbClr val="F0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9"/>
          <p:cNvSpPr/>
          <p:nvPr/>
        </p:nvSpPr>
        <p:spPr>
          <a:xfrm>
            <a:off x="6492240" y="2011680"/>
            <a:ext cx="2103120" cy="640080"/>
          </a:xfrm>
          <a:prstGeom prst="roundRect">
            <a:avLst>
              <a:gd fmla="val 50000" name="adj"/>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9"/>
          <p:cNvSpPr/>
          <p:nvPr/>
        </p:nvSpPr>
        <p:spPr>
          <a:xfrm>
            <a:off x="6492240" y="2011680"/>
            <a:ext cx="210312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800"/>
              <a:buFont typeface="Cambria"/>
              <a:buNone/>
            </a:pPr>
            <a:r>
              <a:rPr b="1" i="0" lang="en-US" sz="1800" u="none" cap="none" strike="noStrike">
                <a:solidFill>
                  <a:srgbClr val="FFFFFF"/>
                </a:solidFill>
                <a:latin typeface="Cambria"/>
                <a:ea typeface="Cambria"/>
                <a:cs typeface="Cambria"/>
                <a:sym typeface="Cambria"/>
              </a:rPr>
              <a:t>NDCG@10</a:t>
            </a:r>
            <a:endParaRPr b="0" i="0" sz="1800" u="none" cap="none" strike="noStrike">
              <a:solidFill>
                <a:schemeClr val="dk1"/>
              </a:solidFill>
              <a:latin typeface="Calibri"/>
              <a:ea typeface="Calibri"/>
              <a:cs typeface="Calibri"/>
              <a:sym typeface="Calibri"/>
            </a:endParaRPr>
          </a:p>
        </p:txBody>
      </p:sp>
      <p:sp>
        <p:nvSpPr>
          <p:cNvPr id="299" name="Google Shape;299;p9"/>
          <p:cNvSpPr/>
          <p:nvPr/>
        </p:nvSpPr>
        <p:spPr>
          <a:xfrm>
            <a:off x="6492240" y="2788920"/>
            <a:ext cx="46634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7293"/>
              </a:buClr>
              <a:buSzPts val="1300"/>
              <a:buFont typeface="Calibri"/>
              <a:buNone/>
            </a:pPr>
            <a:r>
              <a:rPr b="1" i="1" lang="en-US" sz="1300" u="none" cap="none" strike="noStrike">
                <a:solidFill>
                  <a:srgbClr val="1C7293"/>
                </a:solidFill>
                <a:latin typeface="Calibri"/>
                <a:ea typeface="Calibri"/>
                <a:cs typeface="Calibri"/>
                <a:sym typeface="Calibri"/>
              </a:rPr>
              <a:t>Ranking quality</a:t>
            </a:r>
            <a:endParaRPr b="0" i="0" sz="1300" u="none" cap="none" strike="noStrike">
              <a:solidFill>
                <a:schemeClr val="dk1"/>
              </a:solidFill>
              <a:latin typeface="Calibri"/>
              <a:ea typeface="Calibri"/>
              <a:cs typeface="Calibri"/>
              <a:sym typeface="Calibri"/>
            </a:endParaRPr>
          </a:p>
        </p:txBody>
      </p:sp>
      <p:sp>
        <p:nvSpPr>
          <p:cNvPr id="300" name="Google Shape;300;p9"/>
          <p:cNvSpPr/>
          <p:nvPr/>
        </p:nvSpPr>
        <p:spPr>
          <a:xfrm>
            <a:off x="6492240" y="3200400"/>
            <a:ext cx="4663440" cy="2286000"/>
          </a:xfrm>
          <a:prstGeom prst="rect">
            <a:avLst/>
          </a:prstGeom>
          <a:noFill/>
          <a:ln>
            <a:noFill/>
          </a:ln>
        </p:spPr>
        <p:txBody>
          <a:bodyPr anchorCtr="0" anchor="ctr" bIns="45700" lIns="91425" spcFirstLastPara="1" rIns="91425" wrap="square" tIns="45700">
            <a:noAutofit/>
          </a:bodyPr>
          <a:lstStyle/>
          <a:p>
            <a:pPr indent="0" lvl="0" marL="0" marR="0" rtl="0" algn="l">
              <a:lnSpc>
                <a:spcPct val="125000"/>
              </a:lnSpc>
              <a:spcBef>
                <a:spcPts val="0"/>
              </a:spcBef>
              <a:spcAft>
                <a:spcPts val="0"/>
              </a:spcAft>
              <a:buClr>
                <a:srgbClr val="1B2430"/>
              </a:buClr>
              <a:buSzPts val="1300"/>
              <a:buFont typeface="Calibri"/>
              <a:buNone/>
            </a:pPr>
            <a:r>
              <a:rPr b="0" i="0" lang="en-US" sz="1300" u="none" cap="none" strike="noStrike">
                <a:solidFill>
                  <a:srgbClr val="1B2430"/>
                </a:solidFill>
                <a:latin typeface="Calibri"/>
                <a:ea typeface="Calibri"/>
                <a:cs typeface="Calibri"/>
                <a:sym typeface="Calibri"/>
              </a:rPr>
              <a:t>Evaluates whether the top-10 recommended items are the ones the user actually valued most — closer to real user experience than a raw error score.</a:t>
            </a:r>
            <a:endParaRPr b="0" i="0" sz="1300" u="none" cap="none" strike="noStrike">
              <a:solidFill>
                <a:schemeClr val="dk1"/>
              </a:solidFill>
              <a:latin typeface="Calibri"/>
              <a:ea typeface="Calibri"/>
              <a:cs typeface="Calibri"/>
              <a:sym typeface="Calibri"/>
            </a:endParaRPr>
          </a:p>
        </p:txBody>
      </p:sp>
      <p:sp>
        <p:nvSpPr>
          <p:cNvPr id="301" name="Google Shape;301;p9"/>
          <p:cNvSpPr/>
          <p:nvPr/>
        </p:nvSpPr>
        <p:spPr>
          <a:xfrm>
            <a:off x="11521440" y="6446520"/>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6B80"/>
              </a:buClr>
              <a:buSzPts val="1000"/>
              <a:buFont typeface="Calibri"/>
              <a:buNone/>
            </a:pPr>
            <a:r>
              <a:rPr b="0" i="0" lang="en-US" sz="1000" u="none" cap="none" strike="noStrike">
                <a:solidFill>
                  <a:srgbClr val="5B6B80"/>
                </a:solidFill>
                <a:latin typeface="Calibri"/>
                <a:ea typeface="Calibri"/>
                <a:cs typeface="Calibri"/>
                <a:sym typeface="Calibri"/>
              </a:rPr>
              <a:t>09</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6" name="Shape 306"/>
        <p:cNvGrpSpPr/>
        <p:nvPr/>
      </p:nvGrpSpPr>
      <p:grpSpPr>
        <a:xfrm>
          <a:off x="0" y="0"/>
          <a:ext cx="0" cy="0"/>
          <a:chOff x="0" y="0"/>
          <a:chExt cx="0" cy="0"/>
        </a:xfrm>
      </p:grpSpPr>
      <p:cxnSp>
        <p:nvCxnSpPr>
          <p:cNvPr id="307" name="Google Shape;307;p10"/>
          <p:cNvCxnSpPr/>
          <p:nvPr/>
        </p:nvCxnSpPr>
        <p:spPr>
          <a:xfrm flipH="1" rot="10800000">
            <a:off x="11292840" y="521208"/>
            <a:ext cx="320040" cy="91440"/>
          </a:xfrm>
          <a:prstGeom prst="straightConnector1">
            <a:avLst/>
          </a:prstGeom>
          <a:noFill/>
          <a:ln cap="flat" cmpd="sng" w="12700">
            <a:solidFill>
              <a:srgbClr val="C7D6E0"/>
            </a:solidFill>
            <a:prstDash val="solid"/>
            <a:round/>
            <a:headEnd len="sm" w="sm" type="none"/>
            <a:tailEnd len="sm" w="sm" type="none"/>
          </a:ln>
        </p:spPr>
      </p:cxnSp>
      <p:cxnSp>
        <p:nvCxnSpPr>
          <p:cNvPr id="308" name="Google Shape;308;p10"/>
          <p:cNvCxnSpPr/>
          <p:nvPr/>
        </p:nvCxnSpPr>
        <p:spPr>
          <a:xfrm>
            <a:off x="11612880" y="521208"/>
            <a:ext cx="274320" cy="137160"/>
          </a:xfrm>
          <a:prstGeom prst="straightConnector1">
            <a:avLst/>
          </a:prstGeom>
          <a:noFill/>
          <a:ln cap="flat" cmpd="sng" w="12700">
            <a:solidFill>
              <a:srgbClr val="C7D6E0"/>
            </a:solidFill>
            <a:prstDash val="solid"/>
            <a:round/>
            <a:headEnd len="sm" w="sm" type="none"/>
            <a:tailEnd len="sm" w="sm" type="none"/>
          </a:ln>
        </p:spPr>
      </p:cxnSp>
      <p:sp>
        <p:nvSpPr>
          <p:cNvPr id="309" name="Google Shape;309;p10"/>
          <p:cNvSpPr/>
          <p:nvPr/>
        </p:nvSpPr>
        <p:spPr>
          <a:xfrm>
            <a:off x="11247120" y="566928"/>
            <a:ext cx="91440" cy="91440"/>
          </a:xfrm>
          <a:prstGeom prst="ellipse">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10"/>
          <p:cNvSpPr/>
          <p:nvPr/>
        </p:nvSpPr>
        <p:spPr>
          <a:xfrm>
            <a:off x="11567160" y="475488"/>
            <a:ext cx="73152" cy="73152"/>
          </a:xfrm>
          <a:prstGeom prst="ellipse">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10"/>
          <p:cNvSpPr/>
          <p:nvPr/>
        </p:nvSpPr>
        <p:spPr>
          <a:xfrm>
            <a:off x="11841480" y="612648"/>
            <a:ext cx="82296" cy="82296"/>
          </a:xfrm>
          <a:prstGeom prst="ellipse">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0"/>
          <p:cNvSpPr/>
          <p:nvPr/>
        </p:nvSpPr>
        <p:spPr>
          <a:xfrm>
            <a:off x="548640" y="384048"/>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7293"/>
              </a:buClr>
              <a:buSzPts val="1200"/>
              <a:buFont typeface="Calibri"/>
              <a:buNone/>
            </a:pPr>
            <a:r>
              <a:rPr b="1" i="0" lang="en-US" sz="1200" u="none" cap="none" strike="noStrike">
                <a:solidFill>
                  <a:srgbClr val="1C7293"/>
                </a:solidFill>
                <a:latin typeface="Calibri"/>
                <a:ea typeface="Calibri"/>
                <a:cs typeface="Calibri"/>
                <a:sym typeface="Calibri"/>
              </a:rPr>
              <a:t>03 · EVALUATION</a:t>
            </a:r>
            <a:endParaRPr b="0" i="0" sz="1200" u="none" cap="none" strike="noStrike">
              <a:solidFill>
                <a:schemeClr val="dk1"/>
              </a:solidFill>
              <a:latin typeface="Calibri"/>
              <a:ea typeface="Calibri"/>
              <a:cs typeface="Calibri"/>
              <a:sym typeface="Calibri"/>
            </a:endParaRPr>
          </a:p>
        </p:txBody>
      </p:sp>
      <p:sp>
        <p:nvSpPr>
          <p:cNvPr id="313" name="Google Shape;313;p10"/>
          <p:cNvSpPr/>
          <p:nvPr/>
        </p:nvSpPr>
        <p:spPr>
          <a:xfrm>
            <a:off x="548640" y="658368"/>
            <a:ext cx="987552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1295C"/>
              </a:buClr>
              <a:buSzPts val="3000"/>
              <a:buFont typeface="Cambria"/>
              <a:buNone/>
            </a:pPr>
            <a:r>
              <a:rPr b="1" i="0" lang="en-US" sz="3000" u="none" cap="none" strike="noStrike">
                <a:solidFill>
                  <a:srgbClr val="21295C"/>
                </a:solidFill>
                <a:latin typeface="Cambria"/>
                <a:ea typeface="Cambria"/>
                <a:cs typeface="Cambria"/>
                <a:sym typeface="Cambria"/>
              </a:rPr>
              <a:t>K-Fold Cross-Validation</a:t>
            </a:r>
            <a:endParaRPr b="0" i="0" sz="3000" u="none" cap="none" strike="noStrike">
              <a:solidFill>
                <a:schemeClr val="dk1"/>
              </a:solidFill>
              <a:latin typeface="Calibri"/>
              <a:ea typeface="Calibri"/>
              <a:cs typeface="Calibri"/>
              <a:sym typeface="Calibri"/>
            </a:endParaRPr>
          </a:p>
        </p:txBody>
      </p:sp>
      <p:sp>
        <p:nvSpPr>
          <p:cNvPr id="314" name="Google Shape;314;p10"/>
          <p:cNvSpPr/>
          <p:nvPr/>
        </p:nvSpPr>
        <p:spPr>
          <a:xfrm>
            <a:off x="548640" y="1691640"/>
            <a:ext cx="45720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65A82"/>
              </a:buClr>
              <a:buSzPts val="1400"/>
              <a:buFont typeface="Cambria"/>
              <a:buNone/>
            </a:pPr>
            <a:r>
              <a:rPr b="1" i="0" lang="en-US" sz="1400" u="none" cap="none" strike="noStrike">
                <a:solidFill>
                  <a:srgbClr val="065A82"/>
                </a:solidFill>
                <a:latin typeface="Cambria"/>
                <a:ea typeface="Cambria"/>
                <a:cs typeface="Cambria"/>
                <a:sym typeface="Cambria"/>
              </a:rPr>
              <a:t>SVD: 5-Fold</a:t>
            </a:r>
            <a:endParaRPr b="0" i="0" sz="1400" u="none" cap="none" strike="noStrike">
              <a:solidFill>
                <a:schemeClr val="dk1"/>
              </a:solidFill>
              <a:latin typeface="Calibri"/>
              <a:ea typeface="Calibri"/>
              <a:cs typeface="Calibri"/>
              <a:sym typeface="Calibri"/>
            </a:endParaRPr>
          </a:p>
        </p:txBody>
      </p:sp>
      <p:sp>
        <p:nvSpPr>
          <p:cNvPr id="315" name="Google Shape;315;p10"/>
          <p:cNvSpPr/>
          <p:nvPr/>
        </p:nvSpPr>
        <p:spPr>
          <a:xfrm>
            <a:off x="548640" y="2103120"/>
            <a:ext cx="914400" cy="548640"/>
          </a:xfrm>
          <a:prstGeom prst="roundRect">
            <a:avLst>
              <a:gd fmla="val 8333" name="adj"/>
            </a:avLst>
          </a:prstGeom>
          <a:solidFill>
            <a:srgbClr val="F0F5F9"/>
          </a:solidFill>
          <a:ln cap="flat" cmpd="sng" w="12700">
            <a:solidFill>
              <a:srgbClr val="065A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10"/>
          <p:cNvSpPr/>
          <p:nvPr/>
        </p:nvSpPr>
        <p:spPr>
          <a:xfrm>
            <a:off x="548640" y="2103120"/>
            <a:ext cx="91440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B6B80"/>
              </a:buClr>
              <a:buSzPts val="1000"/>
              <a:buFont typeface="Calibri"/>
              <a:buNone/>
            </a:pPr>
            <a:r>
              <a:rPr b="0" i="0" lang="en-US" sz="1000" u="none" cap="none" strike="noStrike">
                <a:solidFill>
                  <a:srgbClr val="5B6B80"/>
                </a:solidFill>
                <a:latin typeface="Calibri"/>
                <a:ea typeface="Calibri"/>
                <a:cs typeface="Calibri"/>
                <a:sym typeface="Calibri"/>
              </a:rPr>
              <a:t>train</a:t>
            </a:r>
            <a:endParaRPr b="0" i="0" sz="1000" u="none" cap="none" strike="noStrike">
              <a:solidFill>
                <a:schemeClr val="dk1"/>
              </a:solidFill>
              <a:latin typeface="Calibri"/>
              <a:ea typeface="Calibri"/>
              <a:cs typeface="Calibri"/>
              <a:sym typeface="Calibri"/>
            </a:endParaRPr>
          </a:p>
        </p:txBody>
      </p:sp>
      <p:sp>
        <p:nvSpPr>
          <p:cNvPr id="317" name="Google Shape;317;p10"/>
          <p:cNvSpPr/>
          <p:nvPr/>
        </p:nvSpPr>
        <p:spPr>
          <a:xfrm>
            <a:off x="1600200" y="2103120"/>
            <a:ext cx="914400" cy="548640"/>
          </a:xfrm>
          <a:prstGeom prst="roundRect">
            <a:avLst>
              <a:gd fmla="val 8333" name="adj"/>
            </a:avLst>
          </a:prstGeom>
          <a:solidFill>
            <a:srgbClr val="F0F5F9"/>
          </a:solidFill>
          <a:ln cap="flat" cmpd="sng" w="12700">
            <a:solidFill>
              <a:srgbClr val="065A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10"/>
          <p:cNvSpPr/>
          <p:nvPr/>
        </p:nvSpPr>
        <p:spPr>
          <a:xfrm>
            <a:off x="1600200" y="2103120"/>
            <a:ext cx="91440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B6B80"/>
              </a:buClr>
              <a:buSzPts val="1000"/>
              <a:buFont typeface="Calibri"/>
              <a:buNone/>
            </a:pPr>
            <a:r>
              <a:rPr b="0" i="0" lang="en-US" sz="1000" u="none" cap="none" strike="noStrike">
                <a:solidFill>
                  <a:srgbClr val="5B6B80"/>
                </a:solidFill>
                <a:latin typeface="Calibri"/>
                <a:ea typeface="Calibri"/>
                <a:cs typeface="Calibri"/>
                <a:sym typeface="Calibri"/>
              </a:rPr>
              <a:t>train</a:t>
            </a:r>
            <a:endParaRPr b="0" i="0" sz="1000" u="none" cap="none" strike="noStrike">
              <a:solidFill>
                <a:schemeClr val="dk1"/>
              </a:solidFill>
              <a:latin typeface="Calibri"/>
              <a:ea typeface="Calibri"/>
              <a:cs typeface="Calibri"/>
              <a:sym typeface="Calibri"/>
            </a:endParaRPr>
          </a:p>
        </p:txBody>
      </p:sp>
      <p:sp>
        <p:nvSpPr>
          <p:cNvPr id="319" name="Google Shape;319;p10"/>
          <p:cNvSpPr/>
          <p:nvPr/>
        </p:nvSpPr>
        <p:spPr>
          <a:xfrm>
            <a:off x="2651760" y="2103120"/>
            <a:ext cx="914400" cy="548640"/>
          </a:xfrm>
          <a:prstGeom prst="roundRect">
            <a:avLst>
              <a:gd fmla="val 8333" name="adj"/>
            </a:avLst>
          </a:prstGeom>
          <a:solidFill>
            <a:srgbClr val="E8A33D"/>
          </a:solidFill>
          <a:ln cap="flat" cmpd="sng" w="12700">
            <a:solidFill>
              <a:srgbClr val="065A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10"/>
          <p:cNvSpPr/>
          <p:nvPr/>
        </p:nvSpPr>
        <p:spPr>
          <a:xfrm>
            <a:off x="2651760" y="2103120"/>
            <a:ext cx="91440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1295C"/>
              </a:buClr>
              <a:buSzPts val="1000"/>
              <a:buFont typeface="Calibri"/>
              <a:buNone/>
            </a:pPr>
            <a:r>
              <a:rPr b="1" i="0" lang="en-US" sz="1000" u="none" cap="none" strike="noStrike">
                <a:solidFill>
                  <a:srgbClr val="21295C"/>
                </a:solidFill>
                <a:latin typeface="Calibri"/>
                <a:ea typeface="Calibri"/>
                <a:cs typeface="Calibri"/>
                <a:sym typeface="Calibri"/>
              </a:rPr>
              <a:t>VAL</a:t>
            </a:r>
            <a:endParaRPr b="0" i="0" sz="1000" u="none" cap="none" strike="noStrike">
              <a:solidFill>
                <a:schemeClr val="dk1"/>
              </a:solidFill>
              <a:latin typeface="Calibri"/>
              <a:ea typeface="Calibri"/>
              <a:cs typeface="Calibri"/>
              <a:sym typeface="Calibri"/>
            </a:endParaRPr>
          </a:p>
        </p:txBody>
      </p:sp>
      <p:sp>
        <p:nvSpPr>
          <p:cNvPr id="321" name="Google Shape;321;p10"/>
          <p:cNvSpPr/>
          <p:nvPr/>
        </p:nvSpPr>
        <p:spPr>
          <a:xfrm>
            <a:off x="3703320" y="2103120"/>
            <a:ext cx="914400" cy="548640"/>
          </a:xfrm>
          <a:prstGeom prst="roundRect">
            <a:avLst>
              <a:gd fmla="val 8333" name="adj"/>
            </a:avLst>
          </a:prstGeom>
          <a:solidFill>
            <a:srgbClr val="F0F5F9"/>
          </a:solidFill>
          <a:ln cap="flat" cmpd="sng" w="12700">
            <a:solidFill>
              <a:srgbClr val="065A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10"/>
          <p:cNvSpPr/>
          <p:nvPr/>
        </p:nvSpPr>
        <p:spPr>
          <a:xfrm>
            <a:off x="3703320" y="2103120"/>
            <a:ext cx="91440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B6B80"/>
              </a:buClr>
              <a:buSzPts val="1000"/>
              <a:buFont typeface="Calibri"/>
              <a:buNone/>
            </a:pPr>
            <a:r>
              <a:rPr b="0" i="0" lang="en-US" sz="1000" u="none" cap="none" strike="noStrike">
                <a:solidFill>
                  <a:srgbClr val="5B6B80"/>
                </a:solidFill>
                <a:latin typeface="Calibri"/>
                <a:ea typeface="Calibri"/>
                <a:cs typeface="Calibri"/>
                <a:sym typeface="Calibri"/>
              </a:rPr>
              <a:t>train</a:t>
            </a:r>
            <a:endParaRPr b="0" i="0" sz="1000" u="none" cap="none" strike="noStrike">
              <a:solidFill>
                <a:schemeClr val="dk1"/>
              </a:solidFill>
              <a:latin typeface="Calibri"/>
              <a:ea typeface="Calibri"/>
              <a:cs typeface="Calibri"/>
              <a:sym typeface="Calibri"/>
            </a:endParaRPr>
          </a:p>
        </p:txBody>
      </p:sp>
      <p:sp>
        <p:nvSpPr>
          <p:cNvPr id="323" name="Google Shape;323;p10"/>
          <p:cNvSpPr/>
          <p:nvPr/>
        </p:nvSpPr>
        <p:spPr>
          <a:xfrm>
            <a:off x="4754880" y="2103120"/>
            <a:ext cx="914400" cy="548640"/>
          </a:xfrm>
          <a:prstGeom prst="roundRect">
            <a:avLst>
              <a:gd fmla="val 8333" name="adj"/>
            </a:avLst>
          </a:prstGeom>
          <a:solidFill>
            <a:srgbClr val="F0F5F9"/>
          </a:solidFill>
          <a:ln cap="flat" cmpd="sng" w="12700">
            <a:solidFill>
              <a:srgbClr val="065A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10"/>
          <p:cNvSpPr/>
          <p:nvPr/>
        </p:nvSpPr>
        <p:spPr>
          <a:xfrm>
            <a:off x="4754880" y="2103120"/>
            <a:ext cx="91440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B6B80"/>
              </a:buClr>
              <a:buSzPts val="1000"/>
              <a:buFont typeface="Calibri"/>
              <a:buNone/>
            </a:pPr>
            <a:r>
              <a:rPr b="0" i="0" lang="en-US" sz="1000" u="none" cap="none" strike="noStrike">
                <a:solidFill>
                  <a:srgbClr val="5B6B80"/>
                </a:solidFill>
                <a:latin typeface="Calibri"/>
                <a:ea typeface="Calibri"/>
                <a:cs typeface="Calibri"/>
                <a:sym typeface="Calibri"/>
              </a:rPr>
              <a:t>train</a:t>
            </a:r>
            <a:endParaRPr b="0" i="0" sz="1000" u="none" cap="none" strike="noStrike">
              <a:solidFill>
                <a:schemeClr val="dk1"/>
              </a:solidFill>
              <a:latin typeface="Calibri"/>
              <a:ea typeface="Calibri"/>
              <a:cs typeface="Calibri"/>
              <a:sym typeface="Calibri"/>
            </a:endParaRPr>
          </a:p>
        </p:txBody>
      </p:sp>
      <p:sp>
        <p:nvSpPr>
          <p:cNvPr id="325" name="Google Shape;325;p10"/>
          <p:cNvSpPr/>
          <p:nvPr/>
        </p:nvSpPr>
        <p:spPr>
          <a:xfrm>
            <a:off x="548640" y="2971800"/>
            <a:ext cx="45720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7293"/>
              </a:buClr>
              <a:buSzPts val="1400"/>
              <a:buFont typeface="Cambria"/>
              <a:buNone/>
            </a:pPr>
            <a:r>
              <a:rPr b="1" i="0" lang="en-US" sz="1400" u="none" cap="none" strike="noStrike">
                <a:solidFill>
                  <a:srgbClr val="1C7293"/>
                </a:solidFill>
                <a:latin typeface="Cambria"/>
                <a:ea typeface="Cambria"/>
                <a:cs typeface="Cambria"/>
                <a:sym typeface="Cambria"/>
              </a:rPr>
              <a:t>NCF: 3-Fold</a:t>
            </a:r>
            <a:endParaRPr b="0" i="0" sz="1400" u="none" cap="none" strike="noStrike">
              <a:solidFill>
                <a:schemeClr val="dk1"/>
              </a:solidFill>
              <a:latin typeface="Calibri"/>
              <a:ea typeface="Calibri"/>
              <a:cs typeface="Calibri"/>
              <a:sym typeface="Calibri"/>
            </a:endParaRPr>
          </a:p>
        </p:txBody>
      </p:sp>
      <p:sp>
        <p:nvSpPr>
          <p:cNvPr id="326" name="Google Shape;326;p10"/>
          <p:cNvSpPr/>
          <p:nvPr/>
        </p:nvSpPr>
        <p:spPr>
          <a:xfrm>
            <a:off x="548640" y="3383280"/>
            <a:ext cx="1554480" cy="548640"/>
          </a:xfrm>
          <a:prstGeom prst="roundRect">
            <a:avLst>
              <a:gd fmla="val 8333" name="adj"/>
            </a:avLst>
          </a:prstGeom>
          <a:solidFill>
            <a:srgbClr val="F0F5F9"/>
          </a:solidFill>
          <a:ln cap="flat" cmpd="sng" w="12700">
            <a:solidFill>
              <a:srgbClr val="1C729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0"/>
          <p:cNvSpPr/>
          <p:nvPr/>
        </p:nvSpPr>
        <p:spPr>
          <a:xfrm>
            <a:off x="548640" y="3383280"/>
            <a:ext cx="155448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B6B80"/>
              </a:buClr>
              <a:buSzPts val="1000"/>
              <a:buFont typeface="Calibri"/>
              <a:buNone/>
            </a:pPr>
            <a:r>
              <a:rPr b="0" i="0" lang="en-US" sz="1000" u="none" cap="none" strike="noStrike">
                <a:solidFill>
                  <a:srgbClr val="5B6B80"/>
                </a:solidFill>
                <a:latin typeface="Calibri"/>
                <a:ea typeface="Calibri"/>
                <a:cs typeface="Calibri"/>
                <a:sym typeface="Calibri"/>
              </a:rPr>
              <a:t>train</a:t>
            </a:r>
            <a:endParaRPr b="0" i="0" sz="1000" u="none" cap="none" strike="noStrike">
              <a:solidFill>
                <a:schemeClr val="dk1"/>
              </a:solidFill>
              <a:latin typeface="Calibri"/>
              <a:ea typeface="Calibri"/>
              <a:cs typeface="Calibri"/>
              <a:sym typeface="Calibri"/>
            </a:endParaRPr>
          </a:p>
        </p:txBody>
      </p:sp>
      <p:sp>
        <p:nvSpPr>
          <p:cNvPr id="328" name="Google Shape;328;p10"/>
          <p:cNvSpPr/>
          <p:nvPr/>
        </p:nvSpPr>
        <p:spPr>
          <a:xfrm>
            <a:off x="2286000" y="3383280"/>
            <a:ext cx="1554480" cy="548640"/>
          </a:xfrm>
          <a:prstGeom prst="roundRect">
            <a:avLst>
              <a:gd fmla="val 8333" name="adj"/>
            </a:avLst>
          </a:prstGeom>
          <a:solidFill>
            <a:srgbClr val="E8A33D"/>
          </a:solidFill>
          <a:ln cap="flat" cmpd="sng" w="12700">
            <a:solidFill>
              <a:srgbClr val="1C729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10"/>
          <p:cNvSpPr/>
          <p:nvPr/>
        </p:nvSpPr>
        <p:spPr>
          <a:xfrm>
            <a:off x="2286000" y="3383280"/>
            <a:ext cx="155448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1295C"/>
              </a:buClr>
              <a:buSzPts val="1000"/>
              <a:buFont typeface="Calibri"/>
              <a:buNone/>
            </a:pPr>
            <a:r>
              <a:rPr b="1" i="0" lang="en-US" sz="1000" u="none" cap="none" strike="noStrike">
                <a:solidFill>
                  <a:srgbClr val="21295C"/>
                </a:solidFill>
                <a:latin typeface="Calibri"/>
                <a:ea typeface="Calibri"/>
                <a:cs typeface="Calibri"/>
                <a:sym typeface="Calibri"/>
              </a:rPr>
              <a:t>VAL</a:t>
            </a:r>
            <a:endParaRPr b="0" i="0" sz="1000" u="none" cap="none" strike="noStrike">
              <a:solidFill>
                <a:schemeClr val="dk1"/>
              </a:solidFill>
              <a:latin typeface="Calibri"/>
              <a:ea typeface="Calibri"/>
              <a:cs typeface="Calibri"/>
              <a:sym typeface="Calibri"/>
            </a:endParaRPr>
          </a:p>
        </p:txBody>
      </p:sp>
      <p:sp>
        <p:nvSpPr>
          <p:cNvPr id="330" name="Google Shape;330;p10"/>
          <p:cNvSpPr/>
          <p:nvPr/>
        </p:nvSpPr>
        <p:spPr>
          <a:xfrm>
            <a:off x="4023360" y="3383280"/>
            <a:ext cx="1554480" cy="548640"/>
          </a:xfrm>
          <a:prstGeom prst="roundRect">
            <a:avLst>
              <a:gd fmla="val 8333" name="adj"/>
            </a:avLst>
          </a:prstGeom>
          <a:solidFill>
            <a:srgbClr val="F0F5F9"/>
          </a:solidFill>
          <a:ln cap="flat" cmpd="sng" w="12700">
            <a:solidFill>
              <a:srgbClr val="1C729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0"/>
          <p:cNvSpPr/>
          <p:nvPr/>
        </p:nvSpPr>
        <p:spPr>
          <a:xfrm>
            <a:off x="4023360" y="3383280"/>
            <a:ext cx="155448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B6B80"/>
              </a:buClr>
              <a:buSzPts val="1000"/>
              <a:buFont typeface="Calibri"/>
              <a:buNone/>
            </a:pPr>
            <a:r>
              <a:rPr b="0" i="0" lang="en-US" sz="1000" u="none" cap="none" strike="noStrike">
                <a:solidFill>
                  <a:srgbClr val="5B6B80"/>
                </a:solidFill>
                <a:latin typeface="Calibri"/>
                <a:ea typeface="Calibri"/>
                <a:cs typeface="Calibri"/>
                <a:sym typeface="Calibri"/>
              </a:rPr>
              <a:t>train</a:t>
            </a:r>
            <a:endParaRPr b="0" i="0" sz="1000" u="none" cap="none" strike="noStrike">
              <a:solidFill>
                <a:schemeClr val="dk1"/>
              </a:solidFill>
              <a:latin typeface="Calibri"/>
              <a:ea typeface="Calibri"/>
              <a:cs typeface="Calibri"/>
              <a:sym typeface="Calibri"/>
            </a:endParaRPr>
          </a:p>
        </p:txBody>
      </p:sp>
      <p:sp>
        <p:nvSpPr>
          <p:cNvPr id="332" name="Google Shape;332;p10"/>
          <p:cNvSpPr/>
          <p:nvPr/>
        </p:nvSpPr>
        <p:spPr>
          <a:xfrm>
            <a:off x="548640" y="4160520"/>
            <a:ext cx="539496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80"/>
              </a:buClr>
              <a:buSzPts val="1150"/>
              <a:buFont typeface="Calibri"/>
              <a:buNone/>
            </a:pPr>
            <a:r>
              <a:rPr b="0" i="1" lang="en-US" sz="1150" u="none" cap="none" strike="noStrike">
                <a:solidFill>
                  <a:srgbClr val="5B6B80"/>
                </a:solidFill>
                <a:latin typeface="Calibri"/>
                <a:ea typeface="Calibri"/>
                <a:cs typeface="Calibri"/>
                <a:sym typeface="Calibri"/>
              </a:rPr>
              <a:t>Fewer folds for NCF: each fold is a full neural-network training run with early stopping — a stated compute trade-off, not an oversight.</a:t>
            </a:r>
            <a:endParaRPr b="0" i="0" sz="1150" u="none" cap="none" strike="noStrike">
              <a:solidFill>
                <a:schemeClr val="dk1"/>
              </a:solidFill>
              <a:latin typeface="Calibri"/>
              <a:ea typeface="Calibri"/>
              <a:cs typeface="Calibri"/>
              <a:sym typeface="Calibri"/>
            </a:endParaRPr>
          </a:p>
        </p:txBody>
      </p:sp>
      <p:sp>
        <p:nvSpPr>
          <p:cNvPr id="333" name="Google Shape;333;p10"/>
          <p:cNvSpPr/>
          <p:nvPr/>
        </p:nvSpPr>
        <p:spPr>
          <a:xfrm>
            <a:off x="6263585" y="1691640"/>
            <a:ext cx="5349300" cy="4297800"/>
          </a:xfrm>
          <a:prstGeom prst="roundRect">
            <a:avLst>
              <a:gd fmla="val 1702" name="adj"/>
            </a:avLst>
          </a:prstGeom>
          <a:solidFill>
            <a:srgbClr val="2129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0"/>
          <p:cNvSpPr/>
          <p:nvPr/>
        </p:nvSpPr>
        <p:spPr>
          <a:xfrm>
            <a:off x="6583680" y="1920240"/>
            <a:ext cx="48463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A33D"/>
              </a:buClr>
              <a:buSzPts val="1500"/>
              <a:buFont typeface="Cambria"/>
              <a:buNone/>
            </a:pPr>
            <a:r>
              <a:rPr b="1" lang="en-US" sz="1500">
                <a:solidFill>
                  <a:srgbClr val="E8A33D"/>
                </a:solidFill>
                <a:latin typeface="Cambria"/>
                <a:ea typeface="Cambria"/>
                <a:cs typeface="Cambria"/>
                <a:sym typeface="Cambria"/>
              </a:rPr>
              <a:t>Cross-Validation Results </a:t>
            </a:r>
            <a:endParaRPr b="0" i="0" sz="1500" u="none" cap="none" strike="noStrike">
              <a:solidFill>
                <a:schemeClr val="dk1"/>
              </a:solidFill>
              <a:latin typeface="Calibri"/>
              <a:ea typeface="Calibri"/>
              <a:cs typeface="Calibri"/>
              <a:sym typeface="Calibri"/>
            </a:endParaRPr>
          </a:p>
        </p:txBody>
      </p:sp>
      <p:sp>
        <p:nvSpPr>
          <p:cNvPr id="335" name="Google Shape;335;p10"/>
          <p:cNvSpPr/>
          <p:nvPr/>
        </p:nvSpPr>
        <p:spPr>
          <a:xfrm>
            <a:off x="6583680" y="2514600"/>
            <a:ext cx="109800" cy="109800"/>
          </a:xfrm>
          <a:prstGeom prst="ellipse">
            <a:avLst/>
          </a:prstGeom>
          <a:solidFill>
            <a:srgbClr val="E8A3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10"/>
          <p:cNvSpPr/>
          <p:nvPr/>
        </p:nvSpPr>
        <p:spPr>
          <a:xfrm>
            <a:off x="6858005" y="2514590"/>
            <a:ext cx="4663500" cy="8688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b="1" lang="en-US" sz="1250">
                <a:solidFill>
                  <a:srgbClr val="FFFFFF"/>
                </a:solidFill>
                <a:latin typeface="Calibri"/>
                <a:ea typeface="Calibri"/>
                <a:cs typeface="Calibri"/>
                <a:sym typeface="Calibri"/>
              </a:rPr>
              <a:t>SVD (5-Fold)</a:t>
            </a:r>
            <a:endParaRPr b="1" sz="1250">
              <a:solidFill>
                <a:srgbClr val="FFFFFF"/>
              </a:solidFill>
              <a:latin typeface="Calibri"/>
              <a:ea typeface="Calibri"/>
              <a:cs typeface="Calibri"/>
              <a:sym typeface="Calibri"/>
            </a:endParaRPr>
          </a:p>
          <a:p>
            <a:pPr indent="-307975" lvl="0" marL="457200" rtl="0" algn="l">
              <a:spcBef>
                <a:spcPts val="0"/>
              </a:spcBef>
              <a:spcAft>
                <a:spcPts val="0"/>
              </a:spcAft>
              <a:buClr>
                <a:srgbClr val="FFFFFF"/>
              </a:buClr>
              <a:buSzPts val="1250"/>
              <a:buFont typeface="Calibri"/>
              <a:buChar char="●"/>
            </a:pPr>
            <a:r>
              <a:rPr lang="en-US" sz="1250">
                <a:solidFill>
                  <a:srgbClr val="FFFFFF"/>
                </a:solidFill>
                <a:latin typeface="Calibri"/>
                <a:ea typeface="Calibri"/>
                <a:cs typeface="Calibri"/>
                <a:sym typeface="Calibri"/>
              </a:rPr>
              <a:t>Mean CV RMSE: 0.9209</a:t>
            </a:r>
            <a:endParaRPr sz="1250">
              <a:solidFill>
                <a:srgbClr val="FFFFFF"/>
              </a:solidFill>
              <a:latin typeface="Calibri"/>
              <a:ea typeface="Calibri"/>
              <a:cs typeface="Calibri"/>
              <a:sym typeface="Calibri"/>
            </a:endParaRPr>
          </a:p>
          <a:p>
            <a:pPr indent="-307975" lvl="0" marL="457200" rtl="0" algn="l">
              <a:spcBef>
                <a:spcPts val="0"/>
              </a:spcBef>
              <a:spcAft>
                <a:spcPts val="0"/>
              </a:spcAft>
              <a:buClr>
                <a:srgbClr val="FFFFFF"/>
              </a:buClr>
              <a:buSzPts val="1250"/>
              <a:buFont typeface="Calibri"/>
              <a:buChar char="●"/>
            </a:pPr>
            <a:r>
              <a:rPr lang="en-US" sz="1250">
                <a:solidFill>
                  <a:srgbClr val="FFFFFF"/>
                </a:solidFill>
                <a:latin typeface="Calibri"/>
                <a:ea typeface="Calibri"/>
                <a:cs typeface="Calibri"/>
                <a:sym typeface="Calibri"/>
              </a:rPr>
              <a:t>Standard Deviation: ± 0.0046</a:t>
            </a:r>
            <a:endParaRPr sz="1250">
              <a:solidFill>
                <a:srgbClr val="FFFFFF"/>
              </a:solidFill>
              <a:latin typeface="Calibri"/>
              <a:ea typeface="Calibri"/>
              <a:cs typeface="Calibri"/>
              <a:sym typeface="Calibri"/>
            </a:endParaRPr>
          </a:p>
          <a:p>
            <a:pPr indent="-307975" lvl="0" marL="457200" rtl="0" algn="l">
              <a:spcBef>
                <a:spcPts val="0"/>
              </a:spcBef>
              <a:spcAft>
                <a:spcPts val="0"/>
              </a:spcAft>
              <a:buClr>
                <a:srgbClr val="FFFFFF"/>
              </a:buClr>
              <a:buSzPts val="1250"/>
              <a:buFont typeface="Calibri"/>
              <a:buChar char="●"/>
            </a:pPr>
            <a:r>
              <a:rPr lang="en-US" sz="1250">
                <a:solidFill>
                  <a:srgbClr val="FFFFFF"/>
                </a:solidFill>
                <a:latin typeface="Calibri"/>
                <a:ea typeface="Calibri"/>
                <a:cs typeface="Calibri"/>
                <a:sym typeface="Calibri"/>
              </a:rPr>
              <a:t>More consistent performance across folds.</a:t>
            </a:r>
            <a:endParaRPr sz="1250">
              <a:solidFill>
                <a:srgbClr val="FFFFFF"/>
              </a:solidFill>
              <a:latin typeface="Calibri"/>
              <a:ea typeface="Calibri"/>
              <a:cs typeface="Calibri"/>
              <a:sym typeface="Calibri"/>
            </a:endParaRPr>
          </a:p>
          <a:p>
            <a:pPr indent="0" lvl="0" marL="0" marR="0" rtl="0" algn="l">
              <a:spcBef>
                <a:spcPts val="0"/>
              </a:spcBef>
              <a:spcAft>
                <a:spcPts val="0"/>
              </a:spcAft>
              <a:buClr>
                <a:srgbClr val="FFFFFF"/>
              </a:buClr>
              <a:buSzPts val="1250"/>
              <a:buFont typeface="Calibri"/>
              <a:buNone/>
            </a:pPr>
            <a:r>
              <a:t/>
            </a:r>
            <a:endParaRPr sz="1250">
              <a:solidFill>
                <a:srgbClr val="FFFFFF"/>
              </a:solidFill>
              <a:latin typeface="Calibri"/>
              <a:ea typeface="Calibri"/>
              <a:cs typeface="Calibri"/>
              <a:sym typeface="Calibri"/>
            </a:endParaRPr>
          </a:p>
        </p:txBody>
      </p:sp>
      <p:sp>
        <p:nvSpPr>
          <p:cNvPr id="337" name="Google Shape;337;p10"/>
          <p:cNvSpPr/>
          <p:nvPr/>
        </p:nvSpPr>
        <p:spPr>
          <a:xfrm>
            <a:off x="6583680" y="3474720"/>
            <a:ext cx="109728" cy="109728"/>
          </a:xfrm>
          <a:prstGeom prst="ellipse">
            <a:avLst/>
          </a:prstGeom>
          <a:solidFill>
            <a:srgbClr val="E8A3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10"/>
          <p:cNvSpPr/>
          <p:nvPr/>
        </p:nvSpPr>
        <p:spPr>
          <a:xfrm>
            <a:off x="6858000" y="3547873"/>
            <a:ext cx="4663500" cy="1097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b="1" lang="en-US" sz="1250">
                <a:solidFill>
                  <a:srgbClr val="FFFFFF"/>
                </a:solidFill>
                <a:latin typeface="Calibri"/>
                <a:ea typeface="Calibri"/>
                <a:cs typeface="Calibri"/>
                <a:sym typeface="Calibri"/>
              </a:rPr>
              <a:t>NCF (3-Fold)</a:t>
            </a:r>
            <a:endParaRPr b="1" sz="1250">
              <a:solidFill>
                <a:srgbClr val="FFFFFF"/>
              </a:solidFill>
              <a:latin typeface="Calibri"/>
              <a:ea typeface="Calibri"/>
              <a:cs typeface="Calibri"/>
              <a:sym typeface="Calibri"/>
            </a:endParaRPr>
          </a:p>
          <a:p>
            <a:pPr indent="-307975" lvl="0" marL="457200" rtl="0" algn="l">
              <a:spcBef>
                <a:spcPts val="0"/>
              </a:spcBef>
              <a:spcAft>
                <a:spcPts val="0"/>
              </a:spcAft>
              <a:buClr>
                <a:srgbClr val="FFFFFF"/>
              </a:buClr>
              <a:buSzPts val="1250"/>
              <a:buFont typeface="Calibri"/>
              <a:buChar char="●"/>
            </a:pPr>
            <a:r>
              <a:rPr lang="en-US" sz="1250">
                <a:solidFill>
                  <a:srgbClr val="FFFFFF"/>
                </a:solidFill>
                <a:latin typeface="Calibri"/>
                <a:ea typeface="Calibri"/>
                <a:cs typeface="Calibri"/>
                <a:sym typeface="Calibri"/>
              </a:rPr>
              <a:t>Fold 1 RMSE: 0.9457</a:t>
            </a:r>
            <a:endParaRPr sz="1250">
              <a:solidFill>
                <a:srgbClr val="FFFFFF"/>
              </a:solidFill>
              <a:latin typeface="Calibri"/>
              <a:ea typeface="Calibri"/>
              <a:cs typeface="Calibri"/>
              <a:sym typeface="Calibri"/>
            </a:endParaRPr>
          </a:p>
          <a:p>
            <a:pPr indent="-307975" lvl="0" marL="457200" rtl="0" algn="l">
              <a:spcBef>
                <a:spcPts val="0"/>
              </a:spcBef>
              <a:spcAft>
                <a:spcPts val="0"/>
              </a:spcAft>
              <a:buClr>
                <a:srgbClr val="FFFFFF"/>
              </a:buClr>
              <a:buSzPts val="1250"/>
              <a:buFont typeface="Calibri"/>
              <a:buChar char="●"/>
            </a:pPr>
            <a:r>
              <a:rPr lang="en-US" sz="1250">
                <a:solidFill>
                  <a:srgbClr val="FFFFFF"/>
                </a:solidFill>
                <a:latin typeface="Calibri"/>
                <a:ea typeface="Calibri"/>
                <a:cs typeface="Calibri"/>
                <a:sym typeface="Calibri"/>
              </a:rPr>
              <a:t>Fold 2 RMSE: 0.9294</a:t>
            </a:r>
            <a:endParaRPr sz="1250">
              <a:solidFill>
                <a:srgbClr val="FFFFFF"/>
              </a:solidFill>
              <a:latin typeface="Calibri"/>
              <a:ea typeface="Calibri"/>
              <a:cs typeface="Calibri"/>
              <a:sym typeface="Calibri"/>
            </a:endParaRPr>
          </a:p>
          <a:p>
            <a:pPr indent="-307975" lvl="0" marL="457200" rtl="0" algn="l">
              <a:spcBef>
                <a:spcPts val="0"/>
              </a:spcBef>
              <a:spcAft>
                <a:spcPts val="0"/>
              </a:spcAft>
              <a:buClr>
                <a:srgbClr val="FFFFFF"/>
              </a:buClr>
              <a:buSzPts val="1250"/>
              <a:buFont typeface="Calibri"/>
              <a:buChar char="●"/>
            </a:pPr>
            <a:r>
              <a:rPr lang="en-US" sz="1250">
                <a:solidFill>
                  <a:srgbClr val="FFFFFF"/>
                </a:solidFill>
                <a:latin typeface="Calibri"/>
                <a:ea typeface="Calibri"/>
                <a:cs typeface="Calibri"/>
                <a:sym typeface="Calibri"/>
              </a:rPr>
              <a:t>Fold 3 RMSE: 0.9482</a:t>
            </a:r>
            <a:endParaRPr sz="1250">
              <a:solidFill>
                <a:srgbClr val="FFFFFF"/>
              </a:solidFill>
              <a:latin typeface="Calibri"/>
              <a:ea typeface="Calibri"/>
              <a:cs typeface="Calibri"/>
              <a:sym typeface="Calibri"/>
            </a:endParaRPr>
          </a:p>
          <a:p>
            <a:pPr indent="-307975" lvl="0" marL="457200" rtl="0" algn="l">
              <a:spcBef>
                <a:spcPts val="0"/>
              </a:spcBef>
              <a:spcAft>
                <a:spcPts val="0"/>
              </a:spcAft>
              <a:buClr>
                <a:srgbClr val="FFFFFF"/>
              </a:buClr>
              <a:buSzPts val="1250"/>
              <a:buFont typeface="Calibri"/>
              <a:buChar char="●"/>
            </a:pPr>
            <a:r>
              <a:rPr lang="en-US" sz="1250">
                <a:solidFill>
                  <a:srgbClr val="FFFFFF"/>
                </a:solidFill>
                <a:latin typeface="Calibri"/>
                <a:ea typeface="Calibri"/>
                <a:cs typeface="Calibri"/>
                <a:sym typeface="Calibri"/>
              </a:rPr>
              <a:t>Mean CV RMSE: 0.9411</a:t>
            </a:r>
            <a:endParaRPr sz="1250">
              <a:solidFill>
                <a:srgbClr val="FFFFFF"/>
              </a:solidFill>
              <a:latin typeface="Calibri"/>
              <a:ea typeface="Calibri"/>
              <a:cs typeface="Calibri"/>
              <a:sym typeface="Calibri"/>
            </a:endParaRPr>
          </a:p>
          <a:p>
            <a:pPr indent="-307975" lvl="0" marL="457200" rtl="0" algn="l">
              <a:spcBef>
                <a:spcPts val="0"/>
              </a:spcBef>
              <a:spcAft>
                <a:spcPts val="0"/>
              </a:spcAft>
              <a:buClr>
                <a:srgbClr val="FFFFFF"/>
              </a:buClr>
              <a:buSzPts val="1250"/>
              <a:buFont typeface="Calibri"/>
              <a:buChar char="●"/>
            </a:pPr>
            <a:r>
              <a:rPr lang="en-US" sz="1250">
                <a:solidFill>
                  <a:srgbClr val="FFFFFF"/>
                </a:solidFill>
                <a:latin typeface="Calibri"/>
                <a:ea typeface="Calibri"/>
                <a:cs typeface="Calibri"/>
                <a:sym typeface="Calibri"/>
              </a:rPr>
              <a:t>Standard Deviation: ± 0.0083</a:t>
            </a:r>
            <a:endParaRPr sz="1250">
              <a:solidFill>
                <a:srgbClr val="FFFFFF"/>
              </a:solidFill>
              <a:latin typeface="Calibri"/>
              <a:ea typeface="Calibri"/>
              <a:cs typeface="Calibri"/>
              <a:sym typeface="Calibri"/>
            </a:endParaRPr>
          </a:p>
          <a:p>
            <a:pPr indent="0" lvl="0" marL="0" marR="0" rtl="0" algn="l">
              <a:spcBef>
                <a:spcPts val="0"/>
              </a:spcBef>
              <a:spcAft>
                <a:spcPts val="0"/>
              </a:spcAft>
              <a:buClr>
                <a:srgbClr val="FFFFFF"/>
              </a:buClr>
              <a:buSzPts val="1250"/>
              <a:buFont typeface="Calibri"/>
              <a:buNone/>
            </a:pPr>
            <a:r>
              <a:t/>
            </a:r>
            <a:endParaRPr sz="1250">
              <a:solidFill>
                <a:srgbClr val="FFFFFF"/>
              </a:solidFill>
              <a:latin typeface="Calibri"/>
              <a:ea typeface="Calibri"/>
              <a:cs typeface="Calibri"/>
              <a:sym typeface="Calibri"/>
            </a:endParaRPr>
          </a:p>
        </p:txBody>
      </p:sp>
      <p:sp>
        <p:nvSpPr>
          <p:cNvPr id="339" name="Google Shape;339;p10"/>
          <p:cNvSpPr/>
          <p:nvPr/>
        </p:nvSpPr>
        <p:spPr>
          <a:xfrm>
            <a:off x="6583643" y="5264690"/>
            <a:ext cx="109800" cy="109800"/>
          </a:xfrm>
          <a:prstGeom prst="ellipse">
            <a:avLst/>
          </a:prstGeom>
          <a:solidFill>
            <a:srgbClr val="E8A3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0"/>
          <p:cNvSpPr/>
          <p:nvPr/>
        </p:nvSpPr>
        <p:spPr>
          <a:xfrm>
            <a:off x="6857993" y="4983480"/>
            <a:ext cx="4663500" cy="8688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b="1" lang="en-US" sz="1250">
                <a:solidFill>
                  <a:srgbClr val="FFFFFF"/>
                </a:solidFill>
                <a:latin typeface="Calibri"/>
                <a:ea typeface="Calibri"/>
                <a:cs typeface="Calibri"/>
                <a:sym typeface="Calibri"/>
              </a:rPr>
              <a:t>Key Finding</a:t>
            </a:r>
            <a:endParaRPr b="1" sz="1250">
              <a:solidFill>
                <a:srgbClr val="FFFFFF"/>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250">
              <a:solidFill>
                <a:srgbClr val="FFFFFF"/>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250">
                <a:solidFill>
                  <a:srgbClr val="FFFFFF"/>
                </a:solidFill>
                <a:latin typeface="Calibri"/>
                <a:ea typeface="Calibri"/>
                <a:cs typeface="Calibri"/>
                <a:sym typeface="Calibri"/>
              </a:rPr>
              <a:t>SVD's cross-validation RMSE (0.9209, ±0.0046) is both lower and far more stable than NCF's (0.9411, ±0.0083) — yet NCF wins on the single test set shown next. That reversal is the real finding here, not a contradiction to smooth over.</a:t>
            </a:r>
            <a:endParaRPr sz="1250">
              <a:solidFill>
                <a:srgbClr val="FFFFFF"/>
              </a:solidFill>
              <a:latin typeface="Calibri"/>
              <a:ea typeface="Calibri"/>
              <a:cs typeface="Calibri"/>
              <a:sym typeface="Calibri"/>
            </a:endParaRPr>
          </a:p>
          <a:p>
            <a:pPr indent="0" lvl="0" marL="0" marR="0" rtl="0" algn="l">
              <a:spcBef>
                <a:spcPts val="0"/>
              </a:spcBef>
              <a:spcAft>
                <a:spcPts val="0"/>
              </a:spcAft>
              <a:buClr>
                <a:srgbClr val="FFFFFF"/>
              </a:buClr>
              <a:buSzPts val="1250"/>
              <a:buFont typeface="Calibri"/>
              <a:buNone/>
            </a:pPr>
            <a:r>
              <a:t/>
            </a:r>
            <a:endParaRPr sz="1250">
              <a:solidFill>
                <a:srgbClr val="FFFFFF"/>
              </a:solidFill>
              <a:latin typeface="Calibri"/>
              <a:ea typeface="Calibri"/>
              <a:cs typeface="Calibri"/>
              <a:sym typeface="Calibri"/>
            </a:endParaRPr>
          </a:p>
        </p:txBody>
      </p:sp>
      <p:sp>
        <p:nvSpPr>
          <p:cNvPr id="341" name="Google Shape;341;p10"/>
          <p:cNvSpPr/>
          <p:nvPr/>
        </p:nvSpPr>
        <p:spPr>
          <a:xfrm>
            <a:off x="11521440" y="6446520"/>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6B80"/>
              </a:buClr>
              <a:buSzPts val="1000"/>
              <a:buFont typeface="Calibri"/>
              <a:buNone/>
            </a:pPr>
            <a:r>
              <a:rPr b="0" i="0" lang="en-US" sz="1000" u="none" cap="none" strike="noStrike">
                <a:solidFill>
                  <a:srgbClr val="5B6B80"/>
                </a:solidFill>
                <a:latin typeface="Calibri"/>
                <a:ea typeface="Calibri"/>
                <a:cs typeface="Calibri"/>
                <a:sym typeface="Calibri"/>
              </a:rPr>
              <a:t>10</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cxnSp>
        <p:nvCxnSpPr>
          <p:cNvPr id="347" name="Google Shape;347;p11"/>
          <p:cNvCxnSpPr/>
          <p:nvPr/>
        </p:nvCxnSpPr>
        <p:spPr>
          <a:xfrm flipH="1" rot="10800000">
            <a:off x="11292840" y="521208"/>
            <a:ext cx="320040" cy="91440"/>
          </a:xfrm>
          <a:prstGeom prst="straightConnector1">
            <a:avLst/>
          </a:prstGeom>
          <a:noFill/>
          <a:ln cap="flat" cmpd="sng" w="12700">
            <a:solidFill>
              <a:srgbClr val="C7D6E0"/>
            </a:solidFill>
            <a:prstDash val="solid"/>
            <a:round/>
            <a:headEnd len="sm" w="sm" type="none"/>
            <a:tailEnd len="sm" w="sm" type="none"/>
          </a:ln>
        </p:spPr>
      </p:cxnSp>
      <p:cxnSp>
        <p:nvCxnSpPr>
          <p:cNvPr id="348" name="Google Shape;348;p11"/>
          <p:cNvCxnSpPr/>
          <p:nvPr/>
        </p:nvCxnSpPr>
        <p:spPr>
          <a:xfrm>
            <a:off x="11612880" y="521208"/>
            <a:ext cx="274320" cy="137160"/>
          </a:xfrm>
          <a:prstGeom prst="straightConnector1">
            <a:avLst/>
          </a:prstGeom>
          <a:noFill/>
          <a:ln cap="flat" cmpd="sng" w="12700">
            <a:solidFill>
              <a:srgbClr val="C7D6E0"/>
            </a:solidFill>
            <a:prstDash val="solid"/>
            <a:round/>
            <a:headEnd len="sm" w="sm" type="none"/>
            <a:tailEnd len="sm" w="sm" type="none"/>
          </a:ln>
        </p:spPr>
      </p:cxnSp>
      <p:sp>
        <p:nvSpPr>
          <p:cNvPr id="349" name="Google Shape;349;p11"/>
          <p:cNvSpPr/>
          <p:nvPr/>
        </p:nvSpPr>
        <p:spPr>
          <a:xfrm>
            <a:off x="11247120" y="566928"/>
            <a:ext cx="91440" cy="91440"/>
          </a:xfrm>
          <a:prstGeom prst="ellipse">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11"/>
          <p:cNvSpPr/>
          <p:nvPr/>
        </p:nvSpPr>
        <p:spPr>
          <a:xfrm>
            <a:off x="11567160" y="475488"/>
            <a:ext cx="73152" cy="73152"/>
          </a:xfrm>
          <a:prstGeom prst="ellipse">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11"/>
          <p:cNvSpPr/>
          <p:nvPr/>
        </p:nvSpPr>
        <p:spPr>
          <a:xfrm>
            <a:off x="11841480" y="612648"/>
            <a:ext cx="82296" cy="82296"/>
          </a:xfrm>
          <a:prstGeom prst="ellipse">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11"/>
          <p:cNvSpPr/>
          <p:nvPr/>
        </p:nvSpPr>
        <p:spPr>
          <a:xfrm>
            <a:off x="548640" y="384048"/>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7293"/>
              </a:buClr>
              <a:buSzPts val="1200"/>
              <a:buFont typeface="Calibri"/>
              <a:buNone/>
            </a:pPr>
            <a:r>
              <a:rPr b="1" i="0" lang="en-US" sz="1200" u="none" cap="none" strike="noStrike">
                <a:solidFill>
                  <a:srgbClr val="1C7293"/>
                </a:solidFill>
                <a:latin typeface="Calibri"/>
                <a:ea typeface="Calibri"/>
                <a:cs typeface="Calibri"/>
                <a:sym typeface="Calibri"/>
              </a:rPr>
              <a:t>03 · EVALUATION</a:t>
            </a:r>
            <a:endParaRPr b="0" i="0" sz="1200" u="none" cap="none" strike="noStrike">
              <a:solidFill>
                <a:schemeClr val="dk1"/>
              </a:solidFill>
              <a:latin typeface="Calibri"/>
              <a:ea typeface="Calibri"/>
              <a:cs typeface="Calibri"/>
              <a:sym typeface="Calibri"/>
            </a:endParaRPr>
          </a:p>
        </p:txBody>
      </p:sp>
      <p:sp>
        <p:nvSpPr>
          <p:cNvPr id="353" name="Google Shape;353;p11"/>
          <p:cNvSpPr/>
          <p:nvPr/>
        </p:nvSpPr>
        <p:spPr>
          <a:xfrm>
            <a:off x="548640" y="658368"/>
            <a:ext cx="987552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1295C"/>
              </a:buClr>
              <a:buSzPts val="3000"/>
              <a:buFont typeface="Cambria"/>
              <a:buNone/>
            </a:pPr>
            <a:r>
              <a:rPr b="1" i="0" lang="en-US" sz="3000" u="none" cap="none" strike="noStrike">
                <a:solidFill>
                  <a:srgbClr val="21295C"/>
                </a:solidFill>
                <a:latin typeface="Cambria"/>
                <a:ea typeface="Cambria"/>
                <a:cs typeface="Cambria"/>
                <a:sym typeface="Cambria"/>
              </a:rPr>
              <a:t>Model Comparison — Test Set Results</a:t>
            </a:r>
            <a:endParaRPr b="0" i="0" sz="3000" u="none" cap="none" strike="noStrike">
              <a:solidFill>
                <a:schemeClr val="dk1"/>
              </a:solidFill>
              <a:latin typeface="Calibri"/>
              <a:ea typeface="Calibri"/>
              <a:cs typeface="Calibri"/>
              <a:sym typeface="Calibri"/>
            </a:endParaRPr>
          </a:p>
        </p:txBody>
      </p:sp>
      <p:sp>
        <p:nvSpPr>
          <p:cNvPr id="354" name="Google Shape;354;p11"/>
          <p:cNvSpPr/>
          <p:nvPr/>
        </p:nvSpPr>
        <p:spPr>
          <a:xfrm>
            <a:off x="7452360" y="1737335"/>
            <a:ext cx="4206300" cy="4206300"/>
          </a:xfrm>
          <a:prstGeom prst="roundRect">
            <a:avLst>
              <a:gd fmla="val 1739" name="adj"/>
            </a:avLst>
          </a:prstGeom>
          <a:solidFill>
            <a:srgbClr val="F0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11"/>
          <p:cNvSpPr/>
          <p:nvPr/>
        </p:nvSpPr>
        <p:spPr>
          <a:xfrm>
            <a:off x="7680960" y="1965935"/>
            <a:ext cx="3749100" cy="320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430"/>
              </a:buClr>
              <a:buSzPts val="1400"/>
              <a:buFont typeface="Cambria"/>
              <a:buNone/>
            </a:pPr>
            <a:r>
              <a:rPr b="1" lang="en-US">
                <a:solidFill>
                  <a:srgbClr val="1B2430"/>
                </a:solidFill>
                <a:latin typeface="Cambria"/>
                <a:ea typeface="Cambria"/>
                <a:cs typeface="Cambria"/>
                <a:sym typeface="Cambria"/>
              </a:rPr>
              <a:t>Key Findings</a:t>
            </a:r>
            <a:endParaRPr b="0" i="0" sz="1400" u="none" cap="none" strike="noStrike">
              <a:solidFill>
                <a:schemeClr val="dk1"/>
              </a:solidFill>
              <a:latin typeface="Calibri"/>
              <a:ea typeface="Calibri"/>
              <a:cs typeface="Calibri"/>
              <a:sym typeface="Calibri"/>
            </a:endParaRPr>
          </a:p>
        </p:txBody>
      </p:sp>
      <p:sp>
        <p:nvSpPr>
          <p:cNvPr id="356" name="Google Shape;356;p11"/>
          <p:cNvSpPr/>
          <p:nvPr/>
        </p:nvSpPr>
        <p:spPr>
          <a:xfrm>
            <a:off x="7680960" y="2468880"/>
            <a:ext cx="109728" cy="109728"/>
          </a:xfrm>
          <a:prstGeom prst="ellipse">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11"/>
          <p:cNvSpPr/>
          <p:nvPr/>
        </p:nvSpPr>
        <p:spPr>
          <a:xfrm>
            <a:off x="7909560" y="2180833"/>
            <a:ext cx="356610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430"/>
              </a:buClr>
              <a:buSzPts val="1200"/>
              <a:buFont typeface="Calibri"/>
              <a:buNone/>
            </a:pPr>
            <a:r>
              <a:rPr b="0" i="0" lang="en-US" sz="1200" u="none" cap="none" strike="noStrike">
                <a:solidFill>
                  <a:srgbClr val="1B2430"/>
                </a:solidFill>
                <a:latin typeface="Calibri"/>
                <a:ea typeface="Calibri"/>
                <a:cs typeface="Calibri"/>
                <a:sym typeface="Calibri"/>
              </a:rPr>
              <a:t>Lower RMSE/MAE = better rating accuracy</a:t>
            </a:r>
            <a:endParaRPr b="0" i="0" sz="1200" u="none" cap="none" strike="noStrike">
              <a:solidFill>
                <a:schemeClr val="dk1"/>
              </a:solidFill>
              <a:latin typeface="Calibri"/>
              <a:ea typeface="Calibri"/>
              <a:cs typeface="Calibri"/>
              <a:sym typeface="Calibri"/>
            </a:endParaRPr>
          </a:p>
        </p:txBody>
      </p:sp>
      <p:sp>
        <p:nvSpPr>
          <p:cNvPr id="358" name="Google Shape;358;p11"/>
          <p:cNvSpPr/>
          <p:nvPr/>
        </p:nvSpPr>
        <p:spPr>
          <a:xfrm>
            <a:off x="7680960" y="3246120"/>
            <a:ext cx="109728" cy="109728"/>
          </a:xfrm>
          <a:prstGeom prst="ellipse">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11"/>
          <p:cNvSpPr/>
          <p:nvPr/>
        </p:nvSpPr>
        <p:spPr>
          <a:xfrm>
            <a:off x="7909548" y="2907773"/>
            <a:ext cx="356610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430"/>
              </a:buClr>
              <a:buSzPts val="1200"/>
              <a:buFont typeface="Calibri"/>
              <a:buNone/>
            </a:pPr>
            <a:r>
              <a:rPr b="0" i="0" lang="en-US" sz="1200" u="none" cap="none" strike="noStrike">
                <a:solidFill>
                  <a:srgbClr val="1B2430"/>
                </a:solidFill>
                <a:latin typeface="Calibri"/>
                <a:ea typeface="Calibri"/>
                <a:cs typeface="Calibri"/>
                <a:sym typeface="Calibri"/>
              </a:rPr>
              <a:t>Higher NDCG@10 = better ranked recommendations</a:t>
            </a:r>
            <a:endParaRPr b="0" i="0" sz="1200" u="none" cap="none" strike="noStrike">
              <a:solidFill>
                <a:schemeClr val="dk1"/>
              </a:solidFill>
              <a:latin typeface="Calibri"/>
              <a:ea typeface="Calibri"/>
              <a:cs typeface="Calibri"/>
              <a:sym typeface="Calibri"/>
            </a:endParaRPr>
          </a:p>
        </p:txBody>
      </p:sp>
      <p:sp>
        <p:nvSpPr>
          <p:cNvPr id="360" name="Google Shape;360;p11"/>
          <p:cNvSpPr/>
          <p:nvPr/>
        </p:nvSpPr>
        <p:spPr>
          <a:xfrm>
            <a:off x="7680960" y="4023360"/>
            <a:ext cx="109728" cy="109728"/>
          </a:xfrm>
          <a:prstGeom prst="ellipse">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11"/>
          <p:cNvSpPr/>
          <p:nvPr/>
        </p:nvSpPr>
        <p:spPr>
          <a:xfrm>
            <a:off x="7909560" y="3710163"/>
            <a:ext cx="356610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430"/>
              </a:buClr>
              <a:buSzPts val="1200"/>
              <a:buFont typeface="Calibri"/>
              <a:buNone/>
            </a:pPr>
            <a:r>
              <a:rPr b="0" i="0" lang="en-US" sz="1200" u="none" cap="none" strike="noStrike">
                <a:solidFill>
                  <a:srgbClr val="1B2430"/>
                </a:solidFill>
                <a:latin typeface="Calibri"/>
                <a:ea typeface="Calibri"/>
                <a:cs typeface="Calibri"/>
                <a:sym typeface="Calibri"/>
              </a:rPr>
              <a:t>A model can win on one metric and lose on the other</a:t>
            </a:r>
            <a:endParaRPr b="0" i="0" sz="1200" u="none" cap="none" strike="noStrike">
              <a:solidFill>
                <a:schemeClr val="dk1"/>
              </a:solidFill>
              <a:latin typeface="Calibri"/>
              <a:ea typeface="Calibri"/>
              <a:cs typeface="Calibri"/>
              <a:sym typeface="Calibri"/>
            </a:endParaRPr>
          </a:p>
        </p:txBody>
      </p:sp>
      <p:sp>
        <p:nvSpPr>
          <p:cNvPr id="362" name="Google Shape;362;p11"/>
          <p:cNvSpPr/>
          <p:nvPr/>
        </p:nvSpPr>
        <p:spPr>
          <a:xfrm>
            <a:off x="11521440" y="6446520"/>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6B80"/>
              </a:buClr>
              <a:buSzPts val="1000"/>
              <a:buFont typeface="Calibri"/>
              <a:buNone/>
            </a:pPr>
            <a:r>
              <a:rPr b="0" i="0" lang="en-US" sz="1000" u="none" cap="none" strike="noStrike">
                <a:solidFill>
                  <a:srgbClr val="5B6B80"/>
                </a:solidFill>
                <a:latin typeface="Calibri"/>
                <a:ea typeface="Calibri"/>
                <a:cs typeface="Calibri"/>
                <a:sym typeface="Calibri"/>
              </a:rPr>
              <a:t>11</a:t>
            </a:r>
            <a:endParaRPr b="0" i="0" sz="1000" u="none" cap="none" strike="noStrike">
              <a:solidFill>
                <a:schemeClr val="dk1"/>
              </a:solidFill>
              <a:latin typeface="Calibri"/>
              <a:ea typeface="Calibri"/>
              <a:cs typeface="Calibri"/>
              <a:sym typeface="Calibri"/>
            </a:endParaRPr>
          </a:p>
        </p:txBody>
      </p:sp>
      <p:pic>
        <p:nvPicPr>
          <p:cNvPr id="363" name="Google Shape;363;p11"/>
          <p:cNvPicPr preferRelativeResize="0"/>
          <p:nvPr/>
        </p:nvPicPr>
        <p:blipFill>
          <a:blip r:embed="rId3">
            <a:alphaModFix/>
          </a:blip>
          <a:stretch>
            <a:fillRect/>
          </a:stretch>
        </p:blipFill>
        <p:spPr>
          <a:xfrm>
            <a:off x="137150" y="1582463"/>
            <a:ext cx="7315200" cy="4516016"/>
          </a:xfrm>
          <a:prstGeom prst="rect">
            <a:avLst/>
          </a:prstGeom>
          <a:noFill/>
          <a:ln>
            <a:noFill/>
          </a:ln>
        </p:spPr>
      </p:pic>
      <p:sp>
        <p:nvSpPr>
          <p:cNvPr id="536" name="Google Shape;360;p11"/>
          <p:cNvSpPr/>
          <p:nvPr/>
        </p:nvSpPr>
        <p:spPr>
          <a:xfrm>
            <a:off x="7680960" y="4800600"/>
            <a:ext cx="109728" cy="109728"/>
          </a:xfrm>
          <a:prstGeom prst="ellipse">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361;p11"/>
          <p:cNvSpPr/>
          <p:nvPr/>
        </p:nvSpPr>
        <p:spPr>
          <a:xfrm>
            <a:off x="7909560" y="4487403"/>
            <a:ext cx="356610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430"/>
              </a:buClr>
              <a:buSzPts val="1200"/>
              <a:buFont typeface="Calibri"/>
              <a:buNone/>
            </a:pPr>
            <a:r>
              <a:rPr b="0" i="0" lang="en-US" sz="1200" u="none" cap="none" strike="noStrike">
                <a:solidFill>
                  <a:srgbClr val="1B2430"/>
                </a:solidFill>
                <a:latin typeface="Calibri"/>
                <a:ea typeface="Calibri"/>
                <a:cs typeface="Calibri"/>
                <a:sym typeface="Calibri"/>
              </a:rPr>
              <a:t>This test-set win for NCF isn't statistically confirmed: a paired t-test on the CV folds gives p = 0.20 (t = -1.88).</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8" name="Shape 368"/>
        <p:cNvGrpSpPr/>
        <p:nvPr/>
      </p:nvGrpSpPr>
      <p:grpSpPr>
        <a:xfrm>
          <a:off x="0" y="0"/>
          <a:ext cx="0" cy="0"/>
          <a:chOff x="0" y="0"/>
          <a:chExt cx="0" cy="0"/>
        </a:xfrm>
      </p:grpSpPr>
      <p:cxnSp>
        <p:nvCxnSpPr>
          <p:cNvPr id="369" name="Google Shape;369;p12"/>
          <p:cNvCxnSpPr/>
          <p:nvPr/>
        </p:nvCxnSpPr>
        <p:spPr>
          <a:xfrm flipH="1" rot="10800000">
            <a:off x="11292840" y="521208"/>
            <a:ext cx="320040" cy="91440"/>
          </a:xfrm>
          <a:prstGeom prst="straightConnector1">
            <a:avLst/>
          </a:prstGeom>
          <a:noFill/>
          <a:ln cap="flat" cmpd="sng" w="12700">
            <a:solidFill>
              <a:srgbClr val="C7D6E0"/>
            </a:solidFill>
            <a:prstDash val="solid"/>
            <a:round/>
            <a:headEnd len="sm" w="sm" type="none"/>
            <a:tailEnd len="sm" w="sm" type="none"/>
          </a:ln>
        </p:spPr>
      </p:cxnSp>
      <p:cxnSp>
        <p:nvCxnSpPr>
          <p:cNvPr id="370" name="Google Shape;370;p12"/>
          <p:cNvCxnSpPr/>
          <p:nvPr/>
        </p:nvCxnSpPr>
        <p:spPr>
          <a:xfrm>
            <a:off x="11612880" y="521208"/>
            <a:ext cx="274320" cy="137160"/>
          </a:xfrm>
          <a:prstGeom prst="straightConnector1">
            <a:avLst/>
          </a:prstGeom>
          <a:noFill/>
          <a:ln cap="flat" cmpd="sng" w="12700">
            <a:solidFill>
              <a:srgbClr val="C7D6E0"/>
            </a:solidFill>
            <a:prstDash val="solid"/>
            <a:round/>
            <a:headEnd len="sm" w="sm" type="none"/>
            <a:tailEnd len="sm" w="sm" type="none"/>
          </a:ln>
        </p:spPr>
      </p:cxnSp>
      <p:sp>
        <p:nvSpPr>
          <p:cNvPr id="371" name="Google Shape;371;p12"/>
          <p:cNvSpPr/>
          <p:nvPr/>
        </p:nvSpPr>
        <p:spPr>
          <a:xfrm>
            <a:off x="11247120" y="566928"/>
            <a:ext cx="91440" cy="91440"/>
          </a:xfrm>
          <a:prstGeom prst="ellipse">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12"/>
          <p:cNvSpPr/>
          <p:nvPr/>
        </p:nvSpPr>
        <p:spPr>
          <a:xfrm>
            <a:off x="11567160" y="475488"/>
            <a:ext cx="73152" cy="73152"/>
          </a:xfrm>
          <a:prstGeom prst="ellipse">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12"/>
          <p:cNvSpPr/>
          <p:nvPr/>
        </p:nvSpPr>
        <p:spPr>
          <a:xfrm>
            <a:off x="11841480" y="612648"/>
            <a:ext cx="82296" cy="82296"/>
          </a:xfrm>
          <a:prstGeom prst="ellipse">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2"/>
          <p:cNvSpPr/>
          <p:nvPr/>
        </p:nvSpPr>
        <p:spPr>
          <a:xfrm>
            <a:off x="548640" y="384048"/>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7293"/>
              </a:buClr>
              <a:buSzPts val="1200"/>
              <a:buFont typeface="Calibri"/>
              <a:buNone/>
            </a:pPr>
            <a:r>
              <a:rPr b="1" i="0" lang="en-US" sz="1200" u="none" cap="none" strike="noStrike">
                <a:solidFill>
                  <a:srgbClr val="1C7293"/>
                </a:solidFill>
                <a:latin typeface="Calibri"/>
                <a:ea typeface="Calibri"/>
                <a:cs typeface="Calibri"/>
                <a:sym typeface="Calibri"/>
              </a:rPr>
              <a:t>04 · EXPLAINABILITY</a:t>
            </a:r>
            <a:endParaRPr b="0" i="0" sz="1200" u="none" cap="none" strike="noStrike">
              <a:solidFill>
                <a:schemeClr val="dk1"/>
              </a:solidFill>
              <a:latin typeface="Calibri"/>
              <a:ea typeface="Calibri"/>
              <a:cs typeface="Calibri"/>
              <a:sym typeface="Calibri"/>
            </a:endParaRPr>
          </a:p>
        </p:txBody>
      </p:sp>
      <p:sp>
        <p:nvSpPr>
          <p:cNvPr id="375" name="Google Shape;375;p12"/>
          <p:cNvSpPr/>
          <p:nvPr/>
        </p:nvSpPr>
        <p:spPr>
          <a:xfrm>
            <a:off x="548640" y="658368"/>
            <a:ext cx="987552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1295C"/>
              </a:buClr>
              <a:buSzPts val="3000"/>
              <a:buFont typeface="Cambria"/>
              <a:buNone/>
            </a:pPr>
            <a:r>
              <a:rPr b="1" i="0" lang="en-US" sz="3000" u="none" cap="none" strike="noStrike">
                <a:solidFill>
                  <a:srgbClr val="21295C"/>
                </a:solidFill>
                <a:latin typeface="Cambria"/>
                <a:ea typeface="Cambria"/>
                <a:cs typeface="Cambria"/>
                <a:sym typeface="Cambria"/>
              </a:rPr>
              <a:t>Explaining the Classical Model</a:t>
            </a:r>
            <a:endParaRPr b="0" i="0" sz="3000" u="none" cap="none" strike="noStrike">
              <a:solidFill>
                <a:schemeClr val="dk1"/>
              </a:solidFill>
              <a:latin typeface="Calibri"/>
              <a:ea typeface="Calibri"/>
              <a:cs typeface="Calibri"/>
              <a:sym typeface="Calibri"/>
            </a:endParaRPr>
          </a:p>
        </p:txBody>
      </p:sp>
      <p:sp>
        <p:nvSpPr>
          <p:cNvPr id="376" name="Google Shape;376;p12"/>
          <p:cNvSpPr/>
          <p:nvPr/>
        </p:nvSpPr>
        <p:spPr>
          <a:xfrm>
            <a:off x="7475275" y="1571450"/>
            <a:ext cx="4594800" cy="4206300"/>
          </a:xfrm>
          <a:prstGeom prst="roundRect">
            <a:avLst>
              <a:gd fmla="val 1739" name="adj"/>
            </a:avLst>
          </a:prstGeom>
          <a:solidFill>
            <a:srgbClr val="F0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12"/>
          <p:cNvSpPr/>
          <p:nvPr/>
        </p:nvSpPr>
        <p:spPr>
          <a:xfrm>
            <a:off x="7634875" y="1920250"/>
            <a:ext cx="42066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430"/>
              </a:buClr>
              <a:buSzPts val="1400"/>
              <a:buFont typeface="Cambria"/>
              <a:buNone/>
            </a:pPr>
            <a:r>
              <a:rPr b="1" lang="en-US">
                <a:solidFill>
                  <a:srgbClr val="1B2430"/>
                </a:solidFill>
                <a:latin typeface="Cambria"/>
                <a:ea typeface="Cambria"/>
                <a:cs typeface="Cambria"/>
                <a:sym typeface="Cambria"/>
              </a:rPr>
              <a:t>Interpreting the Latent Factors </a:t>
            </a:r>
            <a:endParaRPr b="0" i="0" sz="1400" u="none" cap="none" strike="noStrike">
              <a:solidFill>
                <a:schemeClr val="dk1"/>
              </a:solidFill>
              <a:latin typeface="Calibri"/>
              <a:ea typeface="Calibri"/>
              <a:cs typeface="Calibri"/>
              <a:sym typeface="Calibri"/>
            </a:endParaRPr>
          </a:p>
        </p:txBody>
      </p:sp>
      <p:sp>
        <p:nvSpPr>
          <p:cNvPr id="378" name="Google Shape;378;p12"/>
          <p:cNvSpPr/>
          <p:nvPr/>
        </p:nvSpPr>
        <p:spPr>
          <a:xfrm>
            <a:off x="7669375" y="2285950"/>
            <a:ext cx="4206600" cy="2676300"/>
          </a:xfrm>
          <a:prstGeom prst="rect">
            <a:avLst/>
          </a:prstGeom>
          <a:noFill/>
          <a:ln>
            <a:noFill/>
          </a:ln>
        </p:spPr>
        <p:txBody>
          <a:bodyPr anchorCtr="0" anchor="ctr" bIns="45700" lIns="91425" spcFirstLastPara="1" rIns="91425" wrap="square" tIns="45700">
            <a:noAutofit/>
          </a:bodyPr>
          <a:lstStyle/>
          <a:p>
            <a:pPr indent="0" lvl="0" marL="0" rtl="0" algn="l">
              <a:lnSpc>
                <a:spcPct val="125000"/>
              </a:lnSpc>
              <a:spcBef>
                <a:spcPts val="0"/>
              </a:spcBef>
              <a:spcAft>
                <a:spcPts val="0"/>
              </a:spcAft>
              <a:buClr>
                <a:schemeClr val="dk1"/>
              </a:buClr>
              <a:buSzPts val="1100"/>
              <a:buFont typeface="Arial"/>
              <a:buNone/>
            </a:pPr>
            <a:r>
              <a:rPr lang="en-US" sz="1250">
                <a:solidFill>
                  <a:srgbClr val="1B2430"/>
                </a:solidFill>
                <a:latin typeface="Calibri"/>
                <a:ea typeface="Calibri"/>
                <a:cs typeface="Calibri"/>
                <a:sym typeface="Calibri"/>
              </a:rPr>
              <a:t>• Each latent factor represents a hidden pattern learned from user–movie interactions.</a:t>
            </a:r>
            <a:endParaRPr sz="1250">
              <a:solidFill>
                <a:srgbClr val="1B2430"/>
              </a:solidFill>
              <a:latin typeface="Calibri"/>
              <a:ea typeface="Calibri"/>
              <a:cs typeface="Calibri"/>
              <a:sym typeface="Calibri"/>
            </a:endParaRPr>
          </a:p>
          <a:p>
            <a:pPr indent="0" lvl="0" marL="0" rtl="0" algn="l">
              <a:lnSpc>
                <a:spcPct val="125000"/>
              </a:lnSpc>
              <a:spcBef>
                <a:spcPts val="0"/>
              </a:spcBef>
              <a:spcAft>
                <a:spcPts val="0"/>
              </a:spcAft>
              <a:buClr>
                <a:schemeClr val="dk1"/>
              </a:buClr>
              <a:buSzPts val="1100"/>
              <a:buFont typeface="Arial"/>
              <a:buNone/>
            </a:pPr>
            <a:r>
              <a:t/>
            </a:r>
            <a:endParaRPr sz="1250">
              <a:solidFill>
                <a:srgbClr val="1B2430"/>
              </a:solidFill>
              <a:latin typeface="Calibri"/>
              <a:ea typeface="Calibri"/>
              <a:cs typeface="Calibri"/>
              <a:sym typeface="Calibri"/>
            </a:endParaRPr>
          </a:p>
          <a:p>
            <a:pPr indent="0" lvl="0" marL="0" rtl="0" algn="l">
              <a:lnSpc>
                <a:spcPct val="125000"/>
              </a:lnSpc>
              <a:spcBef>
                <a:spcPts val="0"/>
              </a:spcBef>
              <a:spcAft>
                <a:spcPts val="0"/>
              </a:spcAft>
              <a:buClr>
                <a:schemeClr val="dk1"/>
              </a:buClr>
              <a:buSzPts val="1100"/>
              <a:buFont typeface="Arial"/>
              <a:buNone/>
            </a:pPr>
            <a:r>
              <a:rPr lang="en-US" sz="1250">
                <a:solidFill>
                  <a:srgbClr val="1B2430"/>
                </a:solidFill>
                <a:latin typeface="Calibri"/>
                <a:ea typeface="Calibri"/>
                <a:cs typeface="Calibri"/>
                <a:sym typeface="Calibri"/>
              </a:rPr>
              <a:t>• Strong correlations with genres such as Action (0.17), Drama (0.16), Children (0.16) and Sci-Fi (0.15) show that the model captures meaningful preferences.</a:t>
            </a:r>
            <a:endParaRPr sz="1250">
              <a:solidFill>
                <a:srgbClr val="1B2430"/>
              </a:solidFill>
              <a:latin typeface="Calibri"/>
              <a:ea typeface="Calibri"/>
              <a:cs typeface="Calibri"/>
              <a:sym typeface="Calibri"/>
            </a:endParaRPr>
          </a:p>
          <a:p>
            <a:pPr indent="0" lvl="0" marL="0" rtl="0" algn="l">
              <a:lnSpc>
                <a:spcPct val="125000"/>
              </a:lnSpc>
              <a:spcBef>
                <a:spcPts val="0"/>
              </a:spcBef>
              <a:spcAft>
                <a:spcPts val="0"/>
              </a:spcAft>
              <a:buClr>
                <a:schemeClr val="dk1"/>
              </a:buClr>
              <a:buSzPts val="1100"/>
              <a:buFont typeface="Arial"/>
              <a:buNone/>
            </a:pPr>
            <a:r>
              <a:t/>
            </a:r>
            <a:endParaRPr sz="1250">
              <a:solidFill>
                <a:srgbClr val="1B2430"/>
              </a:solidFill>
              <a:latin typeface="Calibri"/>
              <a:ea typeface="Calibri"/>
              <a:cs typeface="Calibri"/>
              <a:sym typeface="Calibri"/>
            </a:endParaRPr>
          </a:p>
          <a:p>
            <a:pPr indent="0" lvl="0" marL="0" rtl="0" algn="l">
              <a:lnSpc>
                <a:spcPct val="125000"/>
              </a:lnSpc>
              <a:spcBef>
                <a:spcPts val="0"/>
              </a:spcBef>
              <a:spcAft>
                <a:spcPts val="0"/>
              </a:spcAft>
              <a:buClr>
                <a:schemeClr val="dk1"/>
              </a:buClr>
              <a:buSzPts val="1100"/>
              <a:buFont typeface="Arial"/>
              <a:buNone/>
            </a:pPr>
            <a:r>
              <a:rPr lang="en-US" sz="1250">
                <a:solidFill>
                  <a:srgbClr val="1B2430"/>
                </a:solidFill>
                <a:latin typeface="Calibri"/>
                <a:ea typeface="Calibri"/>
                <a:cs typeface="Calibri"/>
                <a:sym typeface="Calibri"/>
              </a:rPr>
              <a:t>• This demonstrates that SVD learns interpretable representations without using genre labels during training.</a:t>
            </a:r>
            <a:endParaRPr sz="1250">
              <a:solidFill>
                <a:srgbClr val="1B2430"/>
              </a:solidFill>
              <a:latin typeface="Calibri"/>
              <a:ea typeface="Calibri"/>
              <a:cs typeface="Calibri"/>
              <a:sym typeface="Calibri"/>
            </a:endParaRPr>
          </a:p>
          <a:p>
            <a:pPr indent="0" lvl="0" marL="0" marR="0" rtl="0" algn="l">
              <a:lnSpc>
                <a:spcPct val="125000"/>
              </a:lnSpc>
              <a:spcBef>
                <a:spcPts val="0"/>
              </a:spcBef>
              <a:spcAft>
                <a:spcPts val="0"/>
              </a:spcAft>
              <a:buClr>
                <a:srgbClr val="1B2430"/>
              </a:buClr>
              <a:buSzPts val="1250"/>
              <a:buFont typeface="Calibri"/>
              <a:buNone/>
            </a:pPr>
            <a:r>
              <a:t/>
            </a:r>
            <a:endParaRPr sz="1250">
              <a:solidFill>
                <a:srgbClr val="1B2430"/>
              </a:solidFill>
              <a:latin typeface="Calibri"/>
              <a:ea typeface="Calibri"/>
              <a:cs typeface="Calibri"/>
              <a:sym typeface="Calibri"/>
            </a:endParaRPr>
          </a:p>
        </p:txBody>
      </p:sp>
      <p:sp>
        <p:nvSpPr>
          <p:cNvPr id="379" name="Google Shape;379;p12"/>
          <p:cNvSpPr/>
          <p:nvPr/>
        </p:nvSpPr>
        <p:spPr>
          <a:xfrm>
            <a:off x="11521440" y="6446520"/>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6B80"/>
              </a:buClr>
              <a:buSzPts val="1000"/>
              <a:buFont typeface="Calibri"/>
              <a:buNone/>
            </a:pPr>
            <a:r>
              <a:rPr b="0" i="0" lang="en-US" sz="1000" u="none" cap="none" strike="noStrike">
                <a:solidFill>
                  <a:srgbClr val="5B6B80"/>
                </a:solidFill>
                <a:latin typeface="Calibri"/>
                <a:ea typeface="Calibri"/>
                <a:cs typeface="Calibri"/>
                <a:sym typeface="Calibri"/>
              </a:rPr>
              <a:t>12</a:t>
            </a:r>
            <a:endParaRPr b="0" i="0" sz="1000" u="none" cap="none" strike="noStrike">
              <a:solidFill>
                <a:schemeClr val="dk1"/>
              </a:solidFill>
              <a:latin typeface="Calibri"/>
              <a:ea typeface="Calibri"/>
              <a:cs typeface="Calibri"/>
              <a:sym typeface="Calibri"/>
            </a:endParaRPr>
          </a:p>
        </p:txBody>
      </p:sp>
      <p:pic>
        <p:nvPicPr>
          <p:cNvPr id="380" name="Google Shape;380;p12"/>
          <p:cNvPicPr preferRelativeResize="0"/>
          <p:nvPr/>
        </p:nvPicPr>
        <p:blipFill>
          <a:blip r:embed="rId3">
            <a:alphaModFix/>
          </a:blip>
          <a:stretch>
            <a:fillRect/>
          </a:stretch>
        </p:blipFill>
        <p:spPr>
          <a:xfrm>
            <a:off x="0" y="1571450"/>
            <a:ext cx="7475274" cy="470567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5" name="Shape 385"/>
        <p:cNvGrpSpPr/>
        <p:nvPr/>
      </p:nvGrpSpPr>
      <p:grpSpPr>
        <a:xfrm>
          <a:off x="0" y="0"/>
          <a:ext cx="0" cy="0"/>
          <a:chOff x="0" y="0"/>
          <a:chExt cx="0" cy="0"/>
        </a:xfrm>
      </p:grpSpPr>
      <p:cxnSp>
        <p:nvCxnSpPr>
          <p:cNvPr id="386" name="Google Shape;386;p13"/>
          <p:cNvCxnSpPr/>
          <p:nvPr/>
        </p:nvCxnSpPr>
        <p:spPr>
          <a:xfrm flipH="1" rot="10800000">
            <a:off x="11292840" y="521208"/>
            <a:ext cx="320040" cy="91440"/>
          </a:xfrm>
          <a:prstGeom prst="straightConnector1">
            <a:avLst/>
          </a:prstGeom>
          <a:noFill/>
          <a:ln cap="flat" cmpd="sng" w="12700">
            <a:solidFill>
              <a:srgbClr val="C7D6E0"/>
            </a:solidFill>
            <a:prstDash val="solid"/>
            <a:round/>
            <a:headEnd len="sm" w="sm" type="none"/>
            <a:tailEnd len="sm" w="sm" type="none"/>
          </a:ln>
        </p:spPr>
      </p:cxnSp>
      <p:cxnSp>
        <p:nvCxnSpPr>
          <p:cNvPr id="387" name="Google Shape;387;p13"/>
          <p:cNvCxnSpPr/>
          <p:nvPr/>
        </p:nvCxnSpPr>
        <p:spPr>
          <a:xfrm>
            <a:off x="11612880" y="521208"/>
            <a:ext cx="274320" cy="137160"/>
          </a:xfrm>
          <a:prstGeom prst="straightConnector1">
            <a:avLst/>
          </a:prstGeom>
          <a:noFill/>
          <a:ln cap="flat" cmpd="sng" w="12700">
            <a:solidFill>
              <a:srgbClr val="C7D6E0"/>
            </a:solidFill>
            <a:prstDash val="solid"/>
            <a:round/>
            <a:headEnd len="sm" w="sm" type="none"/>
            <a:tailEnd len="sm" w="sm" type="none"/>
          </a:ln>
        </p:spPr>
      </p:cxnSp>
      <p:sp>
        <p:nvSpPr>
          <p:cNvPr id="388" name="Google Shape;388;p13"/>
          <p:cNvSpPr/>
          <p:nvPr/>
        </p:nvSpPr>
        <p:spPr>
          <a:xfrm>
            <a:off x="11247120" y="566928"/>
            <a:ext cx="91440" cy="91440"/>
          </a:xfrm>
          <a:prstGeom prst="ellipse">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13"/>
          <p:cNvSpPr/>
          <p:nvPr/>
        </p:nvSpPr>
        <p:spPr>
          <a:xfrm>
            <a:off x="11567160" y="475488"/>
            <a:ext cx="73152" cy="73152"/>
          </a:xfrm>
          <a:prstGeom prst="ellipse">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13"/>
          <p:cNvSpPr/>
          <p:nvPr/>
        </p:nvSpPr>
        <p:spPr>
          <a:xfrm>
            <a:off x="11841480" y="612648"/>
            <a:ext cx="82296" cy="82296"/>
          </a:xfrm>
          <a:prstGeom prst="ellipse">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13"/>
          <p:cNvSpPr/>
          <p:nvPr/>
        </p:nvSpPr>
        <p:spPr>
          <a:xfrm>
            <a:off x="548640" y="384048"/>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7293"/>
              </a:buClr>
              <a:buSzPts val="1200"/>
              <a:buFont typeface="Calibri"/>
              <a:buNone/>
            </a:pPr>
            <a:r>
              <a:rPr b="1" i="0" lang="en-US" sz="1200" u="none" cap="none" strike="noStrike">
                <a:solidFill>
                  <a:srgbClr val="1C7293"/>
                </a:solidFill>
                <a:latin typeface="Calibri"/>
                <a:ea typeface="Calibri"/>
                <a:cs typeface="Calibri"/>
                <a:sym typeface="Calibri"/>
              </a:rPr>
              <a:t>04 · EXPLAINABILITY</a:t>
            </a:r>
            <a:endParaRPr b="0" i="0" sz="1200" u="none" cap="none" strike="noStrike">
              <a:solidFill>
                <a:schemeClr val="dk1"/>
              </a:solidFill>
              <a:latin typeface="Calibri"/>
              <a:ea typeface="Calibri"/>
              <a:cs typeface="Calibri"/>
              <a:sym typeface="Calibri"/>
            </a:endParaRPr>
          </a:p>
        </p:txBody>
      </p:sp>
      <p:sp>
        <p:nvSpPr>
          <p:cNvPr id="392" name="Google Shape;392;p13"/>
          <p:cNvSpPr/>
          <p:nvPr/>
        </p:nvSpPr>
        <p:spPr>
          <a:xfrm>
            <a:off x="548640" y="658368"/>
            <a:ext cx="987552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1295C"/>
              </a:buClr>
              <a:buSzPts val="3000"/>
              <a:buFont typeface="Cambria"/>
              <a:buNone/>
            </a:pPr>
            <a:r>
              <a:rPr b="1" i="0" lang="en-US" sz="3000" u="none" cap="none" strike="noStrike">
                <a:solidFill>
                  <a:srgbClr val="21295C"/>
                </a:solidFill>
                <a:latin typeface="Cambria"/>
                <a:ea typeface="Cambria"/>
                <a:cs typeface="Cambria"/>
                <a:sym typeface="Cambria"/>
              </a:rPr>
              <a:t>Explaining the Deep Model</a:t>
            </a:r>
            <a:endParaRPr b="0" i="0" sz="3000" u="none" cap="none" strike="noStrike">
              <a:solidFill>
                <a:schemeClr val="dk1"/>
              </a:solidFill>
              <a:latin typeface="Calibri"/>
              <a:ea typeface="Calibri"/>
              <a:cs typeface="Calibri"/>
              <a:sym typeface="Calibri"/>
            </a:endParaRPr>
          </a:p>
        </p:txBody>
      </p:sp>
      <p:sp>
        <p:nvSpPr>
          <p:cNvPr id="393" name="Google Shape;393;p13"/>
          <p:cNvSpPr/>
          <p:nvPr/>
        </p:nvSpPr>
        <p:spPr>
          <a:xfrm>
            <a:off x="5372325" y="5067600"/>
            <a:ext cx="5611200" cy="1548000"/>
          </a:xfrm>
          <a:prstGeom prst="roundRect">
            <a:avLst>
              <a:gd fmla="val 1778" name="adj"/>
            </a:avLst>
          </a:prstGeom>
          <a:solidFill>
            <a:srgbClr val="2129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13"/>
          <p:cNvSpPr/>
          <p:nvPr/>
        </p:nvSpPr>
        <p:spPr>
          <a:xfrm>
            <a:off x="5372316" y="5002535"/>
            <a:ext cx="41148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A33D"/>
              </a:buClr>
              <a:buSzPts val="1400"/>
              <a:buFont typeface="Cambria"/>
              <a:buNone/>
            </a:pPr>
            <a:r>
              <a:rPr b="1" lang="en-US">
                <a:solidFill>
                  <a:srgbClr val="E8A33D"/>
                </a:solidFill>
                <a:latin typeface="Cambria"/>
                <a:ea typeface="Cambria"/>
                <a:cs typeface="Cambria"/>
                <a:sym typeface="Cambria"/>
              </a:rPr>
              <a:t>Key Insights</a:t>
            </a:r>
            <a:endParaRPr b="0" i="0" sz="1400" u="none" cap="none" strike="noStrike">
              <a:solidFill>
                <a:schemeClr val="dk1"/>
              </a:solidFill>
              <a:latin typeface="Calibri"/>
              <a:ea typeface="Calibri"/>
              <a:cs typeface="Calibri"/>
              <a:sym typeface="Calibri"/>
            </a:endParaRPr>
          </a:p>
        </p:txBody>
      </p:sp>
      <p:sp>
        <p:nvSpPr>
          <p:cNvPr id="395" name="Google Shape;395;p13"/>
          <p:cNvSpPr/>
          <p:nvPr/>
        </p:nvSpPr>
        <p:spPr>
          <a:xfrm>
            <a:off x="5372325" y="5753399"/>
            <a:ext cx="4114800" cy="639900"/>
          </a:xfrm>
          <a:prstGeom prst="rect">
            <a:avLst/>
          </a:prstGeom>
          <a:noFill/>
          <a:ln>
            <a:noFill/>
          </a:ln>
        </p:spPr>
        <p:txBody>
          <a:bodyPr anchorCtr="0" anchor="ctr" bIns="45700" lIns="91425" spcFirstLastPara="1" rIns="91425" wrap="square" tIns="45700">
            <a:noAutofit/>
          </a:bodyPr>
          <a:lstStyle/>
          <a:p>
            <a:pPr indent="0" lvl="0" marL="0" rtl="0" algn="l">
              <a:lnSpc>
                <a:spcPct val="125000"/>
              </a:lnSpc>
              <a:spcBef>
                <a:spcPts val="0"/>
              </a:spcBef>
              <a:spcAft>
                <a:spcPts val="0"/>
              </a:spcAft>
              <a:buClr>
                <a:schemeClr val="dk1"/>
              </a:buClr>
              <a:buSzPts val="1100"/>
              <a:buFont typeface="Arial"/>
              <a:buNone/>
            </a:pPr>
            <a:r>
              <a:rPr lang="en-US" sz="1200">
                <a:solidFill>
                  <a:srgbClr val="FFFFFF"/>
                </a:solidFill>
                <a:latin typeface="Calibri"/>
                <a:ea typeface="Calibri"/>
                <a:cs typeface="Calibri"/>
                <a:sym typeface="Calibri"/>
              </a:rPr>
              <a:t>• SHAP identifies the most influential features across all predictions.</a:t>
            </a:r>
            <a:endParaRPr sz="1200">
              <a:solidFill>
                <a:srgbClr val="FFFFFF"/>
              </a:solidFill>
              <a:latin typeface="Calibri"/>
              <a:ea typeface="Calibri"/>
              <a:cs typeface="Calibri"/>
              <a:sym typeface="Calibri"/>
            </a:endParaRPr>
          </a:p>
          <a:p>
            <a:pPr indent="0" lvl="0" marL="0" rtl="0" algn="l">
              <a:lnSpc>
                <a:spcPct val="125000"/>
              </a:lnSpc>
              <a:spcBef>
                <a:spcPts val="0"/>
              </a:spcBef>
              <a:spcAft>
                <a:spcPts val="0"/>
              </a:spcAft>
              <a:buClr>
                <a:schemeClr val="dk1"/>
              </a:buClr>
              <a:buSzPts val="1100"/>
              <a:buFont typeface="Arial"/>
              <a:buNone/>
            </a:pPr>
            <a:r>
              <a:rPr lang="en-US" sz="1200">
                <a:solidFill>
                  <a:srgbClr val="FFFFFF"/>
                </a:solidFill>
                <a:latin typeface="Calibri"/>
                <a:ea typeface="Calibri"/>
                <a:cs typeface="Calibri"/>
                <a:sym typeface="Calibri"/>
              </a:rPr>
              <a:t>• LIME explains individual recommendations.</a:t>
            </a:r>
            <a:endParaRPr sz="1200">
              <a:solidFill>
                <a:srgbClr val="FFFFFF"/>
              </a:solidFill>
              <a:latin typeface="Calibri"/>
              <a:ea typeface="Calibri"/>
              <a:cs typeface="Calibri"/>
              <a:sym typeface="Calibri"/>
            </a:endParaRPr>
          </a:p>
          <a:p>
            <a:pPr indent="0" lvl="0" marL="0" rtl="0" algn="l">
              <a:lnSpc>
                <a:spcPct val="125000"/>
              </a:lnSpc>
              <a:spcBef>
                <a:spcPts val="0"/>
              </a:spcBef>
              <a:spcAft>
                <a:spcPts val="0"/>
              </a:spcAft>
              <a:buClr>
                <a:schemeClr val="dk1"/>
              </a:buClr>
              <a:buSzPts val="1100"/>
              <a:buFont typeface="Arial"/>
              <a:buNone/>
            </a:pPr>
            <a:r>
              <a:rPr lang="en-US" sz="1200">
                <a:solidFill>
                  <a:srgbClr val="FFFFFF"/>
                </a:solidFill>
                <a:latin typeface="Calibri"/>
                <a:ea typeface="Calibri"/>
                <a:cs typeface="Calibri"/>
                <a:sym typeface="Calibri"/>
              </a:rPr>
              <a:t>• Together they improve transparency and trust in the NCF model.</a:t>
            </a:r>
            <a:endParaRPr sz="1200">
              <a:solidFill>
                <a:srgbClr val="FFFFFF"/>
              </a:solidFill>
              <a:latin typeface="Calibri"/>
              <a:ea typeface="Calibri"/>
              <a:cs typeface="Calibri"/>
              <a:sym typeface="Calibri"/>
            </a:endParaRPr>
          </a:p>
          <a:p>
            <a:pPr indent="0" lvl="0" marL="0" marR="0" rtl="0" algn="l">
              <a:lnSpc>
                <a:spcPct val="125000"/>
              </a:lnSpc>
              <a:spcBef>
                <a:spcPts val="0"/>
              </a:spcBef>
              <a:spcAft>
                <a:spcPts val="0"/>
              </a:spcAft>
              <a:buClr>
                <a:srgbClr val="FFFFFF"/>
              </a:buClr>
              <a:buSzPts val="1200"/>
              <a:buFont typeface="Calibri"/>
              <a:buNone/>
            </a:pPr>
            <a:r>
              <a:t/>
            </a:r>
            <a:endParaRPr sz="1200">
              <a:solidFill>
                <a:srgbClr val="FFFFFF"/>
              </a:solidFill>
              <a:latin typeface="Calibri"/>
              <a:ea typeface="Calibri"/>
              <a:cs typeface="Calibri"/>
              <a:sym typeface="Calibri"/>
            </a:endParaRPr>
          </a:p>
        </p:txBody>
      </p:sp>
      <p:sp>
        <p:nvSpPr>
          <p:cNvPr id="396" name="Google Shape;396;p13"/>
          <p:cNvSpPr/>
          <p:nvPr/>
        </p:nvSpPr>
        <p:spPr>
          <a:xfrm>
            <a:off x="11521440" y="6446520"/>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6B80"/>
              </a:buClr>
              <a:buSzPts val="1000"/>
              <a:buFont typeface="Calibri"/>
              <a:buNone/>
            </a:pPr>
            <a:r>
              <a:rPr b="0" i="0" lang="en-US" sz="1000" u="none" cap="none" strike="noStrike">
                <a:solidFill>
                  <a:srgbClr val="5B6B80"/>
                </a:solidFill>
                <a:latin typeface="Calibri"/>
                <a:ea typeface="Calibri"/>
                <a:cs typeface="Calibri"/>
                <a:sym typeface="Calibri"/>
              </a:rPr>
              <a:t>13</a:t>
            </a:r>
            <a:endParaRPr b="0" i="0" sz="1000" u="none" cap="none" strike="noStrike">
              <a:solidFill>
                <a:schemeClr val="dk1"/>
              </a:solidFill>
              <a:latin typeface="Calibri"/>
              <a:ea typeface="Calibri"/>
              <a:cs typeface="Calibri"/>
              <a:sym typeface="Calibri"/>
            </a:endParaRPr>
          </a:p>
        </p:txBody>
      </p:sp>
      <p:pic>
        <p:nvPicPr>
          <p:cNvPr id="397" name="Google Shape;397;p13"/>
          <p:cNvPicPr preferRelativeResize="0"/>
          <p:nvPr/>
        </p:nvPicPr>
        <p:blipFill>
          <a:blip r:embed="rId3">
            <a:alphaModFix/>
          </a:blip>
          <a:stretch>
            <a:fillRect/>
          </a:stretch>
        </p:blipFill>
        <p:spPr>
          <a:xfrm>
            <a:off x="313850" y="1481325"/>
            <a:ext cx="4952151" cy="5239525"/>
          </a:xfrm>
          <a:prstGeom prst="rect">
            <a:avLst/>
          </a:prstGeom>
          <a:noFill/>
          <a:ln>
            <a:noFill/>
          </a:ln>
        </p:spPr>
      </p:pic>
      <p:pic>
        <p:nvPicPr>
          <p:cNvPr id="398" name="Google Shape;398;p13"/>
          <p:cNvPicPr preferRelativeResize="0"/>
          <p:nvPr/>
        </p:nvPicPr>
        <p:blipFill>
          <a:blip r:embed="rId4">
            <a:alphaModFix/>
          </a:blip>
          <a:stretch>
            <a:fillRect/>
          </a:stretch>
        </p:blipFill>
        <p:spPr>
          <a:xfrm>
            <a:off x="5372325" y="1643725"/>
            <a:ext cx="5611201" cy="31243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3" name="Shape 403"/>
        <p:cNvGrpSpPr/>
        <p:nvPr/>
      </p:nvGrpSpPr>
      <p:grpSpPr>
        <a:xfrm>
          <a:off x="0" y="0"/>
          <a:ext cx="0" cy="0"/>
          <a:chOff x="0" y="0"/>
          <a:chExt cx="0" cy="0"/>
        </a:xfrm>
      </p:grpSpPr>
      <p:cxnSp>
        <p:nvCxnSpPr>
          <p:cNvPr id="404" name="Google Shape;404;p14"/>
          <p:cNvCxnSpPr/>
          <p:nvPr/>
        </p:nvCxnSpPr>
        <p:spPr>
          <a:xfrm flipH="1" rot="10800000">
            <a:off x="11292840" y="521208"/>
            <a:ext cx="320040" cy="91440"/>
          </a:xfrm>
          <a:prstGeom prst="straightConnector1">
            <a:avLst/>
          </a:prstGeom>
          <a:noFill/>
          <a:ln cap="flat" cmpd="sng" w="12700">
            <a:solidFill>
              <a:srgbClr val="C7D6E0"/>
            </a:solidFill>
            <a:prstDash val="solid"/>
            <a:round/>
            <a:headEnd len="sm" w="sm" type="none"/>
            <a:tailEnd len="sm" w="sm" type="none"/>
          </a:ln>
        </p:spPr>
      </p:cxnSp>
      <p:cxnSp>
        <p:nvCxnSpPr>
          <p:cNvPr id="405" name="Google Shape;405;p14"/>
          <p:cNvCxnSpPr/>
          <p:nvPr/>
        </p:nvCxnSpPr>
        <p:spPr>
          <a:xfrm>
            <a:off x="11612880" y="521208"/>
            <a:ext cx="274320" cy="137160"/>
          </a:xfrm>
          <a:prstGeom prst="straightConnector1">
            <a:avLst/>
          </a:prstGeom>
          <a:noFill/>
          <a:ln cap="flat" cmpd="sng" w="12700">
            <a:solidFill>
              <a:srgbClr val="C7D6E0"/>
            </a:solidFill>
            <a:prstDash val="solid"/>
            <a:round/>
            <a:headEnd len="sm" w="sm" type="none"/>
            <a:tailEnd len="sm" w="sm" type="none"/>
          </a:ln>
        </p:spPr>
      </p:cxnSp>
      <p:sp>
        <p:nvSpPr>
          <p:cNvPr id="406" name="Google Shape;406;p14"/>
          <p:cNvSpPr/>
          <p:nvPr/>
        </p:nvSpPr>
        <p:spPr>
          <a:xfrm>
            <a:off x="11247120" y="566928"/>
            <a:ext cx="91440" cy="91440"/>
          </a:xfrm>
          <a:prstGeom prst="ellipse">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14"/>
          <p:cNvSpPr/>
          <p:nvPr/>
        </p:nvSpPr>
        <p:spPr>
          <a:xfrm>
            <a:off x="11567160" y="475488"/>
            <a:ext cx="73152" cy="73152"/>
          </a:xfrm>
          <a:prstGeom prst="ellipse">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14"/>
          <p:cNvSpPr/>
          <p:nvPr/>
        </p:nvSpPr>
        <p:spPr>
          <a:xfrm>
            <a:off x="11841480" y="612648"/>
            <a:ext cx="82296" cy="82296"/>
          </a:xfrm>
          <a:prstGeom prst="ellipse">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14"/>
          <p:cNvSpPr/>
          <p:nvPr/>
        </p:nvSpPr>
        <p:spPr>
          <a:xfrm>
            <a:off x="548640" y="384048"/>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7293"/>
              </a:buClr>
              <a:buSzPts val="1200"/>
              <a:buFont typeface="Calibri"/>
              <a:buNone/>
            </a:pPr>
            <a:r>
              <a:rPr b="1" i="0" lang="en-US" sz="1200" u="none" cap="none" strike="noStrike">
                <a:solidFill>
                  <a:srgbClr val="1C7293"/>
                </a:solidFill>
                <a:latin typeface="Calibri"/>
                <a:ea typeface="Calibri"/>
                <a:cs typeface="Calibri"/>
                <a:sym typeface="Calibri"/>
              </a:rPr>
              <a:t>05 · ETHICS &amp; BIAS</a:t>
            </a:r>
            <a:endParaRPr b="0" i="0" sz="1200" u="none" cap="none" strike="noStrike">
              <a:solidFill>
                <a:schemeClr val="dk1"/>
              </a:solidFill>
              <a:latin typeface="Calibri"/>
              <a:ea typeface="Calibri"/>
              <a:cs typeface="Calibri"/>
              <a:sym typeface="Calibri"/>
            </a:endParaRPr>
          </a:p>
        </p:txBody>
      </p:sp>
      <p:sp>
        <p:nvSpPr>
          <p:cNvPr id="410" name="Google Shape;410;p14"/>
          <p:cNvSpPr/>
          <p:nvPr/>
        </p:nvSpPr>
        <p:spPr>
          <a:xfrm>
            <a:off x="548640" y="1051543"/>
            <a:ext cx="9875400" cy="6858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b="1" lang="en-US" sz="3000">
                <a:solidFill>
                  <a:srgbClr val="21295C"/>
                </a:solidFill>
                <a:latin typeface="Cambria"/>
                <a:ea typeface="Cambria"/>
                <a:cs typeface="Cambria"/>
                <a:sym typeface="Cambria"/>
              </a:rPr>
              <a:t>EXPLAINABILITY / FAIRNESS                           |</a:t>
            </a:r>
            <a:endParaRPr b="1" sz="3000">
              <a:solidFill>
                <a:srgbClr val="21295C"/>
              </a:solidFill>
              <a:latin typeface="Cambria"/>
              <a:ea typeface="Cambria"/>
              <a:cs typeface="Cambria"/>
              <a:sym typeface="Cambria"/>
            </a:endParaRPr>
          </a:p>
          <a:p>
            <a:pPr indent="0" lvl="0" marL="0" rtl="0" algn="l">
              <a:spcBef>
                <a:spcPts val="0"/>
              </a:spcBef>
              <a:spcAft>
                <a:spcPts val="0"/>
              </a:spcAft>
              <a:buClr>
                <a:schemeClr val="dk1"/>
              </a:buClr>
              <a:buSzPts val="1100"/>
              <a:buFont typeface="Arial"/>
              <a:buNone/>
            </a:pPr>
            <a:r>
              <a:rPr b="1" lang="en-US" sz="3000">
                <a:solidFill>
                  <a:srgbClr val="21295C"/>
                </a:solidFill>
                <a:latin typeface="Cambria"/>
                <a:ea typeface="Cambria"/>
                <a:cs typeface="Cambria"/>
                <a:sym typeface="Cambria"/>
              </a:rPr>
              <a:t>| Evaluating Fairness Across User Groups </a:t>
            </a:r>
            <a:endParaRPr b="1" sz="3000">
              <a:solidFill>
                <a:srgbClr val="21295C"/>
              </a:solidFill>
              <a:latin typeface="Cambria"/>
              <a:ea typeface="Cambria"/>
              <a:cs typeface="Cambria"/>
              <a:sym typeface="Cambria"/>
            </a:endParaRPr>
          </a:p>
          <a:p>
            <a:pPr indent="0" lvl="0" marL="0" marR="0" rtl="0" algn="l">
              <a:spcBef>
                <a:spcPts val="0"/>
              </a:spcBef>
              <a:spcAft>
                <a:spcPts val="0"/>
              </a:spcAft>
              <a:buClr>
                <a:srgbClr val="21295C"/>
              </a:buClr>
              <a:buSzPts val="3000"/>
              <a:buFont typeface="Cambria"/>
              <a:buNone/>
            </a:pPr>
            <a:r>
              <a:t/>
            </a:r>
            <a:endParaRPr b="1" sz="3000">
              <a:solidFill>
                <a:srgbClr val="21295C"/>
              </a:solidFill>
              <a:latin typeface="Cambria"/>
              <a:ea typeface="Cambria"/>
              <a:cs typeface="Cambria"/>
              <a:sym typeface="Cambria"/>
            </a:endParaRPr>
          </a:p>
        </p:txBody>
      </p:sp>
      <p:sp>
        <p:nvSpPr>
          <p:cNvPr id="411" name="Google Shape;411;p14"/>
          <p:cNvSpPr/>
          <p:nvPr/>
        </p:nvSpPr>
        <p:spPr>
          <a:xfrm>
            <a:off x="11521440" y="6446520"/>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6B80"/>
              </a:buClr>
              <a:buSzPts val="1000"/>
              <a:buFont typeface="Calibri"/>
              <a:buNone/>
            </a:pPr>
            <a:r>
              <a:rPr b="0" i="0" lang="en-US" sz="1000" u="none" cap="none" strike="noStrike">
                <a:solidFill>
                  <a:srgbClr val="5B6B80"/>
                </a:solidFill>
                <a:latin typeface="Calibri"/>
                <a:ea typeface="Calibri"/>
                <a:cs typeface="Calibri"/>
                <a:sym typeface="Calibri"/>
              </a:rPr>
              <a:t>14</a:t>
            </a:r>
            <a:endParaRPr b="0" i="0" sz="1000" u="none" cap="none" strike="noStrike">
              <a:solidFill>
                <a:schemeClr val="dk1"/>
              </a:solidFill>
              <a:latin typeface="Calibri"/>
              <a:ea typeface="Calibri"/>
              <a:cs typeface="Calibri"/>
              <a:sym typeface="Calibri"/>
            </a:endParaRPr>
          </a:p>
        </p:txBody>
      </p:sp>
      <p:pic>
        <p:nvPicPr>
          <p:cNvPr id="412" name="Google Shape;412;p14"/>
          <p:cNvPicPr preferRelativeResize="0"/>
          <p:nvPr/>
        </p:nvPicPr>
        <p:blipFill>
          <a:blip r:embed="rId3">
            <a:alphaModFix/>
          </a:blip>
          <a:stretch>
            <a:fillRect/>
          </a:stretch>
        </p:blipFill>
        <p:spPr>
          <a:xfrm>
            <a:off x="152400" y="1889751"/>
            <a:ext cx="11887200" cy="2585275"/>
          </a:xfrm>
          <a:prstGeom prst="rect">
            <a:avLst/>
          </a:prstGeom>
          <a:noFill/>
          <a:ln>
            <a:noFill/>
          </a:ln>
        </p:spPr>
      </p:pic>
      <p:sp>
        <p:nvSpPr>
          <p:cNvPr id="413" name="Google Shape;413;p14"/>
          <p:cNvSpPr/>
          <p:nvPr/>
        </p:nvSpPr>
        <p:spPr>
          <a:xfrm>
            <a:off x="370200" y="4616475"/>
            <a:ext cx="9477600" cy="1710900"/>
          </a:xfrm>
          <a:prstGeom prst="roundRect">
            <a:avLst>
              <a:gd fmla="val 1778" name="adj"/>
            </a:avLst>
          </a:prstGeom>
          <a:solidFill>
            <a:srgbClr val="2129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14"/>
          <p:cNvSpPr/>
          <p:nvPr/>
        </p:nvSpPr>
        <p:spPr>
          <a:xfrm>
            <a:off x="486175" y="4616475"/>
            <a:ext cx="6950100" cy="399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A33D"/>
              </a:buClr>
              <a:buSzPts val="1400"/>
              <a:buFont typeface="Cambria"/>
              <a:buNone/>
            </a:pPr>
            <a:r>
              <a:rPr b="1" lang="en-US">
                <a:solidFill>
                  <a:srgbClr val="E8A33D"/>
                </a:solidFill>
                <a:latin typeface="Cambria"/>
                <a:ea typeface="Cambria"/>
                <a:cs typeface="Cambria"/>
                <a:sym typeface="Cambria"/>
              </a:rPr>
              <a:t>Key Insights</a:t>
            </a:r>
            <a:endParaRPr b="0" i="0" sz="1400" u="none" cap="none" strike="noStrike">
              <a:solidFill>
                <a:schemeClr val="dk1"/>
              </a:solidFill>
              <a:latin typeface="Calibri"/>
              <a:ea typeface="Calibri"/>
              <a:cs typeface="Calibri"/>
              <a:sym typeface="Calibri"/>
            </a:endParaRPr>
          </a:p>
        </p:txBody>
      </p:sp>
      <p:sp>
        <p:nvSpPr>
          <p:cNvPr id="415" name="Google Shape;415;p14"/>
          <p:cNvSpPr/>
          <p:nvPr/>
        </p:nvSpPr>
        <p:spPr>
          <a:xfrm>
            <a:off x="370200" y="5170904"/>
            <a:ext cx="6950100" cy="1026000"/>
          </a:xfrm>
          <a:prstGeom prst="rect">
            <a:avLst/>
          </a:prstGeom>
          <a:noFill/>
          <a:ln>
            <a:noFill/>
          </a:ln>
        </p:spPr>
        <p:txBody>
          <a:bodyPr anchorCtr="0" anchor="ctr" bIns="45700" lIns="91425" spcFirstLastPara="1" rIns="91425" wrap="square" tIns="45700">
            <a:noAutofit/>
          </a:bodyPr>
          <a:lstStyle/>
          <a:p>
            <a:pPr indent="-304800" lvl="0" marL="457200" rtl="0" algn="l">
              <a:lnSpc>
                <a:spcPct val="125000"/>
              </a:lnSpc>
              <a:spcBef>
                <a:spcPts val="0"/>
              </a:spcBef>
              <a:spcAft>
                <a:spcPts val="0"/>
              </a:spcAft>
              <a:buClr>
                <a:srgbClr val="FFFFFF"/>
              </a:buClr>
              <a:buSzPts val="1200"/>
              <a:buFont typeface="Calibri"/>
              <a:buChar char="●"/>
            </a:pPr>
            <a:r>
              <a:rPr lang="en-US" sz="1200">
                <a:solidFill>
                  <a:srgbClr val="FFFFFF"/>
                </a:solidFill>
                <a:latin typeface="Calibri"/>
                <a:ea typeface="Calibri"/>
                <a:cs typeface="Calibri"/>
                <a:sym typeface="Calibri"/>
              </a:rPr>
              <a:t>Small RMSE differences across gender and age groups.   </a:t>
            </a:r>
            <a:endParaRPr sz="1200">
              <a:solidFill>
                <a:srgbClr val="FFFFFF"/>
              </a:solidFill>
              <a:latin typeface="Calibri"/>
              <a:ea typeface="Calibri"/>
              <a:cs typeface="Calibri"/>
              <a:sym typeface="Calibri"/>
            </a:endParaRPr>
          </a:p>
          <a:p>
            <a:pPr indent="-304800" lvl="0" marL="457200" rtl="0" algn="l">
              <a:lnSpc>
                <a:spcPct val="125000"/>
              </a:lnSpc>
              <a:spcBef>
                <a:spcPts val="0"/>
              </a:spcBef>
              <a:spcAft>
                <a:spcPts val="0"/>
              </a:spcAft>
              <a:buClr>
                <a:srgbClr val="FFFFFF"/>
              </a:buClr>
              <a:buSzPts val="1200"/>
              <a:buFont typeface="Calibri"/>
              <a:buChar char="●"/>
            </a:pPr>
            <a:r>
              <a:rPr lang="en-US" sz="1200">
                <a:solidFill>
                  <a:srgbClr val="FFFFFF"/>
                </a:solidFill>
                <a:latin typeface="Calibri"/>
                <a:ea typeface="Calibri"/>
                <a:cs typeface="Calibri"/>
                <a:sym typeface="Calibri"/>
              </a:rPr>
              <a:t>NCF achieved slightly lower RMSE for most subgroups.   </a:t>
            </a:r>
            <a:endParaRPr sz="1200">
              <a:solidFill>
                <a:srgbClr val="FFFFFF"/>
              </a:solidFill>
              <a:latin typeface="Calibri"/>
              <a:ea typeface="Calibri"/>
              <a:cs typeface="Calibri"/>
              <a:sym typeface="Calibri"/>
            </a:endParaRPr>
          </a:p>
          <a:p>
            <a:pPr indent="-304800" lvl="0" marL="457200" rtl="0" algn="l">
              <a:lnSpc>
                <a:spcPct val="125000"/>
              </a:lnSpc>
              <a:spcBef>
                <a:spcPts val="0"/>
              </a:spcBef>
              <a:spcAft>
                <a:spcPts val="0"/>
              </a:spcAft>
              <a:buClr>
                <a:srgbClr val="FFFFFF"/>
              </a:buClr>
              <a:buSzPts val="1200"/>
              <a:buFont typeface="Calibri"/>
              <a:buChar char="●"/>
            </a:pPr>
            <a:r>
              <a:rPr lang="en-US" sz="1200">
                <a:solidFill>
                  <a:srgbClr val="FFFFFF"/>
                </a:solidFill>
                <a:latin typeface="Calibri"/>
                <a:ea typeface="Calibri"/>
                <a:cs typeface="Calibri"/>
                <a:sym typeface="Calibri"/>
              </a:rPr>
              <a:t>High-activity users had lower prediction errors.       </a:t>
            </a:r>
            <a:endParaRPr sz="1200">
              <a:solidFill>
                <a:srgbClr val="FFFFFF"/>
              </a:solidFill>
              <a:latin typeface="Calibri"/>
              <a:ea typeface="Calibri"/>
              <a:cs typeface="Calibri"/>
              <a:sym typeface="Calibri"/>
            </a:endParaRPr>
          </a:p>
          <a:p>
            <a:pPr indent="-304800" lvl="0" marL="457200" rtl="0" algn="l">
              <a:lnSpc>
                <a:spcPct val="125000"/>
              </a:lnSpc>
              <a:spcBef>
                <a:spcPts val="0"/>
              </a:spcBef>
              <a:spcAft>
                <a:spcPts val="0"/>
              </a:spcAft>
              <a:buClr>
                <a:srgbClr val="FFFFFF"/>
              </a:buClr>
              <a:buSzPts val="1200"/>
              <a:buFont typeface="Calibri"/>
              <a:buChar char="●"/>
            </a:pPr>
            <a:r>
              <a:rPr lang="en-US" sz="1200">
                <a:solidFill>
                  <a:srgbClr val="FFFFFF"/>
                </a:solidFill>
                <a:latin typeface="Calibri"/>
                <a:ea typeface="Calibri"/>
                <a:cs typeface="Calibri"/>
                <a:sym typeface="Calibri"/>
              </a:rPr>
              <a:t>Popular items were easier to predict than niche items.</a:t>
            </a:r>
            <a:endParaRPr sz="1200">
              <a:solidFill>
                <a:srgbClr val="FFFFFF"/>
              </a:solidFill>
              <a:latin typeface="Calibri"/>
              <a:ea typeface="Calibri"/>
              <a:cs typeface="Calibri"/>
              <a:sym typeface="Calibri"/>
            </a:endParaRPr>
          </a:p>
          <a:p>
            <a:pPr indent="0" lvl="0" marL="0" marR="0" rtl="0" algn="l">
              <a:lnSpc>
                <a:spcPct val="125000"/>
              </a:lnSpc>
              <a:spcBef>
                <a:spcPts val="0"/>
              </a:spcBef>
              <a:spcAft>
                <a:spcPts val="0"/>
              </a:spcAft>
              <a:buClr>
                <a:srgbClr val="FFFFFF"/>
              </a:buClr>
              <a:buSzPts val="1200"/>
              <a:buFont typeface="Calibri"/>
              <a:buNone/>
            </a:pPr>
            <a:r>
              <a:t/>
            </a:r>
            <a:endParaRPr sz="1200">
              <a:solidFill>
                <a:srgbClr val="FFFFFF"/>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0" name="Shape 420"/>
        <p:cNvGrpSpPr/>
        <p:nvPr/>
      </p:nvGrpSpPr>
      <p:grpSpPr>
        <a:xfrm>
          <a:off x="0" y="0"/>
          <a:ext cx="0" cy="0"/>
          <a:chOff x="0" y="0"/>
          <a:chExt cx="0" cy="0"/>
        </a:xfrm>
      </p:grpSpPr>
      <p:cxnSp>
        <p:nvCxnSpPr>
          <p:cNvPr id="421" name="Google Shape;421;p15"/>
          <p:cNvCxnSpPr/>
          <p:nvPr/>
        </p:nvCxnSpPr>
        <p:spPr>
          <a:xfrm flipH="1" rot="10800000">
            <a:off x="11292840" y="521208"/>
            <a:ext cx="320040" cy="91440"/>
          </a:xfrm>
          <a:prstGeom prst="straightConnector1">
            <a:avLst/>
          </a:prstGeom>
          <a:noFill/>
          <a:ln cap="flat" cmpd="sng" w="12700">
            <a:solidFill>
              <a:srgbClr val="C7D6E0"/>
            </a:solidFill>
            <a:prstDash val="solid"/>
            <a:round/>
            <a:headEnd len="sm" w="sm" type="none"/>
            <a:tailEnd len="sm" w="sm" type="none"/>
          </a:ln>
        </p:spPr>
      </p:cxnSp>
      <p:cxnSp>
        <p:nvCxnSpPr>
          <p:cNvPr id="422" name="Google Shape;422;p15"/>
          <p:cNvCxnSpPr/>
          <p:nvPr/>
        </p:nvCxnSpPr>
        <p:spPr>
          <a:xfrm>
            <a:off x="11612880" y="521208"/>
            <a:ext cx="274320" cy="137160"/>
          </a:xfrm>
          <a:prstGeom prst="straightConnector1">
            <a:avLst/>
          </a:prstGeom>
          <a:noFill/>
          <a:ln cap="flat" cmpd="sng" w="12700">
            <a:solidFill>
              <a:srgbClr val="C7D6E0"/>
            </a:solidFill>
            <a:prstDash val="solid"/>
            <a:round/>
            <a:headEnd len="sm" w="sm" type="none"/>
            <a:tailEnd len="sm" w="sm" type="none"/>
          </a:ln>
        </p:spPr>
      </p:cxnSp>
      <p:sp>
        <p:nvSpPr>
          <p:cNvPr id="423" name="Google Shape;423;p15"/>
          <p:cNvSpPr/>
          <p:nvPr/>
        </p:nvSpPr>
        <p:spPr>
          <a:xfrm>
            <a:off x="11247120" y="566928"/>
            <a:ext cx="91440" cy="91440"/>
          </a:xfrm>
          <a:prstGeom prst="ellipse">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15"/>
          <p:cNvSpPr/>
          <p:nvPr/>
        </p:nvSpPr>
        <p:spPr>
          <a:xfrm>
            <a:off x="11567160" y="475488"/>
            <a:ext cx="73152" cy="73152"/>
          </a:xfrm>
          <a:prstGeom prst="ellipse">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15"/>
          <p:cNvSpPr/>
          <p:nvPr/>
        </p:nvSpPr>
        <p:spPr>
          <a:xfrm>
            <a:off x="11841480" y="612648"/>
            <a:ext cx="82296" cy="82296"/>
          </a:xfrm>
          <a:prstGeom prst="ellipse">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15"/>
          <p:cNvSpPr/>
          <p:nvPr/>
        </p:nvSpPr>
        <p:spPr>
          <a:xfrm>
            <a:off x="548640" y="384048"/>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7293"/>
              </a:buClr>
              <a:buSzPts val="1200"/>
              <a:buFont typeface="Calibri"/>
              <a:buNone/>
            </a:pPr>
            <a:r>
              <a:rPr b="1" i="0" lang="en-US" sz="1200" u="none" cap="none" strike="noStrike">
                <a:solidFill>
                  <a:srgbClr val="1C7293"/>
                </a:solidFill>
                <a:latin typeface="Calibri"/>
                <a:ea typeface="Calibri"/>
                <a:cs typeface="Calibri"/>
                <a:sym typeface="Calibri"/>
              </a:rPr>
              <a:t>05 · ETHICS &amp; BIAS</a:t>
            </a:r>
            <a:endParaRPr b="0" i="0" sz="1200" u="none" cap="none" strike="noStrike">
              <a:solidFill>
                <a:schemeClr val="dk1"/>
              </a:solidFill>
              <a:latin typeface="Calibri"/>
              <a:ea typeface="Calibri"/>
              <a:cs typeface="Calibri"/>
              <a:sym typeface="Calibri"/>
            </a:endParaRPr>
          </a:p>
        </p:txBody>
      </p:sp>
      <p:sp>
        <p:nvSpPr>
          <p:cNvPr id="427" name="Google Shape;427;p15"/>
          <p:cNvSpPr/>
          <p:nvPr/>
        </p:nvSpPr>
        <p:spPr>
          <a:xfrm>
            <a:off x="548640" y="658368"/>
            <a:ext cx="987552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1295C"/>
              </a:buClr>
              <a:buSzPts val="3000"/>
              <a:buFont typeface="Cambria"/>
              <a:buNone/>
            </a:pPr>
            <a:r>
              <a:rPr b="1" i="0" lang="en-US" sz="3000" u="none" cap="none" strike="noStrike">
                <a:solidFill>
                  <a:srgbClr val="21295C"/>
                </a:solidFill>
                <a:latin typeface="Cambria"/>
                <a:ea typeface="Cambria"/>
                <a:cs typeface="Cambria"/>
                <a:sym typeface="Cambria"/>
              </a:rPr>
              <a:t>Ethical Considerations</a:t>
            </a:r>
            <a:endParaRPr b="0" i="0" sz="3000" u="none" cap="none" strike="noStrike">
              <a:solidFill>
                <a:schemeClr val="dk1"/>
              </a:solidFill>
              <a:latin typeface="Calibri"/>
              <a:ea typeface="Calibri"/>
              <a:cs typeface="Calibri"/>
              <a:sym typeface="Calibri"/>
            </a:endParaRPr>
          </a:p>
        </p:txBody>
      </p:sp>
      <p:sp>
        <p:nvSpPr>
          <p:cNvPr id="428" name="Google Shape;428;p15"/>
          <p:cNvSpPr/>
          <p:nvPr/>
        </p:nvSpPr>
        <p:spPr>
          <a:xfrm>
            <a:off x="548640" y="1737360"/>
            <a:ext cx="3520440" cy="4206240"/>
          </a:xfrm>
          <a:prstGeom prst="roundRect">
            <a:avLst>
              <a:gd fmla="val 2078" name="adj"/>
            </a:avLst>
          </a:prstGeom>
          <a:solidFill>
            <a:srgbClr val="F0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15"/>
          <p:cNvSpPr/>
          <p:nvPr/>
        </p:nvSpPr>
        <p:spPr>
          <a:xfrm>
            <a:off x="822960" y="1965960"/>
            <a:ext cx="548640" cy="548640"/>
          </a:xfrm>
          <a:prstGeom prst="roundRect">
            <a:avLst>
              <a:gd fmla="val 50000" name="adj"/>
            </a:avLst>
          </a:prstGeom>
          <a:solidFill>
            <a:srgbClr val="065A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15"/>
          <p:cNvSpPr/>
          <p:nvPr/>
        </p:nvSpPr>
        <p:spPr>
          <a:xfrm>
            <a:off x="822960" y="1965960"/>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2000"/>
              <a:buFont typeface="Cambria"/>
              <a:buNone/>
            </a:pPr>
            <a:r>
              <a:rPr b="1" i="0" lang="en-US" sz="2000" u="none" cap="none" strike="noStrike">
                <a:solidFill>
                  <a:srgbClr val="FFFFFF"/>
                </a:solidFill>
                <a:latin typeface="Cambria"/>
                <a:ea typeface="Cambria"/>
                <a:cs typeface="Cambria"/>
                <a:sym typeface="Cambria"/>
              </a:rPr>
              <a:t>1</a:t>
            </a:r>
            <a:endParaRPr b="0" i="0" sz="2000" u="none" cap="none" strike="noStrike">
              <a:solidFill>
                <a:schemeClr val="dk1"/>
              </a:solidFill>
              <a:latin typeface="Calibri"/>
              <a:ea typeface="Calibri"/>
              <a:cs typeface="Calibri"/>
              <a:sym typeface="Calibri"/>
            </a:endParaRPr>
          </a:p>
        </p:txBody>
      </p:sp>
      <p:sp>
        <p:nvSpPr>
          <p:cNvPr id="431" name="Google Shape;431;p15"/>
          <p:cNvSpPr/>
          <p:nvPr/>
        </p:nvSpPr>
        <p:spPr>
          <a:xfrm>
            <a:off x="822960" y="2697480"/>
            <a:ext cx="301752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65A82"/>
              </a:buClr>
              <a:buSzPts val="1500"/>
              <a:buFont typeface="Cambria"/>
              <a:buNone/>
            </a:pPr>
            <a:r>
              <a:rPr b="1" i="0" lang="en-US" sz="1500" u="none" cap="none" strike="noStrike">
                <a:solidFill>
                  <a:srgbClr val="065A82"/>
                </a:solidFill>
                <a:latin typeface="Cambria"/>
                <a:ea typeface="Cambria"/>
                <a:cs typeface="Cambria"/>
                <a:sym typeface="Cambria"/>
              </a:rPr>
              <a:t>Data Privacy</a:t>
            </a:r>
            <a:endParaRPr b="0" i="0" sz="1500" u="none" cap="none" strike="noStrike">
              <a:solidFill>
                <a:schemeClr val="dk1"/>
              </a:solidFill>
              <a:latin typeface="Calibri"/>
              <a:ea typeface="Calibri"/>
              <a:cs typeface="Calibri"/>
              <a:sym typeface="Calibri"/>
            </a:endParaRPr>
          </a:p>
        </p:txBody>
      </p:sp>
      <p:sp>
        <p:nvSpPr>
          <p:cNvPr id="432" name="Google Shape;432;p15"/>
          <p:cNvSpPr/>
          <p:nvPr/>
        </p:nvSpPr>
        <p:spPr>
          <a:xfrm>
            <a:off x="822960" y="3291840"/>
            <a:ext cx="3017520" cy="2468880"/>
          </a:xfrm>
          <a:prstGeom prst="rect">
            <a:avLst/>
          </a:prstGeom>
          <a:noFill/>
          <a:ln>
            <a:noFill/>
          </a:ln>
        </p:spPr>
        <p:txBody>
          <a:bodyPr anchorCtr="0" anchor="ctr" bIns="45700" lIns="91425" spcFirstLastPara="1" rIns="91425" wrap="square" tIns="45700">
            <a:noAutofit/>
          </a:bodyPr>
          <a:lstStyle/>
          <a:p>
            <a:pPr indent="0" lvl="0" marL="0" marR="0" rtl="0" algn="l">
              <a:lnSpc>
                <a:spcPct val="130000"/>
              </a:lnSpc>
              <a:spcBef>
                <a:spcPts val="0"/>
              </a:spcBef>
              <a:spcAft>
                <a:spcPts val="0"/>
              </a:spcAft>
              <a:buClr>
                <a:srgbClr val="1B2430"/>
              </a:buClr>
              <a:buSzPts val="1250"/>
              <a:buFont typeface="Calibri"/>
              <a:buNone/>
            </a:pPr>
            <a:r>
              <a:rPr b="0" i="0" lang="en-US" sz="1250" u="none" cap="none" strike="noStrike">
                <a:solidFill>
                  <a:srgbClr val="1B2430"/>
                </a:solidFill>
                <a:latin typeface="Calibri"/>
                <a:ea typeface="Calibri"/>
                <a:cs typeface="Calibri"/>
                <a:sym typeface="Calibri"/>
              </a:rPr>
              <a:t>Age + gender + ZIP code is a documented re-identification triple. Anonymised user IDs alone don't guarantee privacy.</a:t>
            </a:r>
            <a:endParaRPr b="0" i="0" sz="1250" u="none" cap="none" strike="noStrike">
              <a:solidFill>
                <a:schemeClr val="dk1"/>
              </a:solidFill>
              <a:latin typeface="Calibri"/>
              <a:ea typeface="Calibri"/>
              <a:cs typeface="Calibri"/>
              <a:sym typeface="Calibri"/>
            </a:endParaRPr>
          </a:p>
        </p:txBody>
      </p:sp>
      <p:sp>
        <p:nvSpPr>
          <p:cNvPr id="433" name="Google Shape;433;p15"/>
          <p:cNvSpPr/>
          <p:nvPr/>
        </p:nvSpPr>
        <p:spPr>
          <a:xfrm>
            <a:off x="4297680" y="1737360"/>
            <a:ext cx="3520440" cy="4206240"/>
          </a:xfrm>
          <a:prstGeom prst="roundRect">
            <a:avLst>
              <a:gd fmla="val 2078" name="adj"/>
            </a:avLst>
          </a:prstGeom>
          <a:solidFill>
            <a:srgbClr val="F0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15"/>
          <p:cNvSpPr/>
          <p:nvPr/>
        </p:nvSpPr>
        <p:spPr>
          <a:xfrm>
            <a:off x="4572000" y="1965960"/>
            <a:ext cx="548640" cy="548640"/>
          </a:xfrm>
          <a:prstGeom prst="roundRect">
            <a:avLst>
              <a:gd fmla="val 50000" name="adj"/>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15"/>
          <p:cNvSpPr/>
          <p:nvPr/>
        </p:nvSpPr>
        <p:spPr>
          <a:xfrm>
            <a:off x="4572000" y="1965960"/>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2000"/>
              <a:buFont typeface="Cambria"/>
              <a:buNone/>
            </a:pPr>
            <a:r>
              <a:rPr b="1" i="0" lang="en-US" sz="2000" u="none" cap="none" strike="noStrike">
                <a:solidFill>
                  <a:srgbClr val="FFFFFF"/>
                </a:solidFill>
                <a:latin typeface="Cambria"/>
                <a:ea typeface="Cambria"/>
                <a:cs typeface="Cambria"/>
                <a:sym typeface="Cambria"/>
              </a:rPr>
              <a:t>2</a:t>
            </a:r>
            <a:endParaRPr b="0" i="0" sz="2000" u="none" cap="none" strike="noStrike">
              <a:solidFill>
                <a:schemeClr val="dk1"/>
              </a:solidFill>
              <a:latin typeface="Calibri"/>
              <a:ea typeface="Calibri"/>
              <a:cs typeface="Calibri"/>
              <a:sym typeface="Calibri"/>
            </a:endParaRPr>
          </a:p>
        </p:txBody>
      </p:sp>
      <p:sp>
        <p:nvSpPr>
          <p:cNvPr id="436" name="Google Shape;436;p15"/>
          <p:cNvSpPr/>
          <p:nvPr/>
        </p:nvSpPr>
        <p:spPr>
          <a:xfrm>
            <a:off x="4572000" y="2697480"/>
            <a:ext cx="301752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7293"/>
              </a:buClr>
              <a:buSzPts val="1500"/>
              <a:buFont typeface="Cambria"/>
              <a:buNone/>
            </a:pPr>
            <a:r>
              <a:rPr b="1" i="0" lang="en-US" sz="1500" u="none" cap="none" strike="noStrike">
                <a:solidFill>
                  <a:srgbClr val="1C7293"/>
                </a:solidFill>
                <a:latin typeface="Cambria"/>
                <a:ea typeface="Cambria"/>
                <a:cs typeface="Cambria"/>
                <a:sym typeface="Cambria"/>
              </a:rPr>
              <a:t>Algorithmic Fairness</a:t>
            </a:r>
            <a:endParaRPr b="0" i="0" sz="1500" u="none" cap="none" strike="noStrike">
              <a:solidFill>
                <a:schemeClr val="dk1"/>
              </a:solidFill>
              <a:latin typeface="Calibri"/>
              <a:ea typeface="Calibri"/>
              <a:cs typeface="Calibri"/>
              <a:sym typeface="Calibri"/>
            </a:endParaRPr>
          </a:p>
        </p:txBody>
      </p:sp>
      <p:sp>
        <p:nvSpPr>
          <p:cNvPr id="437" name="Google Shape;437;p15"/>
          <p:cNvSpPr/>
          <p:nvPr/>
        </p:nvSpPr>
        <p:spPr>
          <a:xfrm>
            <a:off x="4572000" y="3291840"/>
            <a:ext cx="3017520" cy="2468880"/>
          </a:xfrm>
          <a:prstGeom prst="rect">
            <a:avLst/>
          </a:prstGeom>
          <a:noFill/>
          <a:ln>
            <a:noFill/>
          </a:ln>
        </p:spPr>
        <p:txBody>
          <a:bodyPr anchorCtr="0" anchor="ctr" bIns="45700" lIns="91425" spcFirstLastPara="1" rIns="91425" wrap="square" tIns="45700">
            <a:noAutofit/>
          </a:bodyPr>
          <a:lstStyle/>
          <a:p>
            <a:pPr indent="0" lvl="0" marL="0" marR="0" rtl="0" algn="l">
              <a:lnSpc>
                <a:spcPct val="130000"/>
              </a:lnSpc>
              <a:spcBef>
                <a:spcPts val="0"/>
              </a:spcBef>
              <a:spcAft>
                <a:spcPts val="0"/>
              </a:spcAft>
              <a:buClr>
                <a:srgbClr val="1B2430"/>
              </a:buClr>
              <a:buSzPts val="1250"/>
              <a:buFont typeface="Calibri"/>
              <a:buNone/>
            </a:pPr>
            <a:r>
              <a:rPr b="0" i="0" lang="en-US" sz="1250" u="none" cap="none" strike="noStrike">
                <a:solidFill>
                  <a:srgbClr val="1B2430"/>
                </a:solidFill>
                <a:latin typeface="Calibri"/>
                <a:ea typeface="Calibri"/>
                <a:cs typeface="Calibri"/>
                <a:sym typeface="Calibri"/>
              </a:rPr>
              <a:t>False negatives suppress exposure to content — compounding over time into reduced visibility for niche films/creators.</a:t>
            </a:r>
            <a:endParaRPr b="0" i="0" sz="1250" u="none" cap="none" strike="noStrike">
              <a:solidFill>
                <a:schemeClr val="dk1"/>
              </a:solidFill>
              <a:latin typeface="Calibri"/>
              <a:ea typeface="Calibri"/>
              <a:cs typeface="Calibri"/>
              <a:sym typeface="Calibri"/>
            </a:endParaRPr>
          </a:p>
        </p:txBody>
      </p:sp>
      <p:sp>
        <p:nvSpPr>
          <p:cNvPr id="438" name="Google Shape;438;p15"/>
          <p:cNvSpPr/>
          <p:nvPr/>
        </p:nvSpPr>
        <p:spPr>
          <a:xfrm>
            <a:off x="8046720" y="1737360"/>
            <a:ext cx="3520440" cy="4206240"/>
          </a:xfrm>
          <a:prstGeom prst="roundRect">
            <a:avLst>
              <a:gd fmla="val 2078" name="adj"/>
            </a:avLst>
          </a:prstGeom>
          <a:solidFill>
            <a:srgbClr val="F0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15"/>
          <p:cNvSpPr/>
          <p:nvPr/>
        </p:nvSpPr>
        <p:spPr>
          <a:xfrm>
            <a:off x="8321040" y="1965960"/>
            <a:ext cx="548640" cy="548640"/>
          </a:xfrm>
          <a:prstGeom prst="roundRect">
            <a:avLst>
              <a:gd fmla="val 50000" name="adj"/>
            </a:avLst>
          </a:prstGeom>
          <a:solidFill>
            <a:srgbClr val="E8A3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15"/>
          <p:cNvSpPr/>
          <p:nvPr/>
        </p:nvSpPr>
        <p:spPr>
          <a:xfrm>
            <a:off x="8321040" y="1965960"/>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2000"/>
              <a:buFont typeface="Cambria"/>
              <a:buNone/>
            </a:pPr>
            <a:r>
              <a:rPr b="1" i="0" lang="en-US" sz="2000" u="none" cap="none" strike="noStrike">
                <a:solidFill>
                  <a:srgbClr val="FFFFFF"/>
                </a:solidFill>
                <a:latin typeface="Cambria"/>
                <a:ea typeface="Cambria"/>
                <a:cs typeface="Cambria"/>
                <a:sym typeface="Cambria"/>
              </a:rPr>
              <a:t>3</a:t>
            </a:r>
            <a:endParaRPr b="0" i="0" sz="2000" u="none" cap="none" strike="noStrike">
              <a:solidFill>
                <a:schemeClr val="dk1"/>
              </a:solidFill>
              <a:latin typeface="Calibri"/>
              <a:ea typeface="Calibri"/>
              <a:cs typeface="Calibri"/>
              <a:sym typeface="Calibri"/>
            </a:endParaRPr>
          </a:p>
        </p:txBody>
      </p:sp>
      <p:sp>
        <p:nvSpPr>
          <p:cNvPr id="441" name="Google Shape;441;p15"/>
          <p:cNvSpPr/>
          <p:nvPr/>
        </p:nvSpPr>
        <p:spPr>
          <a:xfrm>
            <a:off x="8321040" y="2697480"/>
            <a:ext cx="301752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A33D"/>
              </a:buClr>
              <a:buSzPts val="1500"/>
              <a:buFont typeface="Cambria"/>
              <a:buNone/>
            </a:pPr>
            <a:r>
              <a:rPr b="1" i="0" lang="en-US" sz="1500" u="none" cap="none" strike="noStrike">
                <a:solidFill>
                  <a:srgbClr val="E8A33D"/>
                </a:solidFill>
                <a:latin typeface="Cambria"/>
                <a:ea typeface="Cambria"/>
                <a:cs typeface="Cambria"/>
                <a:sym typeface="Cambria"/>
              </a:rPr>
              <a:t>Bias &amp; Harm</a:t>
            </a:r>
            <a:endParaRPr b="0" i="0" sz="1500" u="none" cap="none" strike="noStrike">
              <a:solidFill>
                <a:schemeClr val="dk1"/>
              </a:solidFill>
              <a:latin typeface="Calibri"/>
              <a:ea typeface="Calibri"/>
              <a:cs typeface="Calibri"/>
              <a:sym typeface="Calibri"/>
            </a:endParaRPr>
          </a:p>
        </p:txBody>
      </p:sp>
      <p:sp>
        <p:nvSpPr>
          <p:cNvPr id="442" name="Google Shape;442;p15"/>
          <p:cNvSpPr/>
          <p:nvPr/>
        </p:nvSpPr>
        <p:spPr>
          <a:xfrm>
            <a:off x="8321040" y="3291840"/>
            <a:ext cx="3017520" cy="2468880"/>
          </a:xfrm>
          <a:prstGeom prst="rect">
            <a:avLst/>
          </a:prstGeom>
          <a:noFill/>
          <a:ln>
            <a:noFill/>
          </a:ln>
        </p:spPr>
        <p:txBody>
          <a:bodyPr anchorCtr="0" anchor="ctr" bIns="45700" lIns="91425" spcFirstLastPara="1" rIns="91425" wrap="square" tIns="45700">
            <a:noAutofit/>
          </a:bodyPr>
          <a:lstStyle/>
          <a:p>
            <a:pPr indent="0" lvl="0" marL="0" marR="0" rtl="0" algn="l">
              <a:lnSpc>
                <a:spcPct val="130000"/>
              </a:lnSpc>
              <a:spcBef>
                <a:spcPts val="0"/>
              </a:spcBef>
              <a:spcAft>
                <a:spcPts val="0"/>
              </a:spcAft>
              <a:buClr>
                <a:srgbClr val="1B2430"/>
              </a:buClr>
              <a:buSzPts val="1250"/>
              <a:buFont typeface="Calibri"/>
              <a:buNone/>
            </a:pPr>
            <a:r>
              <a:rPr b="0" i="0" lang="en-US" sz="1250" u="none" cap="none" strike="noStrike">
                <a:solidFill>
                  <a:srgbClr val="1B2430"/>
                </a:solidFill>
                <a:latin typeface="Calibri"/>
                <a:ea typeface="Calibri"/>
                <a:cs typeface="Calibri"/>
                <a:sym typeface="Calibri"/>
              </a:rPr>
              <a:t>Popularity bias + a non-representative 1997-98 cohort risk narrowing recommendations and under-serving minority groups.</a:t>
            </a:r>
            <a:endParaRPr b="0" i="0" sz="1250" u="none" cap="none" strike="noStrike">
              <a:solidFill>
                <a:schemeClr val="dk1"/>
              </a:solidFill>
              <a:latin typeface="Calibri"/>
              <a:ea typeface="Calibri"/>
              <a:cs typeface="Calibri"/>
              <a:sym typeface="Calibri"/>
            </a:endParaRPr>
          </a:p>
        </p:txBody>
      </p:sp>
      <p:sp>
        <p:nvSpPr>
          <p:cNvPr id="443" name="Google Shape;443;p15"/>
          <p:cNvSpPr/>
          <p:nvPr/>
        </p:nvSpPr>
        <p:spPr>
          <a:xfrm>
            <a:off x="11521440" y="6446520"/>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6B80"/>
              </a:buClr>
              <a:buSzPts val="1000"/>
              <a:buFont typeface="Calibri"/>
              <a:buNone/>
            </a:pPr>
            <a:r>
              <a:rPr b="0" i="0" lang="en-US" sz="1000" u="none" cap="none" strike="noStrike">
                <a:solidFill>
                  <a:srgbClr val="5B6B80"/>
                </a:solidFill>
                <a:latin typeface="Calibri"/>
                <a:ea typeface="Calibri"/>
                <a:cs typeface="Calibri"/>
                <a:sym typeface="Calibri"/>
              </a:rPr>
              <a:t>15</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8" name="Shape 448"/>
        <p:cNvGrpSpPr/>
        <p:nvPr/>
      </p:nvGrpSpPr>
      <p:grpSpPr>
        <a:xfrm>
          <a:off x="0" y="0"/>
          <a:ext cx="0" cy="0"/>
          <a:chOff x="0" y="0"/>
          <a:chExt cx="0" cy="0"/>
        </a:xfrm>
      </p:grpSpPr>
      <p:cxnSp>
        <p:nvCxnSpPr>
          <p:cNvPr id="449" name="Google Shape;449;p16"/>
          <p:cNvCxnSpPr/>
          <p:nvPr/>
        </p:nvCxnSpPr>
        <p:spPr>
          <a:xfrm flipH="1" rot="10800000">
            <a:off x="11292840" y="521208"/>
            <a:ext cx="320040" cy="91440"/>
          </a:xfrm>
          <a:prstGeom prst="straightConnector1">
            <a:avLst/>
          </a:prstGeom>
          <a:noFill/>
          <a:ln cap="flat" cmpd="sng" w="12700">
            <a:solidFill>
              <a:srgbClr val="C7D6E0"/>
            </a:solidFill>
            <a:prstDash val="solid"/>
            <a:round/>
            <a:headEnd len="sm" w="sm" type="none"/>
            <a:tailEnd len="sm" w="sm" type="none"/>
          </a:ln>
        </p:spPr>
      </p:cxnSp>
      <p:cxnSp>
        <p:nvCxnSpPr>
          <p:cNvPr id="450" name="Google Shape;450;p16"/>
          <p:cNvCxnSpPr/>
          <p:nvPr/>
        </p:nvCxnSpPr>
        <p:spPr>
          <a:xfrm>
            <a:off x="11612880" y="521208"/>
            <a:ext cx="274320" cy="137160"/>
          </a:xfrm>
          <a:prstGeom prst="straightConnector1">
            <a:avLst/>
          </a:prstGeom>
          <a:noFill/>
          <a:ln cap="flat" cmpd="sng" w="12700">
            <a:solidFill>
              <a:srgbClr val="C7D6E0"/>
            </a:solidFill>
            <a:prstDash val="solid"/>
            <a:round/>
            <a:headEnd len="sm" w="sm" type="none"/>
            <a:tailEnd len="sm" w="sm" type="none"/>
          </a:ln>
        </p:spPr>
      </p:cxnSp>
      <p:sp>
        <p:nvSpPr>
          <p:cNvPr id="451" name="Google Shape;451;p16"/>
          <p:cNvSpPr/>
          <p:nvPr/>
        </p:nvSpPr>
        <p:spPr>
          <a:xfrm>
            <a:off x="11247120" y="566928"/>
            <a:ext cx="91440" cy="91440"/>
          </a:xfrm>
          <a:prstGeom prst="ellipse">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16"/>
          <p:cNvSpPr/>
          <p:nvPr/>
        </p:nvSpPr>
        <p:spPr>
          <a:xfrm>
            <a:off x="11567160" y="475488"/>
            <a:ext cx="73152" cy="73152"/>
          </a:xfrm>
          <a:prstGeom prst="ellipse">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16"/>
          <p:cNvSpPr/>
          <p:nvPr/>
        </p:nvSpPr>
        <p:spPr>
          <a:xfrm>
            <a:off x="11841480" y="612648"/>
            <a:ext cx="82296" cy="82296"/>
          </a:xfrm>
          <a:prstGeom prst="ellipse">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16"/>
          <p:cNvSpPr/>
          <p:nvPr/>
        </p:nvSpPr>
        <p:spPr>
          <a:xfrm>
            <a:off x="548640" y="384048"/>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7293"/>
              </a:buClr>
              <a:buSzPts val="1200"/>
              <a:buFont typeface="Calibri"/>
              <a:buNone/>
            </a:pPr>
            <a:r>
              <a:rPr b="1" i="0" lang="en-US" sz="1200" u="none" cap="none" strike="noStrike">
                <a:solidFill>
                  <a:srgbClr val="1C7293"/>
                </a:solidFill>
                <a:latin typeface="Calibri"/>
                <a:ea typeface="Calibri"/>
                <a:cs typeface="Calibri"/>
                <a:sym typeface="Calibri"/>
              </a:rPr>
              <a:t>06 · DEPLOYMENT</a:t>
            </a:r>
            <a:endParaRPr b="0" i="0" sz="1200" u="none" cap="none" strike="noStrike">
              <a:solidFill>
                <a:schemeClr val="dk1"/>
              </a:solidFill>
              <a:latin typeface="Calibri"/>
              <a:ea typeface="Calibri"/>
              <a:cs typeface="Calibri"/>
              <a:sym typeface="Calibri"/>
            </a:endParaRPr>
          </a:p>
        </p:txBody>
      </p:sp>
      <p:sp>
        <p:nvSpPr>
          <p:cNvPr id="455" name="Google Shape;455;p16"/>
          <p:cNvSpPr/>
          <p:nvPr/>
        </p:nvSpPr>
        <p:spPr>
          <a:xfrm>
            <a:off x="548640" y="658368"/>
            <a:ext cx="987552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1295C"/>
              </a:buClr>
              <a:buSzPts val="3000"/>
              <a:buFont typeface="Cambria"/>
              <a:buNone/>
            </a:pPr>
            <a:r>
              <a:rPr b="1" i="0" lang="en-US" sz="3000" u="none" cap="none" strike="noStrike">
                <a:solidFill>
                  <a:srgbClr val="21295C"/>
                </a:solidFill>
                <a:latin typeface="Cambria"/>
                <a:ea typeface="Cambria"/>
                <a:cs typeface="Cambria"/>
                <a:sym typeface="Cambria"/>
              </a:rPr>
              <a:t>From Notebook to Production</a:t>
            </a:r>
            <a:endParaRPr b="0" i="0" sz="3000" u="none" cap="none" strike="noStrike">
              <a:solidFill>
                <a:schemeClr val="dk1"/>
              </a:solidFill>
              <a:latin typeface="Calibri"/>
              <a:ea typeface="Calibri"/>
              <a:cs typeface="Calibri"/>
              <a:sym typeface="Calibri"/>
            </a:endParaRPr>
          </a:p>
        </p:txBody>
      </p:sp>
      <p:sp>
        <p:nvSpPr>
          <p:cNvPr id="456" name="Google Shape;456;p16"/>
          <p:cNvSpPr/>
          <p:nvPr/>
        </p:nvSpPr>
        <p:spPr>
          <a:xfrm>
            <a:off x="548640" y="2377440"/>
            <a:ext cx="1965960" cy="1188720"/>
          </a:xfrm>
          <a:prstGeom prst="roundRect">
            <a:avLst>
              <a:gd fmla="val 5385" name="adj"/>
            </a:avLst>
          </a:prstGeom>
          <a:solidFill>
            <a:srgbClr val="065A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16"/>
          <p:cNvSpPr/>
          <p:nvPr/>
        </p:nvSpPr>
        <p:spPr>
          <a:xfrm>
            <a:off x="548640" y="2377440"/>
            <a:ext cx="1965960" cy="11887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Nightly batch</a:t>
            </a:r>
            <a:endParaRPr b="0" i="0" sz="12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scoring</a:t>
            </a:r>
            <a:endParaRPr b="0" i="0" sz="1200" u="none" cap="none" strike="noStrike">
              <a:solidFill>
                <a:schemeClr val="dk1"/>
              </a:solidFill>
              <a:latin typeface="Calibri"/>
              <a:ea typeface="Calibri"/>
              <a:cs typeface="Calibri"/>
              <a:sym typeface="Calibri"/>
            </a:endParaRPr>
          </a:p>
        </p:txBody>
      </p:sp>
      <p:cxnSp>
        <p:nvCxnSpPr>
          <p:cNvPr id="458" name="Google Shape;458;p16"/>
          <p:cNvCxnSpPr/>
          <p:nvPr/>
        </p:nvCxnSpPr>
        <p:spPr>
          <a:xfrm>
            <a:off x="2514600" y="2971800"/>
            <a:ext cx="256032" cy="0"/>
          </a:xfrm>
          <a:prstGeom prst="straightConnector1">
            <a:avLst/>
          </a:prstGeom>
          <a:noFill/>
          <a:ln cap="flat" cmpd="sng" w="25400">
            <a:solidFill>
              <a:srgbClr val="1C7293"/>
            </a:solidFill>
            <a:prstDash val="solid"/>
            <a:round/>
            <a:headEnd len="sm" w="sm" type="none"/>
            <a:tailEnd len="med" w="med" type="triangle"/>
          </a:ln>
        </p:spPr>
      </p:cxnSp>
      <p:sp>
        <p:nvSpPr>
          <p:cNvPr id="459" name="Google Shape;459;p16"/>
          <p:cNvSpPr/>
          <p:nvPr/>
        </p:nvSpPr>
        <p:spPr>
          <a:xfrm>
            <a:off x="2770632" y="2377440"/>
            <a:ext cx="1965960" cy="1188720"/>
          </a:xfrm>
          <a:prstGeom prst="roundRect">
            <a:avLst>
              <a:gd fmla="val 5385" name="adj"/>
            </a:avLst>
          </a:prstGeom>
          <a:solidFill>
            <a:srgbClr val="065A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16"/>
          <p:cNvSpPr/>
          <p:nvPr/>
        </p:nvSpPr>
        <p:spPr>
          <a:xfrm>
            <a:off x="2770632" y="2377440"/>
            <a:ext cx="1965960" cy="11887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Key-value</a:t>
            </a:r>
            <a:endParaRPr b="0" i="0" sz="12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store (cache)</a:t>
            </a:r>
            <a:endParaRPr b="0" i="0" sz="1200" u="none" cap="none" strike="noStrike">
              <a:solidFill>
                <a:schemeClr val="dk1"/>
              </a:solidFill>
              <a:latin typeface="Calibri"/>
              <a:ea typeface="Calibri"/>
              <a:cs typeface="Calibri"/>
              <a:sym typeface="Calibri"/>
            </a:endParaRPr>
          </a:p>
        </p:txBody>
      </p:sp>
      <p:cxnSp>
        <p:nvCxnSpPr>
          <p:cNvPr id="461" name="Google Shape;461;p16"/>
          <p:cNvCxnSpPr/>
          <p:nvPr/>
        </p:nvCxnSpPr>
        <p:spPr>
          <a:xfrm>
            <a:off x="4736592" y="2971800"/>
            <a:ext cx="256032" cy="0"/>
          </a:xfrm>
          <a:prstGeom prst="straightConnector1">
            <a:avLst/>
          </a:prstGeom>
          <a:noFill/>
          <a:ln cap="flat" cmpd="sng" w="25400">
            <a:solidFill>
              <a:srgbClr val="1C7293"/>
            </a:solidFill>
            <a:prstDash val="solid"/>
            <a:round/>
            <a:headEnd len="sm" w="sm" type="none"/>
            <a:tailEnd len="med" w="med" type="triangle"/>
          </a:ln>
        </p:spPr>
      </p:cxnSp>
      <p:sp>
        <p:nvSpPr>
          <p:cNvPr id="462" name="Google Shape;462;p16"/>
          <p:cNvSpPr/>
          <p:nvPr/>
        </p:nvSpPr>
        <p:spPr>
          <a:xfrm>
            <a:off x="4992624" y="2377440"/>
            <a:ext cx="1965960" cy="1188720"/>
          </a:xfrm>
          <a:prstGeom prst="roundRect">
            <a:avLst>
              <a:gd fmla="val 5385" name="adj"/>
            </a:avLst>
          </a:prstGeom>
          <a:solidFill>
            <a:srgbClr val="065A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16"/>
          <p:cNvSpPr/>
          <p:nvPr/>
        </p:nvSpPr>
        <p:spPr>
          <a:xfrm>
            <a:off x="4992624" y="2377440"/>
            <a:ext cx="1965960" cy="11887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Inference</a:t>
            </a:r>
            <a:endParaRPr b="0" i="0" sz="12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API</a:t>
            </a:r>
            <a:endParaRPr b="0" i="0" sz="1200" u="none" cap="none" strike="noStrike">
              <a:solidFill>
                <a:schemeClr val="dk1"/>
              </a:solidFill>
              <a:latin typeface="Calibri"/>
              <a:ea typeface="Calibri"/>
              <a:cs typeface="Calibri"/>
              <a:sym typeface="Calibri"/>
            </a:endParaRPr>
          </a:p>
        </p:txBody>
      </p:sp>
      <p:cxnSp>
        <p:nvCxnSpPr>
          <p:cNvPr id="464" name="Google Shape;464;p16"/>
          <p:cNvCxnSpPr/>
          <p:nvPr/>
        </p:nvCxnSpPr>
        <p:spPr>
          <a:xfrm>
            <a:off x="6958584" y="2971800"/>
            <a:ext cx="256032" cy="0"/>
          </a:xfrm>
          <a:prstGeom prst="straightConnector1">
            <a:avLst/>
          </a:prstGeom>
          <a:noFill/>
          <a:ln cap="flat" cmpd="sng" w="25400">
            <a:solidFill>
              <a:srgbClr val="1C7293"/>
            </a:solidFill>
            <a:prstDash val="solid"/>
            <a:round/>
            <a:headEnd len="sm" w="sm" type="none"/>
            <a:tailEnd len="med" w="med" type="triangle"/>
          </a:ln>
        </p:spPr>
      </p:cxnSp>
      <p:sp>
        <p:nvSpPr>
          <p:cNvPr id="465" name="Google Shape;465;p16"/>
          <p:cNvSpPr/>
          <p:nvPr/>
        </p:nvSpPr>
        <p:spPr>
          <a:xfrm>
            <a:off x="7214616" y="2377440"/>
            <a:ext cx="1965960" cy="1188720"/>
          </a:xfrm>
          <a:prstGeom prst="roundRect">
            <a:avLst>
              <a:gd fmla="val 5385" name="adj"/>
            </a:avLst>
          </a:prstGeom>
          <a:solidFill>
            <a:srgbClr val="E8A3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16"/>
          <p:cNvSpPr/>
          <p:nvPr/>
        </p:nvSpPr>
        <p:spPr>
          <a:xfrm>
            <a:off x="7214616" y="2377440"/>
            <a:ext cx="1965960" cy="11887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1295C"/>
              </a:buClr>
              <a:buSzPts val="1200"/>
              <a:buFont typeface="Calibri"/>
              <a:buNone/>
            </a:pPr>
            <a:r>
              <a:rPr b="1" i="0" lang="en-US" sz="1200" u="none" cap="none" strike="noStrike">
                <a:solidFill>
                  <a:srgbClr val="21295C"/>
                </a:solidFill>
                <a:latin typeface="Calibri"/>
                <a:ea typeface="Calibri"/>
                <a:cs typeface="Calibri"/>
                <a:sym typeface="Calibri"/>
              </a:rPr>
              <a:t>Live</a:t>
            </a:r>
            <a:endParaRPr b="0" i="0" sz="12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21295C"/>
              </a:buClr>
              <a:buSzPts val="1200"/>
              <a:buFont typeface="Calibri"/>
              <a:buNone/>
            </a:pPr>
            <a:r>
              <a:rPr b="1" i="0" lang="en-US" sz="1200" u="none" cap="none" strike="noStrike">
                <a:solidFill>
                  <a:srgbClr val="21295C"/>
                </a:solidFill>
                <a:latin typeface="Calibri"/>
                <a:ea typeface="Calibri"/>
                <a:cs typeface="Calibri"/>
                <a:sym typeface="Calibri"/>
              </a:rPr>
              <a:t>monitoring</a:t>
            </a:r>
            <a:endParaRPr b="0" i="0" sz="1200" u="none" cap="none" strike="noStrike">
              <a:solidFill>
                <a:schemeClr val="dk1"/>
              </a:solidFill>
              <a:latin typeface="Calibri"/>
              <a:ea typeface="Calibri"/>
              <a:cs typeface="Calibri"/>
              <a:sym typeface="Calibri"/>
            </a:endParaRPr>
          </a:p>
        </p:txBody>
      </p:sp>
      <p:cxnSp>
        <p:nvCxnSpPr>
          <p:cNvPr id="467" name="Google Shape;467;p16"/>
          <p:cNvCxnSpPr/>
          <p:nvPr/>
        </p:nvCxnSpPr>
        <p:spPr>
          <a:xfrm>
            <a:off x="9180576" y="2971800"/>
            <a:ext cx="256032" cy="0"/>
          </a:xfrm>
          <a:prstGeom prst="straightConnector1">
            <a:avLst/>
          </a:prstGeom>
          <a:noFill/>
          <a:ln cap="flat" cmpd="sng" w="25400">
            <a:solidFill>
              <a:srgbClr val="1C7293"/>
            </a:solidFill>
            <a:prstDash val="solid"/>
            <a:round/>
            <a:headEnd len="sm" w="sm" type="none"/>
            <a:tailEnd len="med" w="med" type="triangle"/>
          </a:ln>
        </p:spPr>
      </p:cxnSp>
      <p:sp>
        <p:nvSpPr>
          <p:cNvPr id="468" name="Google Shape;468;p16"/>
          <p:cNvSpPr/>
          <p:nvPr/>
        </p:nvSpPr>
        <p:spPr>
          <a:xfrm>
            <a:off x="9436608" y="2377440"/>
            <a:ext cx="1965960" cy="1188720"/>
          </a:xfrm>
          <a:prstGeom prst="roundRect">
            <a:avLst>
              <a:gd fmla="val 5385" name="adj"/>
            </a:avLst>
          </a:prstGeom>
          <a:solidFill>
            <a:srgbClr val="065A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16"/>
          <p:cNvSpPr/>
          <p:nvPr/>
        </p:nvSpPr>
        <p:spPr>
          <a:xfrm>
            <a:off x="9436608" y="2377440"/>
            <a:ext cx="1965960" cy="11887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Scheduled</a:t>
            </a:r>
            <a:endParaRPr b="0" i="0" sz="12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retraining</a:t>
            </a:r>
            <a:endParaRPr b="0" i="0" sz="1200" u="none" cap="none" strike="noStrike">
              <a:solidFill>
                <a:schemeClr val="dk1"/>
              </a:solidFill>
              <a:latin typeface="Calibri"/>
              <a:ea typeface="Calibri"/>
              <a:cs typeface="Calibri"/>
              <a:sym typeface="Calibri"/>
            </a:endParaRPr>
          </a:p>
        </p:txBody>
      </p:sp>
      <p:cxnSp>
        <p:nvCxnSpPr>
          <p:cNvPr id="470" name="Google Shape;470;p16"/>
          <p:cNvCxnSpPr/>
          <p:nvPr/>
        </p:nvCxnSpPr>
        <p:spPr>
          <a:xfrm>
            <a:off x="10419588" y="3566160"/>
            <a:ext cx="0" cy="502920"/>
          </a:xfrm>
          <a:prstGeom prst="straightConnector1">
            <a:avLst/>
          </a:prstGeom>
          <a:noFill/>
          <a:ln cap="flat" cmpd="sng" w="19050">
            <a:solidFill>
              <a:srgbClr val="5B6B80"/>
            </a:solidFill>
            <a:prstDash val="solid"/>
            <a:round/>
            <a:headEnd len="sm" w="sm" type="none"/>
            <a:tailEnd len="sm" w="sm" type="none"/>
          </a:ln>
        </p:spPr>
      </p:cxnSp>
      <p:cxnSp>
        <p:nvCxnSpPr>
          <p:cNvPr id="471" name="Google Shape;471;p16"/>
          <p:cNvCxnSpPr/>
          <p:nvPr/>
        </p:nvCxnSpPr>
        <p:spPr>
          <a:xfrm>
            <a:off x="1531620" y="4069080"/>
            <a:ext cx="8887968" cy="0"/>
          </a:xfrm>
          <a:prstGeom prst="straightConnector1">
            <a:avLst/>
          </a:prstGeom>
          <a:noFill/>
          <a:ln cap="flat" cmpd="sng" w="19050">
            <a:solidFill>
              <a:srgbClr val="5B6B80"/>
            </a:solidFill>
            <a:prstDash val="solid"/>
            <a:round/>
            <a:headEnd len="sm" w="sm" type="none"/>
            <a:tailEnd len="sm" w="sm" type="none"/>
          </a:ln>
        </p:spPr>
      </p:cxnSp>
      <p:cxnSp>
        <p:nvCxnSpPr>
          <p:cNvPr id="472" name="Google Shape;472;p16"/>
          <p:cNvCxnSpPr/>
          <p:nvPr/>
        </p:nvCxnSpPr>
        <p:spPr>
          <a:xfrm rot="10800000">
            <a:off x="1531620" y="3703320"/>
            <a:ext cx="0" cy="365760"/>
          </a:xfrm>
          <a:prstGeom prst="straightConnector1">
            <a:avLst/>
          </a:prstGeom>
          <a:noFill/>
          <a:ln cap="flat" cmpd="sng" w="19050">
            <a:solidFill>
              <a:srgbClr val="5B6B80"/>
            </a:solidFill>
            <a:prstDash val="solid"/>
            <a:round/>
            <a:headEnd len="sm" w="sm" type="none"/>
            <a:tailEnd len="med" w="med" type="triangle"/>
          </a:ln>
        </p:spPr>
      </p:cxnSp>
      <p:sp>
        <p:nvSpPr>
          <p:cNvPr id="473" name="Google Shape;473;p16"/>
          <p:cNvSpPr/>
          <p:nvPr/>
        </p:nvSpPr>
        <p:spPr>
          <a:xfrm>
            <a:off x="548640" y="4251960"/>
            <a:ext cx="1110996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B6B80"/>
              </a:buClr>
              <a:buSzPts val="1000"/>
              <a:buFont typeface="Calibri"/>
              <a:buNone/>
            </a:pPr>
            <a:r>
              <a:rPr b="0" i="1" lang="en-US" sz="1000" u="none" cap="none" strike="noStrike">
                <a:solidFill>
                  <a:srgbClr val="5B6B80"/>
                </a:solidFill>
                <a:latin typeface="Calibri"/>
                <a:ea typeface="Calibri"/>
                <a:cs typeface="Calibri"/>
                <a:sym typeface="Calibri"/>
              </a:rPr>
              <a:t>Retraining loop — promotion gated by shadow-mode comparison against the current production model</a:t>
            </a:r>
            <a:endParaRPr b="0" i="0" sz="1000" u="none" cap="none" strike="noStrike">
              <a:solidFill>
                <a:schemeClr val="dk1"/>
              </a:solidFill>
              <a:latin typeface="Calibri"/>
              <a:ea typeface="Calibri"/>
              <a:cs typeface="Calibri"/>
              <a:sym typeface="Calibri"/>
            </a:endParaRPr>
          </a:p>
        </p:txBody>
      </p:sp>
      <p:sp>
        <p:nvSpPr>
          <p:cNvPr id="474" name="Google Shape;474;p16"/>
          <p:cNvSpPr/>
          <p:nvPr/>
        </p:nvSpPr>
        <p:spPr>
          <a:xfrm>
            <a:off x="548640" y="5120640"/>
            <a:ext cx="11064240" cy="1188720"/>
          </a:xfrm>
          <a:prstGeom prst="roundRect">
            <a:avLst>
              <a:gd fmla="val 6154" name="adj"/>
            </a:avLst>
          </a:prstGeom>
          <a:solidFill>
            <a:srgbClr val="2129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16"/>
          <p:cNvSpPr/>
          <p:nvPr/>
        </p:nvSpPr>
        <p:spPr>
          <a:xfrm>
            <a:off x="822960" y="5120640"/>
            <a:ext cx="1051560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50"/>
              <a:buFont typeface="Calibri"/>
              <a:buNone/>
            </a:pPr>
            <a:r>
              <a:rPr b="0" i="0" lang="en-US" sz="1250" u="none" cap="none" strike="noStrike">
                <a:solidFill>
                  <a:srgbClr val="FFFFFF"/>
                </a:solidFill>
                <a:latin typeface="Calibri"/>
                <a:ea typeface="Calibri"/>
                <a:cs typeface="Calibri"/>
                <a:sym typeface="Calibri"/>
              </a:rPr>
              <a:t>Cloud platform: AWS SageMaker / Vertex AI / Azure ML — batch transform for nightly scoring, endpoint only if true real-time re-ranking is needed. Monitoring must include subgroup RMSE, not just aggregate accuracy.</a:t>
            </a:r>
            <a:endParaRPr b="0" i="0" sz="1250" u="none" cap="none" strike="noStrike">
              <a:solidFill>
                <a:schemeClr val="dk1"/>
              </a:solidFill>
              <a:latin typeface="Calibri"/>
              <a:ea typeface="Calibri"/>
              <a:cs typeface="Calibri"/>
              <a:sym typeface="Calibri"/>
            </a:endParaRPr>
          </a:p>
        </p:txBody>
      </p:sp>
      <p:sp>
        <p:nvSpPr>
          <p:cNvPr id="476" name="Google Shape;476;p16"/>
          <p:cNvSpPr/>
          <p:nvPr/>
        </p:nvSpPr>
        <p:spPr>
          <a:xfrm>
            <a:off x="11521440" y="6446520"/>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6B80"/>
              </a:buClr>
              <a:buSzPts val="1000"/>
              <a:buFont typeface="Calibri"/>
              <a:buNone/>
            </a:pPr>
            <a:r>
              <a:rPr b="0" i="0" lang="en-US" sz="1000" u="none" cap="none" strike="noStrike">
                <a:solidFill>
                  <a:srgbClr val="5B6B80"/>
                </a:solidFill>
                <a:latin typeface="Calibri"/>
                <a:ea typeface="Calibri"/>
                <a:cs typeface="Calibri"/>
                <a:sym typeface="Calibri"/>
              </a:rPr>
              <a:t>16</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1" name="Shape 481"/>
        <p:cNvGrpSpPr/>
        <p:nvPr/>
      </p:nvGrpSpPr>
      <p:grpSpPr>
        <a:xfrm>
          <a:off x="0" y="0"/>
          <a:ext cx="0" cy="0"/>
          <a:chOff x="0" y="0"/>
          <a:chExt cx="0" cy="0"/>
        </a:xfrm>
      </p:grpSpPr>
      <p:cxnSp>
        <p:nvCxnSpPr>
          <p:cNvPr id="482" name="Google Shape;482;p17"/>
          <p:cNvCxnSpPr/>
          <p:nvPr/>
        </p:nvCxnSpPr>
        <p:spPr>
          <a:xfrm flipH="1" rot="10800000">
            <a:off x="11292840" y="521208"/>
            <a:ext cx="320040" cy="91440"/>
          </a:xfrm>
          <a:prstGeom prst="straightConnector1">
            <a:avLst/>
          </a:prstGeom>
          <a:noFill/>
          <a:ln cap="flat" cmpd="sng" w="12700">
            <a:solidFill>
              <a:srgbClr val="C7D6E0"/>
            </a:solidFill>
            <a:prstDash val="solid"/>
            <a:round/>
            <a:headEnd len="sm" w="sm" type="none"/>
            <a:tailEnd len="sm" w="sm" type="none"/>
          </a:ln>
        </p:spPr>
      </p:cxnSp>
      <p:cxnSp>
        <p:nvCxnSpPr>
          <p:cNvPr id="483" name="Google Shape;483;p17"/>
          <p:cNvCxnSpPr/>
          <p:nvPr/>
        </p:nvCxnSpPr>
        <p:spPr>
          <a:xfrm>
            <a:off x="11612880" y="521208"/>
            <a:ext cx="274320" cy="137160"/>
          </a:xfrm>
          <a:prstGeom prst="straightConnector1">
            <a:avLst/>
          </a:prstGeom>
          <a:noFill/>
          <a:ln cap="flat" cmpd="sng" w="12700">
            <a:solidFill>
              <a:srgbClr val="C7D6E0"/>
            </a:solidFill>
            <a:prstDash val="solid"/>
            <a:round/>
            <a:headEnd len="sm" w="sm" type="none"/>
            <a:tailEnd len="sm" w="sm" type="none"/>
          </a:ln>
        </p:spPr>
      </p:cxnSp>
      <p:sp>
        <p:nvSpPr>
          <p:cNvPr id="484" name="Google Shape;484;p17"/>
          <p:cNvSpPr/>
          <p:nvPr/>
        </p:nvSpPr>
        <p:spPr>
          <a:xfrm>
            <a:off x="11247120" y="566928"/>
            <a:ext cx="91440" cy="91440"/>
          </a:xfrm>
          <a:prstGeom prst="ellipse">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17"/>
          <p:cNvSpPr/>
          <p:nvPr/>
        </p:nvSpPr>
        <p:spPr>
          <a:xfrm>
            <a:off x="11567160" y="475488"/>
            <a:ext cx="73152" cy="73152"/>
          </a:xfrm>
          <a:prstGeom prst="ellipse">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17"/>
          <p:cNvSpPr/>
          <p:nvPr/>
        </p:nvSpPr>
        <p:spPr>
          <a:xfrm>
            <a:off x="11841480" y="612648"/>
            <a:ext cx="82296" cy="82296"/>
          </a:xfrm>
          <a:prstGeom prst="ellipse">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17"/>
          <p:cNvSpPr/>
          <p:nvPr/>
        </p:nvSpPr>
        <p:spPr>
          <a:xfrm>
            <a:off x="548640" y="384048"/>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7293"/>
              </a:buClr>
              <a:buSzPts val="1200"/>
              <a:buFont typeface="Calibri"/>
              <a:buNone/>
            </a:pPr>
            <a:r>
              <a:rPr b="1" i="0" lang="en-US" sz="1200" u="none" cap="none" strike="noStrike">
                <a:solidFill>
                  <a:srgbClr val="1C7293"/>
                </a:solidFill>
                <a:latin typeface="Calibri"/>
                <a:ea typeface="Calibri"/>
                <a:cs typeface="Calibri"/>
                <a:sym typeface="Calibri"/>
              </a:rPr>
              <a:t>06 · DEPLOYMENT</a:t>
            </a:r>
            <a:endParaRPr b="0" i="0" sz="1200" u="none" cap="none" strike="noStrike">
              <a:solidFill>
                <a:schemeClr val="dk1"/>
              </a:solidFill>
              <a:latin typeface="Calibri"/>
              <a:ea typeface="Calibri"/>
              <a:cs typeface="Calibri"/>
              <a:sym typeface="Calibri"/>
            </a:endParaRPr>
          </a:p>
        </p:txBody>
      </p:sp>
      <p:sp>
        <p:nvSpPr>
          <p:cNvPr id="488" name="Google Shape;488;p17"/>
          <p:cNvSpPr/>
          <p:nvPr/>
        </p:nvSpPr>
        <p:spPr>
          <a:xfrm>
            <a:off x="548640" y="658368"/>
            <a:ext cx="987540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1295C"/>
              </a:buClr>
              <a:buSzPts val="3000"/>
              <a:buFont typeface="Cambria"/>
              <a:buNone/>
            </a:pPr>
            <a:r>
              <a:rPr b="1" lang="en-US" sz="3000">
                <a:solidFill>
                  <a:srgbClr val="21295C"/>
                </a:solidFill>
                <a:latin typeface="Cambria"/>
                <a:ea typeface="Cambria"/>
                <a:cs typeface="Cambria"/>
                <a:sym typeface="Cambria"/>
              </a:rPr>
              <a:t> Overall Comparison: SVD vs. NCF</a:t>
            </a:r>
            <a:endParaRPr b="0" i="0" sz="3000" u="none" cap="none" strike="noStrike">
              <a:solidFill>
                <a:schemeClr val="dk1"/>
              </a:solidFill>
              <a:latin typeface="Calibri"/>
              <a:ea typeface="Calibri"/>
              <a:cs typeface="Calibri"/>
              <a:sym typeface="Calibri"/>
            </a:endParaRPr>
          </a:p>
        </p:txBody>
      </p:sp>
      <p:sp>
        <p:nvSpPr>
          <p:cNvPr id="489" name="Google Shape;489;p17"/>
          <p:cNvSpPr/>
          <p:nvPr/>
        </p:nvSpPr>
        <p:spPr>
          <a:xfrm>
            <a:off x="548640" y="1691640"/>
            <a:ext cx="11155800" cy="502800"/>
          </a:xfrm>
          <a:prstGeom prst="roundRect">
            <a:avLst>
              <a:gd fmla="val 9091" name="adj"/>
            </a:avLst>
          </a:prstGeom>
          <a:solidFill>
            <a:srgbClr val="2129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17"/>
          <p:cNvSpPr/>
          <p:nvPr/>
        </p:nvSpPr>
        <p:spPr>
          <a:xfrm>
            <a:off x="548640" y="1691640"/>
            <a:ext cx="39318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Dimension</a:t>
            </a:r>
            <a:endParaRPr b="0" i="0" sz="1250" u="none" cap="none" strike="noStrike">
              <a:solidFill>
                <a:schemeClr val="dk1"/>
              </a:solidFill>
              <a:latin typeface="Calibri"/>
              <a:ea typeface="Calibri"/>
              <a:cs typeface="Calibri"/>
              <a:sym typeface="Calibri"/>
            </a:endParaRPr>
          </a:p>
        </p:txBody>
      </p:sp>
      <p:sp>
        <p:nvSpPr>
          <p:cNvPr id="491" name="Google Shape;491;p17"/>
          <p:cNvSpPr/>
          <p:nvPr/>
        </p:nvSpPr>
        <p:spPr>
          <a:xfrm>
            <a:off x="4572000" y="1691640"/>
            <a:ext cx="35661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SVD (Classical ML)</a:t>
            </a:r>
            <a:endParaRPr b="0" i="0" sz="1250" u="none" cap="none" strike="noStrike">
              <a:solidFill>
                <a:schemeClr val="dk1"/>
              </a:solidFill>
              <a:latin typeface="Calibri"/>
              <a:ea typeface="Calibri"/>
              <a:cs typeface="Calibri"/>
              <a:sym typeface="Calibri"/>
            </a:endParaRPr>
          </a:p>
        </p:txBody>
      </p:sp>
      <p:sp>
        <p:nvSpPr>
          <p:cNvPr id="492" name="Google Shape;492;p17"/>
          <p:cNvSpPr/>
          <p:nvPr/>
        </p:nvSpPr>
        <p:spPr>
          <a:xfrm>
            <a:off x="8229600" y="1691640"/>
            <a:ext cx="35661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NCF (Deep Learning)</a:t>
            </a:r>
            <a:endParaRPr b="0" i="0" sz="1250" u="none" cap="none" strike="noStrike">
              <a:solidFill>
                <a:schemeClr val="dk1"/>
              </a:solidFill>
              <a:latin typeface="Calibri"/>
              <a:ea typeface="Calibri"/>
              <a:cs typeface="Calibri"/>
              <a:sym typeface="Calibri"/>
            </a:endParaRPr>
          </a:p>
        </p:txBody>
      </p:sp>
      <p:sp>
        <p:nvSpPr>
          <p:cNvPr id="493" name="Google Shape;493;p17"/>
          <p:cNvSpPr/>
          <p:nvPr/>
        </p:nvSpPr>
        <p:spPr>
          <a:xfrm>
            <a:off x="548640" y="2194560"/>
            <a:ext cx="11155800" cy="567000"/>
          </a:xfrm>
          <a:prstGeom prst="rect">
            <a:avLst/>
          </a:prstGeom>
          <a:solidFill>
            <a:srgbClr val="F0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17"/>
          <p:cNvSpPr/>
          <p:nvPr/>
        </p:nvSpPr>
        <p:spPr>
          <a:xfrm>
            <a:off x="548640" y="2194560"/>
            <a:ext cx="3931800" cy="567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430"/>
              </a:buClr>
              <a:buSzPts val="1150"/>
              <a:buFont typeface="Calibri"/>
              <a:buNone/>
            </a:pPr>
            <a:r>
              <a:rPr b="1" i="0" lang="en-US" sz="1150" u="none" cap="none" strike="noStrike">
                <a:solidFill>
                  <a:srgbClr val="1B2430"/>
                </a:solidFill>
                <a:latin typeface="Calibri"/>
                <a:ea typeface="Calibri"/>
                <a:cs typeface="Calibri"/>
                <a:sym typeface="Calibri"/>
              </a:rPr>
              <a:t>Accuracy</a:t>
            </a:r>
            <a:endParaRPr b="0" i="0" sz="1150" u="none" cap="none" strike="noStrike">
              <a:solidFill>
                <a:schemeClr val="dk1"/>
              </a:solidFill>
              <a:latin typeface="Calibri"/>
              <a:ea typeface="Calibri"/>
              <a:cs typeface="Calibri"/>
              <a:sym typeface="Calibri"/>
            </a:endParaRPr>
          </a:p>
        </p:txBody>
      </p:sp>
      <p:sp>
        <p:nvSpPr>
          <p:cNvPr id="495" name="Google Shape;495;p17"/>
          <p:cNvSpPr/>
          <p:nvPr/>
        </p:nvSpPr>
        <p:spPr>
          <a:xfrm>
            <a:off x="4572000" y="2194560"/>
            <a:ext cx="3566100" cy="567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65A82"/>
              </a:buClr>
              <a:buSzPts val="1150"/>
              <a:buFont typeface="Calibri"/>
              <a:buNone/>
            </a:pPr>
            <a:r>
              <a:rPr lang="en-US" sz="1150">
                <a:solidFill>
                  <a:srgbClr val="065A82"/>
                </a:solidFill>
                <a:latin typeface="Calibri"/>
                <a:ea typeface="Calibri"/>
                <a:cs typeface="Calibri"/>
                <a:sym typeface="Calibri"/>
              </a:rPr>
              <a:t>Strong </a:t>
            </a:r>
            <a:endParaRPr b="0" i="0" sz="1150" u="none" cap="none" strike="noStrike">
              <a:solidFill>
                <a:schemeClr val="dk1"/>
              </a:solidFill>
              <a:latin typeface="Calibri"/>
              <a:ea typeface="Calibri"/>
              <a:cs typeface="Calibri"/>
              <a:sym typeface="Calibri"/>
            </a:endParaRPr>
          </a:p>
        </p:txBody>
      </p:sp>
      <p:sp>
        <p:nvSpPr>
          <p:cNvPr id="496" name="Google Shape;496;p17"/>
          <p:cNvSpPr/>
          <p:nvPr/>
        </p:nvSpPr>
        <p:spPr>
          <a:xfrm>
            <a:off x="8229600" y="2194560"/>
            <a:ext cx="3566100" cy="567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7293"/>
              </a:buClr>
              <a:buSzPts val="1150"/>
              <a:buFont typeface="Calibri"/>
              <a:buNone/>
            </a:pPr>
            <a:r>
              <a:rPr b="0" i="0" lang="en-US" sz="1150" u="none" cap="none" strike="noStrike">
                <a:solidFill>
                  <a:srgbClr val="1C7293"/>
                </a:solidFill>
                <a:latin typeface="Calibri"/>
                <a:ea typeface="Calibri"/>
                <a:cs typeface="Calibri"/>
                <a:sym typeface="Calibri"/>
              </a:rPr>
              <a:t>Higher ceiling, needs tuning</a:t>
            </a:r>
            <a:endParaRPr b="0" i="0" sz="1150" u="none" cap="none" strike="noStrike">
              <a:solidFill>
                <a:schemeClr val="dk1"/>
              </a:solidFill>
              <a:latin typeface="Calibri"/>
              <a:ea typeface="Calibri"/>
              <a:cs typeface="Calibri"/>
              <a:sym typeface="Calibri"/>
            </a:endParaRPr>
          </a:p>
        </p:txBody>
      </p:sp>
      <p:sp>
        <p:nvSpPr>
          <p:cNvPr id="497" name="Google Shape;497;p17"/>
          <p:cNvSpPr/>
          <p:nvPr/>
        </p:nvSpPr>
        <p:spPr>
          <a:xfrm>
            <a:off x="548640" y="2761488"/>
            <a:ext cx="11155800" cy="567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17"/>
          <p:cNvSpPr/>
          <p:nvPr/>
        </p:nvSpPr>
        <p:spPr>
          <a:xfrm>
            <a:off x="548640" y="2761488"/>
            <a:ext cx="3931800" cy="567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430"/>
              </a:buClr>
              <a:buSzPts val="1150"/>
              <a:buFont typeface="Calibri"/>
              <a:buNone/>
            </a:pPr>
            <a:r>
              <a:rPr b="1" i="0" lang="en-US" sz="1150" u="none" cap="none" strike="noStrike">
                <a:solidFill>
                  <a:srgbClr val="1B2430"/>
                </a:solidFill>
                <a:latin typeface="Calibri"/>
                <a:ea typeface="Calibri"/>
                <a:cs typeface="Calibri"/>
                <a:sym typeface="Calibri"/>
              </a:rPr>
              <a:t>Training / inference cost</a:t>
            </a:r>
            <a:endParaRPr b="0" i="0" sz="1150" u="none" cap="none" strike="noStrike">
              <a:solidFill>
                <a:schemeClr val="dk1"/>
              </a:solidFill>
              <a:latin typeface="Calibri"/>
              <a:ea typeface="Calibri"/>
              <a:cs typeface="Calibri"/>
              <a:sym typeface="Calibri"/>
            </a:endParaRPr>
          </a:p>
        </p:txBody>
      </p:sp>
      <p:sp>
        <p:nvSpPr>
          <p:cNvPr id="499" name="Google Shape;499;p17"/>
          <p:cNvSpPr/>
          <p:nvPr/>
        </p:nvSpPr>
        <p:spPr>
          <a:xfrm>
            <a:off x="4572000" y="2761488"/>
            <a:ext cx="3566100" cy="567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65A82"/>
              </a:buClr>
              <a:buSzPts val="1150"/>
              <a:buFont typeface="Calibri"/>
              <a:buNone/>
            </a:pPr>
            <a:r>
              <a:rPr b="0" i="0" lang="en-US" sz="1150" u="none" cap="none" strike="noStrike">
                <a:solidFill>
                  <a:srgbClr val="065A82"/>
                </a:solidFill>
                <a:latin typeface="Calibri"/>
                <a:ea typeface="Calibri"/>
                <a:cs typeface="Calibri"/>
                <a:sym typeface="Calibri"/>
              </a:rPr>
              <a:t>Low — seconds on CPU</a:t>
            </a:r>
            <a:endParaRPr b="0" i="0" sz="1150" u="none" cap="none" strike="noStrike">
              <a:solidFill>
                <a:schemeClr val="dk1"/>
              </a:solidFill>
              <a:latin typeface="Calibri"/>
              <a:ea typeface="Calibri"/>
              <a:cs typeface="Calibri"/>
              <a:sym typeface="Calibri"/>
            </a:endParaRPr>
          </a:p>
        </p:txBody>
      </p:sp>
      <p:sp>
        <p:nvSpPr>
          <p:cNvPr id="500" name="Google Shape;500;p17"/>
          <p:cNvSpPr/>
          <p:nvPr/>
        </p:nvSpPr>
        <p:spPr>
          <a:xfrm>
            <a:off x="8229600" y="2761488"/>
            <a:ext cx="3566100" cy="567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7293"/>
              </a:buClr>
              <a:buSzPts val="1150"/>
              <a:buFont typeface="Calibri"/>
              <a:buNone/>
            </a:pPr>
            <a:r>
              <a:rPr b="0" i="0" lang="en-US" sz="1150" u="none" cap="none" strike="noStrike">
                <a:solidFill>
                  <a:srgbClr val="1C7293"/>
                </a:solidFill>
                <a:latin typeface="Calibri"/>
                <a:ea typeface="Calibri"/>
                <a:cs typeface="Calibri"/>
                <a:sym typeface="Calibri"/>
              </a:rPr>
              <a:t>Higher — GPU-friendly pipeline</a:t>
            </a:r>
            <a:endParaRPr b="0" i="0" sz="1150" u="none" cap="none" strike="noStrike">
              <a:solidFill>
                <a:schemeClr val="dk1"/>
              </a:solidFill>
              <a:latin typeface="Calibri"/>
              <a:ea typeface="Calibri"/>
              <a:cs typeface="Calibri"/>
              <a:sym typeface="Calibri"/>
            </a:endParaRPr>
          </a:p>
        </p:txBody>
      </p:sp>
      <p:sp>
        <p:nvSpPr>
          <p:cNvPr id="501" name="Google Shape;501;p17"/>
          <p:cNvSpPr/>
          <p:nvPr/>
        </p:nvSpPr>
        <p:spPr>
          <a:xfrm>
            <a:off x="548640" y="3328416"/>
            <a:ext cx="11155800" cy="567000"/>
          </a:xfrm>
          <a:prstGeom prst="rect">
            <a:avLst/>
          </a:prstGeom>
          <a:solidFill>
            <a:srgbClr val="F0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17"/>
          <p:cNvSpPr/>
          <p:nvPr/>
        </p:nvSpPr>
        <p:spPr>
          <a:xfrm>
            <a:off x="548640" y="3328416"/>
            <a:ext cx="3931800" cy="567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430"/>
              </a:buClr>
              <a:buSzPts val="1150"/>
              <a:buFont typeface="Calibri"/>
              <a:buNone/>
            </a:pPr>
            <a:r>
              <a:rPr b="1" i="0" lang="en-US" sz="1150" u="none" cap="none" strike="noStrike">
                <a:solidFill>
                  <a:srgbClr val="1B2430"/>
                </a:solidFill>
                <a:latin typeface="Calibri"/>
                <a:ea typeface="Calibri"/>
                <a:cs typeface="Calibri"/>
                <a:sym typeface="Calibri"/>
              </a:rPr>
              <a:t>Interpretability</a:t>
            </a:r>
            <a:endParaRPr b="0" i="0" sz="1150" u="none" cap="none" strike="noStrike">
              <a:solidFill>
                <a:schemeClr val="dk1"/>
              </a:solidFill>
              <a:latin typeface="Calibri"/>
              <a:ea typeface="Calibri"/>
              <a:cs typeface="Calibri"/>
              <a:sym typeface="Calibri"/>
            </a:endParaRPr>
          </a:p>
        </p:txBody>
      </p:sp>
      <p:sp>
        <p:nvSpPr>
          <p:cNvPr id="503" name="Google Shape;503;p17"/>
          <p:cNvSpPr/>
          <p:nvPr/>
        </p:nvSpPr>
        <p:spPr>
          <a:xfrm>
            <a:off x="4572000" y="3328416"/>
            <a:ext cx="3566100" cy="567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65A82"/>
              </a:buClr>
              <a:buSzPts val="1150"/>
              <a:buFont typeface="Calibri"/>
              <a:buNone/>
            </a:pPr>
            <a:r>
              <a:rPr b="0" i="0" lang="en-US" sz="1150" u="none" cap="none" strike="noStrike">
                <a:solidFill>
                  <a:srgbClr val="065A82"/>
                </a:solidFill>
                <a:latin typeface="Calibri"/>
                <a:ea typeface="Calibri"/>
                <a:cs typeface="Calibri"/>
                <a:sym typeface="Calibri"/>
              </a:rPr>
              <a:t>High — direct factor inspection</a:t>
            </a:r>
            <a:endParaRPr b="0" i="0" sz="1150" u="none" cap="none" strike="noStrike">
              <a:solidFill>
                <a:schemeClr val="dk1"/>
              </a:solidFill>
              <a:latin typeface="Calibri"/>
              <a:ea typeface="Calibri"/>
              <a:cs typeface="Calibri"/>
              <a:sym typeface="Calibri"/>
            </a:endParaRPr>
          </a:p>
        </p:txBody>
      </p:sp>
      <p:sp>
        <p:nvSpPr>
          <p:cNvPr id="504" name="Google Shape;504;p17"/>
          <p:cNvSpPr/>
          <p:nvPr/>
        </p:nvSpPr>
        <p:spPr>
          <a:xfrm>
            <a:off x="8229600" y="3328416"/>
            <a:ext cx="3566100" cy="567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7293"/>
              </a:buClr>
              <a:buSzPts val="1150"/>
              <a:buFont typeface="Calibri"/>
              <a:buNone/>
            </a:pPr>
            <a:r>
              <a:rPr b="0" i="0" lang="en-US" sz="1150" u="none" cap="none" strike="noStrike">
                <a:solidFill>
                  <a:srgbClr val="1C7293"/>
                </a:solidFill>
                <a:latin typeface="Calibri"/>
                <a:ea typeface="Calibri"/>
                <a:cs typeface="Calibri"/>
                <a:sym typeface="Calibri"/>
              </a:rPr>
              <a:t>Lower — needs SHAP/LIME surrogate</a:t>
            </a:r>
            <a:endParaRPr b="0" i="0" sz="1150" u="none" cap="none" strike="noStrike">
              <a:solidFill>
                <a:schemeClr val="dk1"/>
              </a:solidFill>
              <a:latin typeface="Calibri"/>
              <a:ea typeface="Calibri"/>
              <a:cs typeface="Calibri"/>
              <a:sym typeface="Calibri"/>
            </a:endParaRPr>
          </a:p>
        </p:txBody>
      </p:sp>
      <p:sp>
        <p:nvSpPr>
          <p:cNvPr id="505" name="Google Shape;505;p17"/>
          <p:cNvSpPr/>
          <p:nvPr/>
        </p:nvSpPr>
        <p:spPr>
          <a:xfrm>
            <a:off x="548640" y="3895344"/>
            <a:ext cx="11155800" cy="567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17"/>
          <p:cNvSpPr/>
          <p:nvPr/>
        </p:nvSpPr>
        <p:spPr>
          <a:xfrm>
            <a:off x="548640" y="3895344"/>
            <a:ext cx="3931800" cy="567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430"/>
              </a:buClr>
              <a:buSzPts val="1150"/>
              <a:buFont typeface="Calibri"/>
              <a:buNone/>
            </a:pPr>
            <a:r>
              <a:rPr b="1" i="0" lang="en-US" sz="1150" u="none" cap="none" strike="noStrike">
                <a:solidFill>
                  <a:srgbClr val="1B2430"/>
                </a:solidFill>
                <a:latin typeface="Calibri"/>
                <a:ea typeface="Calibri"/>
                <a:cs typeface="Calibri"/>
                <a:sym typeface="Calibri"/>
              </a:rPr>
              <a:t>Cold-start handling</a:t>
            </a:r>
            <a:endParaRPr b="0" i="0" sz="1150" u="none" cap="none" strike="noStrike">
              <a:solidFill>
                <a:schemeClr val="dk1"/>
              </a:solidFill>
              <a:latin typeface="Calibri"/>
              <a:ea typeface="Calibri"/>
              <a:cs typeface="Calibri"/>
              <a:sym typeface="Calibri"/>
            </a:endParaRPr>
          </a:p>
        </p:txBody>
      </p:sp>
      <p:sp>
        <p:nvSpPr>
          <p:cNvPr id="507" name="Google Shape;507;p17"/>
          <p:cNvSpPr/>
          <p:nvPr/>
        </p:nvSpPr>
        <p:spPr>
          <a:xfrm>
            <a:off x="4572000" y="3895344"/>
            <a:ext cx="3566100" cy="567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65A82"/>
              </a:buClr>
              <a:buSzPts val="1150"/>
              <a:buFont typeface="Calibri"/>
              <a:buNone/>
            </a:pPr>
            <a:r>
              <a:rPr b="0" i="0" lang="en-US" sz="1150" u="none" cap="none" strike="noStrike">
                <a:solidFill>
                  <a:srgbClr val="065A82"/>
                </a:solidFill>
                <a:latin typeface="Calibri"/>
                <a:ea typeface="Calibri"/>
                <a:cs typeface="Calibri"/>
                <a:sym typeface="Calibri"/>
              </a:rPr>
              <a:t>Poor — no side-feature mechanism</a:t>
            </a:r>
            <a:endParaRPr b="0" i="0" sz="1150" u="none" cap="none" strike="noStrike">
              <a:solidFill>
                <a:schemeClr val="dk1"/>
              </a:solidFill>
              <a:latin typeface="Calibri"/>
              <a:ea typeface="Calibri"/>
              <a:cs typeface="Calibri"/>
              <a:sym typeface="Calibri"/>
            </a:endParaRPr>
          </a:p>
        </p:txBody>
      </p:sp>
      <p:sp>
        <p:nvSpPr>
          <p:cNvPr id="508" name="Google Shape;508;p17"/>
          <p:cNvSpPr/>
          <p:nvPr/>
        </p:nvSpPr>
        <p:spPr>
          <a:xfrm>
            <a:off x="8229600" y="3895344"/>
            <a:ext cx="3566100" cy="567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7293"/>
              </a:buClr>
              <a:buSzPts val="1150"/>
              <a:buFont typeface="Calibri"/>
              <a:buNone/>
            </a:pPr>
            <a:r>
              <a:rPr b="0" i="0" lang="en-US" sz="1150" u="none" cap="none" strike="noStrike">
                <a:solidFill>
                  <a:srgbClr val="1C7293"/>
                </a:solidFill>
                <a:latin typeface="Calibri"/>
                <a:ea typeface="Calibri"/>
                <a:cs typeface="Calibri"/>
                <a:sym typeface="Calibri"/>
              </a:rPr>
              <a:t>Better — genre/age wired in</a:t>
            </a:r>
            <a:endParaRPr b="0" i="0" sz="1150" u="none" cap="none" strike="noStrike">
              <a:solidFill>
                <a:schemeClr val="dk1"/>
              </a:solidFill>
              <a:latin typeface="Calibri"/>
              <a:ea typeface="Calibri"/>
              <a:cs typeface="Calibri"/>
              <a:sym typeface="Calibri"/>
            </a:endParaRPr>
          </a:p>
        </p:txBody>
      </p:sp>
      <p:sp>
        <p:nvSpPr>
          <p:cNvPr id="509" name="Google Shape;509;p17"/>
          <p:cNvSpPr/>
          <p:nvPr/>
        </p:nvSpPr>
        <p:spPr>
          <a:xfrm>
            <a:off x="548640" y="4462272"/>
            <a:ext cx="11155800" cy="567000"/>
          </a:xfrm>
          <a:prstGeom prst="rect">
            <a:avLst/>
          </a:prstGeom>
          <a:solidFill>
            <a:srgbClr val="F0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17"/>
          <p:cNvSpPr/>
          <p:nvPr/>
        </p:nvSpPr>
        <p:spPr>
          <a:xfrm>
            <a:off x="548640" y="4462272"/>
            <a:ext cx="3931800" cy="567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430"/>
              </a:buClr>
              <a:buSzPts val="1150"/>
              <a:buFont typeface="Calibri"/>
              <a:buNone/>
            </a:pPr>
            <a:r>
              <a:rPr b="1" i="0" lang="en-US" sz="1150" u="none" cap="none" strike="noStrike">
                <a:solidFill>
                  <a:srgbClr val="1B2430"/>
                </a:solidFill>
                <a:latin typeface="Calibri"/>
                <a:ea typeface="Calibri"/>
                <a:cs typeface="Calibri"/>
                <a:sym typeface="Calibri"/>
              </a:rPr>
              <a:t>Fairness auditability</a:t>
            </a:r>
            <a:endParaRPr b="0" i="0" sz="1150" u="none" cap="none" strike="noStrike">
              <a:solidFill>
                <a:schemeClr val="dk1"/>
              </a:solidFill>
              <a:latin typeface="Calibri"/>
              <a:ea typeface="Calibri"/>
              <a:cs typeface="Calibri"/>
              <a:sym typeface="Calibri"/>
            </a:endParaRPr>
          </a:p>
        </p:txBody>
      </p:sp>
      <p:sp>
        <p:nvSpPr>
          <p:cNvPr id="511" name="Google Shape;511;p17"/>
          <p:cNvSpPr/>
          <p:nvPr/>
        </p:nvSpPr>
        <p:spPr>
          <a:xfrm>
            <a:off x="4572000" y="4462272"/>
            <a:ext cx="3566100" cy="567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65A82"/>
              </a:buClr>
              <a:buSzPts val="1150"/>
              <a:buFont typeface="Calibri"/>
              <a:buNone/>
            </a:pPr>
            <a:r>
              <a:rPr b="0" i="0" lang="en-US" sz="1150" u="none" cap="none" strike="noStrike">
                <a:solidFill>
                  <a:srgbClr val="065A82"/>
                </a:solidFill>
                <a:latin typeface="Calibri"/>
                <a:ea typeface="Calibri"/>
                <a:cs typeface="Calibri"/>
                <a:sym typeface="Calibri"/>
              </a:rPr>
              <a:t>Easier to audit &amp; patch</a:t>
            </a:r>
            <a:endParaRPr b="0" i="0" sz="1150" u="none" cap="none" strike="noStrike">
              <a:solidFill>
                <a:schemeClr val="dk1"/>
              </a:solidFill>
              <a:latin typeface="Calibri"/>
              <a:ea typeface="Calibri"/>
              <a:cs typeface="Calibri"/>
              <a:sym typeface="Calibri"/>
            </a:endParaRPr>
          </a:p>
        </p:txBody>
      </p:sp>
      <p:sp>
        <p:nvSpPr>
          <p:cNvPr id="512" name="Google Shape;512;p17"/>
          <p:cNvSpPr/>
          <p:nvPr/>
        </p:nvSpPr>
        <p:spPr>
          <a:xfrm>
            <a:off x="8229600" y="4462272"/>
            <a:ext cx="3566100" cy="567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7293"/>
              </a:buClr>
              <a:buSzPts val="1150"/>
              <a:buFont typeface="Calibri"/>
              <a:buNone/>
            </a:pPr>
            <a:r>
              <a:rPr b="0" i="0" lang="en-US" sz="1150" u="none" cap="none" strike="noStrike">
                <a:solidFill>
                  <a:srgbClr val="1C7293"/>
                </a:solidFill>
                <a:latin typeface="Calibri"/>
                <a:ea typeface="Calibri"/>
                <a:cs typeface="Calibri"/>
                <a:sym typeface="Calibri"/>
              </a:rPr>
              <a:t>Harder — diffused across params</a:t>
            </a:r>
            <a:endParaRPr b="0" i="0" sz="1150" u="none" cap="none" strike="noStrike">
              <a:solidFill>
                <a:schemeClr val="dk1"/>
              </a:solidFill>
              <a:latin typeface="Calibri"/>
              <a:ea typeface="Calibri"/>
              <a:cs typeface="Calibri"/>
              <a:sym typeface="Calibri"/>
            </a:endParaRPr>
          </a:p>
        </p:txBody>
      </p:sp>
      <p:sp>
        <p:nvSpPr>
          <p:cNvPr id="513" name="Google Shape;513;p17"/>
          <p:cNvSpPr/>
          <p:nvPr/>
        </p:nvSpPr>
        <p:spPr>
          <a:xfrm>
            <a:off x="548640" y="5257800"/>
            <a:ext cx="11155680" cy="1051560"/>
          </a:xfrm>
          <a:prstGeom prst="roundRect">
            <a:avLst>
              <a:gd fmla="val 6957" name="adj"/>
            </a:avLst>
          </a:prstGeom>
          <a:solidFill>
            <a:srgbClr val="E8A3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17"/>
          <p:cNvSpPr/>
          <p:nvPr/>
        </p:nvSpPr>
        <p:spPr>
          <a:xfrm>
            <a:off x="822960" y="5257800"/>
            <a:ext cx="10607040" cy="10515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1295C"/>
              </a:buClr>
              <a:buSzPts val="1300"/>
              <a:buFont typeface="Calibri"/>
              <a:buNone/>
            </a:pPr>
            <a:r>
              <a:rPr b="1" lang="en-US" sz="1300">
                <a:solidFill>
                  <a:srgbClr val="21295C"/>
                </a:solidFill>
                <a:latin typeface="Calibri"/>
                <a:ea typeface="Calibri"/>
                <a:cs typeface="Calibri"/>
                <a:sym typeface="Calibri"/>
              </a:rPr>
              <a:t>Based on the experimental results, NCF is the preferred model due to its superior predictive performance on the test set. Nevertheless, SVD offers advantages in computational efficiency, stability, and interpretability, making it suitable for resource-constrained or highly explainable applications.</a:t>
            </a:r>
            <a:endParaRPr b="0" i="0" sz="1300" u="none" cap="none" strike="noStrike">
              <a:solidFill>
                <a:schemeClr val="dk1"/>
              </a:solidFill>
              <a:latin typeface="Calibri"/>
              <a:ea typeface="Calibri"/>
              <a:cs typeface="Calibri"/>
              <a:sym typeface="Calibri"/>
            </a:endParaRPr>
          </a:p>
        </p:txBody>
      </p:sp>
      <p:sp>
        <p:nvSpPr>
          <p:cNvPr id="515" name="Google Shape;515;p17"/>
          <p:cNvSpPr/>
          <p:nvPr/>
        </p:nvSpPr>
        <p:spPr>
          <a:xfrm>
            <a:off x="11521440" y="6446520"/>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6B80"/>
              </a:buClr>
              <a:buSzPts val="1000"/>
              <a:buFont typeface="Calibri"/>
              <a:buNone/>
            </a:pPr>
            <a:r>
              <a:rPr b="0" i="0" lang="en-US" sz="1000" u="none" cap="none" strike="noStrike">
                <a:solidFill>
                  <a:srgbClr val="5B6B80"/>
                </a:solidFill>
                <a:latin typeface="Calibri"/>
                <a:ea typeface="Calibri"/>
                <a:cs typeface="Calibri"/>
                <a:sym typeface="Calibri"/>
              </a:rPr>
              <a:t>17</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1295C"/>
        </a:solidFill>
      </p:bgPr>
    </p:bg>
    <p:spTree>
      <p:nvGrpSpPr>
        <p:cNvPr id="520" name="Shape 520"/>
        <p:cNvGrpSpPr/>
        <p:nvPr/>
      </p:nvGrpSpPr>
      <p:grpSpPr>
        <a:xfrm>
          <a:off x="0" y="0"/>
          <a:ext cx="0" cy="0"/>
          <a:chOff x="0" y="0"/>
          <a:chExt cx="0" cy="0"/>
        </a:xfrm>
      </p:grpSpPr>
      <p:cxnSp>
        <p:nvCxnSpPr>
          <p:cNvPr id="521" name="Google Shape;521;p19"/>
          <p:cNvCxnSpPr/>
          <p:nvPr/>
        </p:nvCxnSpPr>
        <p:spPr>
          <a:xfrm flipH="1" rot="10800000">
            <a:off x="11064240" y="475488"/>
            <a:ext cx="320040" cy="91440"/>
          </a:xfrm>
          <a:prstGeom prst="straightConnector1">
            <a:avLst/>
          </a:prstGeom>
          <a:noFill/>
          <a:ln cap="flat" cmpd="sng" w="12700">
            <a:solidFill>
              <a:srgbClr val="3A4380"/>
            </a:solidFill>
            <a:prstDash val="solid"/>
            <a:round/>
            <a:headEnd len="sm" w="sm" type="none"/>
            <a:tailEnd len="sm" w="sm" type="none"/>
          </a:ln>
        </p:spPr>
      </p:cxnSp>
      <p:cxnSp>
        <p:nvCxnSpPr>
          <p:cNvPr id="522" name="Google Shape;522;p19"/>
          <p:cNvCxnSpPr/>
          <p:nvPr/>
        </p:nvCxnSpPr>
        <p:spPr>
          <a:xfrm>
            <a:off x="11384280" y="475488"/>
            <a:ext cx="274320" cy="137160"/>
          </a:xfrm>
          <a:prstGeom prst="straightConnector1">
            <a:avLst/>
          </a:prstGeom>
          <a:noFill/>
          <a:ln cap="flat" cmpd="sng" w="12700">
            <a:solidFill>
              <a:srgbClr val="3A4380"/>
            </a:solidFill>
            <a:prstDash val="solid"/>
            <a:round/>
            <a:headEnd len="sm" w="sm" type="none"/>
            <a:tailEnd len="sm" w="sm" type="none"/>
          </a:ln>
        </p:spPr>
      </p:cxnSp>
      <p:sp>
        <p:nvSpPr>
          <p:cNvPr id="523" name="Google Shape;523;p19"/>
          <p:cNvSpPr/>
          <p:nvPr/>
        </p:nvSpPr>
        <p:spPr>
          <a:xfrm>
            <a:off x="11018520" y="521208"/>
            <a:ext cx="91440" cy="91440"/>
          </a:xfrm>
          <a:prstGeom prst="ellipse">
            <a:avLst/>
          </a:prstGeom>
          <a:solidFill>
            <a:srgbClr val="E8A3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19"/>
          <p:cNvSpPr/>
          <p:nvPr/>
        </p:nvSpPr>
        <p:spPr>
          <a:xfrm>
            <a:off x="11338560" y="429768"/>
            <a:ext cx="73152" cy="73152"/>
          </a:xfrm>
          <a:prstGeom prst="ellipse">
            <a:avLst/>
          </a:prstGeom>
          <a:solidFill>
            <a:srgbClr val="E8A3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19"/>
          <p:cNvSpPr/>
          <p:nvPr/>
        </p:nvSpPr>
        <p:spPr>
          <a:xfrm>
            <a:off x="11612880" y="566928"/>
            <a:ext cx="82296" cy="82296"/>
          </a:xfrm>
          <a:prstGeom prst="ellipse">
            <a:avLst/>
          </a:prstGeom>
          <a:solidFill>
            <a:srgbClr val="E8A3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19"/>
          <p:cNvSpPr/>
          <p:nvPr/>
        </p:nvSpPr>
        <p:spPr>
          <a:xfrm>
            <a:off x="640080" y="640080"/>
            <a:ext cx="54864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A33D"/>
              </a:buClr>
              <a:buSzPts val="1300"/>
              <a:buFont typeface="Calibri"/>
              <a:buNone/>
            </a:pPr>
            <a:r>
              <a:rPr b="1" i="0" lang="en-US" sz="1300" u="none" cap="none" strike="noStrike">
                <a:solidFill>
                  <a:srgbClr val="E8A33D"/>
                </a:solidFill>
                <a:latin typeface="Calibri"/>
                <a:ea typeface="Calibri"/>
                <a:cs typeface="Calibri"/>
                <a:sym typeface="Calibri"/>
              </a:rPr>
              <a:t>KEY TAKEAWAYS</a:t>
            </a:r>
            <a:endParaRPr b="0" i="0" sz="1300" u="none" cap="none" strike="noStrike">
              <a:solidFill>
                <a:schemeClr val="dk1"/>
              </a:solidFill>
              <a:latin typeface="Calibri"/>
              <a:ea typeface="Calibri"/>
              <a:cs typeface="Calibri"/>
              <a:sym typeface="Calibri"/>
            </a:endParaRPr>
          </a:p>
        </p:txBody>
      </p:sp>
      <p:sp>
        <p:nvSpPr>
          <p:cNvPr id="527" name="Google Shape;527;p19"/>
          <p:cNvSpPr/>
          <p:nvPr/>
        </p:nvSpPr>
        <p:spPr>
          <a:xfrm>
            <a:off x="640080" y="1280160"/>
            <a:ext cx="146304" cy="146304"/>
          </a:xfrm>
          <a:prstGeom prst="ellipse">
            <a:avLst/>
          </a:prstGeom>
          <a:solidFill>
            <a:srgbClr val="E8A3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19"/>
          <p:cNvSpPr/>
          <p:nvPr/>
        </p:nvSpPr>
        <p:spPr>
          <a:xfrm>
            <a:off x="914400" y="887451"/>
            <a:ext cx="10515600" cy="112440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rgbClr val="FFFFFF"/>
              </a:buClr>
              <a:buSzPts val="1500"/>
              <a:buFont typeface="Calibri"/>
              <a:buNone/>
            </a:pPr>
            <a:r>
              <a:rPr b="0" i="0" lang="en-US" sz="1500" u="none" cap="none" strike="noStrike">
                <a:solidFill>
                  <a:srgbClr val="FFFFFF"/>
                </a:solidFill>
                <a:latin typeface="Calibri"/>
                <a:ea typeface="Calibri"/>
                <a:cs typeface="Calibri"/>
                <a:sym typeface="Calibri"/>
              </a:rPr>
              <a:t>Neither model is a free-standing winner — the right choice depends on which trade-off (accuracy, cost, interpretability, fairness) matters most for the deployment context.</a:t>
            </a:r>
            <a:endParaRPr b="0" i="0" sz="1500" u="none" cap="none" strike="noStrike">
              <a:solidFill>
                <a:schemeClr val="dk1"/>
              </a:solidFill>
              <a:latin typeface="Calibri"/>
              <a:ea typeface="Calibri"/>
              <a:cs typeface="Calibri"/>
              <a:sym typeface="Calibri"/>
            </a:endParaRPr>
          </a:p>
        </p:txBody>
      </p:sp>
      <p:sp>
        <p:nvSpPr>
          <p:cNvPr id="529" name="Google Shape;529;p19"/>
          <p:cNvSpPr/>
          <p:nvPr/>
        </p:nvSpPr>
        <p:spPr>
          <a:xfrm>
            <a:off x="640080" y="2423160"/>
            <a:ext cx="146304" cy="146304"/>
          </a:xfrm>
          <a:prstGeom prst="ellipse">
            <a:avLst/>
          </a:prstGeom>
          <a:solidFill>
            <a:srgbClr val="E8A3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19"/>
          <p:cNvSpPr/>
          <p:nvPr/>
        </p:nvSpPr>
        <p:spPr>
          <a:xfrm>
            <a:off x="914400" y="2122143"/>
            <a:ext cx="10515600" cy="100590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rgbClr val="FFFFFF"/>
              </a:buClr>
              <a:buSzPts val="1500"/>
              <a:buFont typeface="Calibri"/>
              <a:buNone/>
            </a:pPr>
            <a:r>
              <a:rPr b="0" i="0" lang="en-US" sz="1500" u="none" cap="none" strike="noStrike">
                <a:solidFill>
                  <a:srgbClr val="FFFFFF"/>
                </a:solidFill>
                <a:latin typeface="Calibri"/>
                <a:ea typeface="Calibri"/>
                <a:cs typeface="Calibri"/>
                <a:sym typeface="Calibri"/>
              </a:rPr>
              <a:t>Fairness problems here are as much about the data (long-tail sparsity, cohort skew) as about the model — switching architectures alone won't fix them.</a:t>
            </a:r>
            <a:endParaRPr b="0" i="0" sz="1500" u="none" cap="none" strike="noStrike">
              <a:solidFill>
                <a:schemeClr val="dk1"/>
              </a:solidFill>
              <a:latin typeface="Calibri"/>
              <a:ea typeface="Calibri"/>
              <a:cs typeface="Calibri"/>
              <a:sym typeface="Calibri"/>
            </a:endParaRPr>
          </a:p>
        </p:txBody>
      </p:sp>
      <p:sp>
        <p:nvSpPr>
          <p:cNvPr id="531" name="Google Shape;531;p19"/>
          <p:cNvSpPr/>
          <p:nvPr/>
        </p:nvSpPr>
        <p:spPr>
          <a:xfrm>
            <a:off x="640080" y="3566160"/>
            <a:ext cx="146304" cy="146304"/>
          </a:xfrm>
          <a:prstGeom prst="ellipse">
            <a:avLst/>
          </a:prstGeom>
          <a:solidFill>
            <a:srgbClr val="E8A3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19"/>
          <p:cNvSpPr/>
          <p:nvPr/>
        </p:nvSpPr>
        <p:spPr>
          <a:xfrm>
            <a:off x="914400" y="3177849"/>
            <a:ext cx="10515600" cy="112440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rgbClr val="FFFFFF"/>
              </a:buClr>
              <a:buSzPts val="1500"/>
              <a:buFont typeface="Calibri"/>
              <a:buNone/>
            </a:pPr>
            <a:r>
              <a:rPr b="0" i="0" lang="en-US" sz="1500" u="none" cap="none" strike="noStrike">
                <a:solidFill>
                  <a:srgbClr val="FFFFFF"/>
                </a:solidFill>
                <a:latin typeface="Calibri"/>
                <a:ea typeface="Calibri"/>
                <a:cs typeface="Calibri"/>
                <a:sym typeface="Calibri"/>
              </a:rPr>
              <a:t>Explainability is achievable for both model families, but requires a different technique for each — direct factor inspection for SVD, surrogate SHAP/LIME for NCF.</a:t>
            </a:r>
            <a:endParaRPr b="0" i="0" sz="1500" u="none" cap="none" strike="noStrike">
              <a:solidFill>
                <a:schemeClr val="dk1"/>
              </a:solidFill>
              <a:latin typeface="Calibri"/>
              <a:ea typeface="Calibri"/>
              <a:cs typeface="Calibri"/>
              <a:sym typeface="Calibri"/>
            </a:endParaRPr>
          </a:p>
        </p:txBody>
      </p:sp>
      <p:cxnSp>
        <p:nvCxnSpPr>
          <p:cNvPr id="533" name="Google Shape;533;p19"/>
          <p:cNvCxnSpPr/>
          <p:nvPr/>
        </p:nvCxnSpPr>
        <p:spPr>
          <a:xfrm>
            <a:off x="640080" y="5029200"/>
            <a:ext cx="3657600" cy="0"/>
          </a:xfrm>
          <a:prstGeom prst="straightConnector1">
            <a:avLst/>
          </a:prstGeom>
          <a:noFill/>
          <a:ln cap="flat" cmpd="sng" w="19050">
            <a:solidFill>
              <a:srgbClr val="1C7293"/>
            </a:solidFill>
            <a:prstDash val="solid"/>
            <a:round/>
            <a:headEnd len="sm" w="sm" type="none"/>
            <a:tailEnd len="sm" w="sm" type="none"/>
          </a:ln>
        </p:spPr>
      </p:cxnSp>
      <p:sp>
        <p:nvSpPr>
          <p:cNvPr id="534" name="Google Shape;534;p19"/>
          <p:cNvSpPr/>
          <p:nvPr/>
        </p:nvSpPr>
        <p:spPr>
          <a:xfrm>
            <a:off x="640080" y="5212080"/>
            <a:ext cx="731520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600"/>
              <a:buFont typeface="Cambria"/>
              <a:buNone/>
            </a:pPr>
            <a:r>
              <a:rPr b="1" i="0" lang="en-US" sz="3600" u="none" cap="none" strike="noStrike">
                <a:solidFill>
                  <a:srgbClr val="FFFFFF"/>
                </a:solidFill>
                <a:latin typeface="Cambria"/>
                <a:ea typeface="Cambria"/>
                <a:cs typeface="Cambria"/>
                <a:sym typeface="Cambria"/>
              </a:rPr>
              <a:t>Thank You</a:t>
            </a:r>
            <a:endParaRPr b="0" i="0" sz="3600" u="none" cap="none" strike="noStrike">
              <a:solidFill>
                <a:schemeClr val="dk1"/>
              </a:solidFill>
              <a:latin typeface="Calibri"/>
              <a:ea typeface="Calibri"/>
              <a:cs typeface="Calibri"/>
              <a:sym typeface="Calibri"/>
            </a:endParaRPr>
          </a:p>
        </p:txBody>
      </p:sp>
      <p:sp>
        <p:nvSpPr>
          <p:cNvPr id="535" name="Google Shape;535;p19"/>
          <p:cNvSpPr/>
          <p:nvPr/>
        </p:nvSpPr>
        <p:spPr>
          <a:xfrm>
            <a:off x="11521440" y="6446520"/>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892C4"/>
              </a:buClr>
              <a:buSzPts val="1000"/>
              <a:buFont typeface="Calibri"/>
              <a:buNone/>
            </a:pPr>
            <a:r>
              <a:rPr b="0" i="0" lang="en-US" sz="1000" u="none" cap="none" strike="noStrike">
                <a:solidFill>
                  <a:srgbClr val="8892C4"/>
                </a:solidFill>
                <a:latin typeface="Calibri"/>
                <a:ea typeface="Calibri"/>
                <a:cs typeface="Calibri"/>
                <a:sym typeface="Calibri"/>
              </a:rPr>
              <a:t>19</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2026-07-11T13:50:52Z</dcterms:created>
  <dc:creator>PptxGenJS</dc:creator>
</cp:coreProperties>
</file>